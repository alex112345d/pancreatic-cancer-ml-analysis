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39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157" d="100"/>
          <a:sy n="157" d="100"/>
        </p:scale>
        <p:origin x="3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25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Nischal Khanal, student number 250969098. This presentation is for CET140 Specialist Project, supervised by Dr. Sam Danso. Today I will be presenting my machine learning project on predicting the stage of pancreatic cancer using a dataset of 50,000 patient records. I will walk you through the full pipeline — from data exploration and preprocessing, through to model training, evaluation, and my final recommendation to TechHealthCare Solutions Ltd.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for today's presentation. I'll start with some background on pancreatic cancer, then explain the project aims and dataset. After that I'll cover how I preprocessed the data, performed exploratory analysis, and trained three different machine learning models. I'll then evaluate their performance, share the results, and discuss some social, ethical, legal and professional issues before concluding.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Pancreatic cancer is one of the most lethal cancers — the five-year survival rate is just five percent, as reported by Veeramani and colleagues. The main reason for this is late detection. Symptoms only become obvious when the cancer is already at an advanced stage, and specialist diagnostic scans are expensive and not always available. This is where machine learning can help — by identifying high-risk patients early using basic patient data, so they can be referred for further tests before the disease progresses.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had six main objectives, all aligned with the CRISP-DM data science framework. First I reviewed existing research to understand what has already been tried. Then I sourced an openly available Kaggle dataset. After cleaning and preparing the data, I built three classification models in Python. I evaluated each model using five standard metrics, and finally I prepared this presentation to communicate the results to management — which maps directly to the Deployment phase of CRISP-DM.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 used was sourced from Kaggle — a publicly available synthetic dataset of 50,000 patient records with 24 columns. There were no missing values, which meant no imputation was needed. The target variable is Stage at Diagnosis, with four classes: Stage I through to Stage IV. As you can see in the chart, the dataset is imbalanced — Stage IV has the most records at around 20,000, while Stage I has the fewest at around 5,000. I kept 20 features as model inputs after dropping three non-predictive columns.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preparation followed five steps. First I dropped three columns that either caused data leakage or were not clinically relevant as predictors. The missing values check — as shown in the chart — confirmed zero missing values, so no imputation was needed. Next, I applied LabelEncoder to six categorical columns. Then StandardScaler was applied to all 20 features, which is particularly important for Logistic Regression. Finally, I split the data 80-20 using a stratified split to preserve class proportions.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exploratory analysis gave me some useful insights. The risk factor heatmap shows that symptoms like jaundice and weight loss are slightly more common at later stages, which makes clinical sense. However, the age histograms show that age is broadly similar across all four stages — meaning it is not a strong standalone predictor. I also noticed the dataset is imbalanced, with nearly 40% of records being Stage IV. To address this, I applied class_weight='balanced' when training each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three classification models, which cover a spectrum from simple to complex. Logistic Regression was used as an interpretable baseline to check whether the problem can be solved with a linear model. The Decision Tree adds non-linear boundaries and produces readable rules — useful for explaining decisions to management. Random Forest is an ensemble of 100 decision trees and is typically the strongest performer. All three used class_weight='balanced' to handle the class imbalance identified in EDA.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pipeline works as follows. The full 50,000-row dataset was split 80-20, giving 40,000 training rows and 10,000 test rows. On the training set, I applied 10-fold stratified cross-validation to estimate how well each model would generalise. The per-fold line chart on the right shows that all three models are consistent across folds — there are no major spikes or drops — which gives confidence that the results are not due to lucky splits. Random Forest consistently leads in both charts.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test set results for all three models. Logistic Regression achieved 54% accuracy and a ROC-AUC of 0.81, which suggests a linear model is not sufficient for this problem. Decision Tree improved to 67% accuracy and AUC of 0.84. Random Forest performed best with 68.35% accuracy and an AUC of 0.847. The confusion matrices show that all models struggle most with Stage I and Stage II — the early stages — which tend to be confused with each other. This is actually expected, as early-stage patients have fewer distinct symptoms.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Random Forest is the best-performing model with an AUC of 0.847, which is very close to the literature benchmark of 0.85 reported by Muhammad and colleagues in 2019. Importantly, this was achieved using only a free Kaggle dataset and standard Python libraries — no specialist hospital data or infrastructure was needed. The ROC curves show strong separation for Stage I and Stage IV. The feature importance chart confirms that Survival Time in Months is the strongest predictor, which makes clinical sense — earlier stages have longer survival.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important to be transparent about the limitations of this project. The dataset is synthetic, so the results cannot be directly applied in a clinical setting without validation on real patient data. The class imbalance — with Stage IV being overrepresented — made early-stage prediction harder. The dataset also lacks the imaging and biomarker data that clinicians actually rely on. Future improvements would include using a real clinical dataset, applying SMOTE to handle imbalance, and experimenting with XGBoost.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machine learning project in healthcare must address social, ethical, legal and professional issues. Socially, the model could help detect cancer earlier — but over-reliance on an automated prediction could be harmful. Ethically, I used an anonymous dataset and have been transparent about the model's limitations throughout. Legally, real-world use would require compliance with the Data Protection Act 2018 and GDPR. Professionally, as a Data Scientist, I am bound by the BCS Code of Conduct to be honest about what the model can and cannot do, and to ensure human oversight remains in any deployment.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successfully demonstrated that machine learning can be used to predict pancreatic cancer stage from patient data using freely available tools. The Random Forest model achieved an AUC of 0.847, which is comparable to published research. The CRISP-DM framework kept the project structured throughout. The main limitation is the synthetic dataset, but even with this constraint, the results provide TechHealthCare Solutions Ltd with a clear, evidence-based foundation to decide whether further investment in real clinical data and a deployable AI system is worthwhile.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to my presentation. Here are all the references I used in APA 7th edition format, including the Kaggle dataset, the five academic papers reviewed in the research report, and the CRISP-DM methodology guide. The models were built entirely using Python's pandas, numpy, matplotlib, seaborn and scikit-learn libraries. I am happy to take any questions now.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30B55216-1553-0CDF-49FB-1313F0A9CFDE}"/>
              </a:ext>
            </a:extLst>
          </p:cNvPr>
          <p:cNvPicPr>
            <a:picLocks noChangeAspect="1"/>
          </p:cNvPicPr>
          <p:nvPr/>
        </p:nvPicPr>
        <p:blipFill>
          <a:blip r:embed="rId3"/>
          <a:stretch>
            <a:fillRect/>
          </a:stretch>
        </p:blipFill>
        <p:spPr>
          <a:xfrm rot="16200000">
            <a:off x="2000251" y="-2000251"/>
            <a:ext cx="5143500" cy="9144002"/>
          </a:xfrm>
          <a:prstGeom prst="rect">
            <a:avLst/>
          </a:prstGeom>
          <a:pattFill prst="pct5">
            <a:fgClr>
              <a:schemeClr val="accent1"/>
            </a:fgClr>
            <a:bgClr>
              <a:schemeClr val="bg1"/>
            </a:bgClr>
          </a:pattFill>
          <a:ln>
            <a:noFill/>
          </a:ln>
          <a:effectLst>
            <a:glow>
              <a:schemeClr val="accent1"/>
            </a:glow>
            <a:outerShdw blurRad="50800" dist="50800" dir="5400000" sx="1000" sy="1000" algn="ctr" rotWithShape="0">
              <a:srgbClr val="000000">
                <a:alpha val="43137"/>
              </a:srgbClr>
            </a:outerShdw>
            <a:reflection endPos="0" dist="50800" dir="5400000" sy="-100000" algn="bl" rotWithShape="0"/>
            <a:softEdge rad="0"/>
          </a:effectLst>
        </p:spPr>
      </p:pic>
      <p:pic>
        <p:nvPicPr>
          <p:cNvPr id="3" name="Image 0" descr="preencoded.png"/>
          <p:cNvPicPr>
            <a:picLocks noChangeAspect="1"/>
          </p:cNvPicPr>
          <p:nvPr/>
        </p:nvPicPr>
        <p:blipFill>
          <a:blip r:embed="rId4">
            <a:alphaModFix amt="80000"/>
          </a:blip>
          <a:stretch>
            <a:fillRect/>
          </a:stretch>
        </p:blipFill>
        <p:spPr>
          <a:xfrm>
            <a:off x="6263640" y="640080"/>
            <a:ext cx="2560320" cy="2560320"/>
          </a:xfrm>
          <a:prstGeom prst="rect">
            <a:avLst/>
          </a:prstGeom>
        </p:spPr>
      </p:pic>
      <p:sp>
        <p:nvSpPr>
          <p:cNvPr id="4" name="Text 1"/>
          <p:cNvSpPr/>
          <p:nvPr/>
        </p:nvSpPr>
        <p:spPr>
          <a:xfrm>
            <a:off x="457200" y="502920"/>
            <a:ext cx="5303520" cy="1645920"/>
          </a:xfrm>
          <a:prstGeom prst="rect">
            <a:avLst/>
          </a:prstGeom>
          <a:noFill/>
          <a:ln/>
        </p:spPr>
        <p:txBody>
          <a:bodyPr wrap="square" rtlCol="0" anchor="ctr"/>
          <a:lstStyle/>
          <a:p>
            <a:pPr marL="0" indent="0">
              <a:lnSpc>
                <a:spcPct val="115000"/>
              </a:lnSpc>
              <a:buNone/>
            </a:pPr>
            <a:r>
              <a:rPr lang="en-US" sz="3200" b="1" dirty="0">
                <a:latin typeface="Times New Roman" panose="02020603050405020304" pitchFamily="18" charset="0"/>
                <a:ea typeface="Cambria" pitchFamily="34" charset="-122"/>
                <a:cs typeface="Times New Roman" panose="02020603050405020304" pitchFamily="18" charset="0"/>
              </a:rPr>
              <a:t>Pancreatic Cancer</a:t>
            </a:r>
            <a:endParaRPr lang="en-US" sz="3200" dirty="0">
              <a:latin typeface="Times New Roman" panose="02020603050405020304" pitchFamily="18" charset="0"/>
              <a:cs typeface="Times New Roman" panose="02020603050405020304" pitchFamily="18" charset="0"/>
            </a:endParaRPr>
          </a:p>
          <a:p>
            <a:pPr marL="0" indent="0">
              <a:lnSpc>
                <a:spcPct val="115000"/>
              </a:lnSpc>
              <a:buNone/>
            </a:pPr>
            <a:r>
              <a:rPr lang="en-US" sz="3200" b="1" dirty="0">
                <a:latin typeface="Times New Roman" panose="02020603050405020304" pitchFamily="18" charset="0"/>
                <a:ea typeface="Cambria" pitchFamily="34" charset="-122"/>
                <a:cs typeface="Times New Roman" panose="02020603050405020304" pitchFamily="18" charset="0"/>
              </a:rPr>
              <a:t>Stage Prediction</a:t>
            </a:r>
            <a:endParaRPr lang="en-US" sz="3200" dirty="0">
              <a:latin typeface="Times New Roman" panose="02020603050405020304" pitchFamily="18" charset="0"/>
              <a:cs typeface="Times New Roman" panose="02020603050405020304" pitchFamily="18" charset="0"/>
            </a:endParaRPr>
          </a:p>
        </p:txBody>
      </p:sp>
      <p:sp>
        <p:nvSpPr>
          <p:cNvPr id="5" name="Text 2"/>
          <p:cNvSpPr/>
          <p:nvPr/>
        </p:nvSpPr>
        <p:spPr>
          <a:xfrm>
            <a:off x="457200" y="2084832"/>
            <a:ext cx="5303520" cy="411480"/>
          </a:xfrm>
          <a:prstGeom prst="rect">
            <a:avLst/>
          </a:prstGeom>
          <a:noFill/>
          <a:ln/>
        </p:spPr>
        <p:txBody>
          <a:bodyPr wrap="square" rtlCol="0" anchor="ctr"/>
          <a:lstStyle/>
          <a:p>
            <a:pPr marL="0" indent="0">
              <a:buNone/>
            </a:pPr>
            <a:r>
              <a:rPr lang="en-US" sz="1600" i="1" dirty="0">
                <a:latin typeface="Times New Roman" panose="02020603050405020304" pitchFamily="18" charset="0"/>
                <a:ea typeface="Calibri" pitchFamily="34" charset="-122"/>
                <a:cs typeface="Times New Roman" panose="02020603050405020304" pitchFamily="18" charset="0"/>
              </a:rPr>
              <a:t>Using Machine Learning</a:t>
            </a:r>
            <a:endParaRPr lang="en-US" sz="1600" dirty="0">
              <a:latin typeface="Times New Roman" panose="02020603050405020304" pitchFamily="18" charset="0"/>
              <a:cs typeface="Times New Roman" panose="02020603050405020304" pitchFamily="18" charset="0"/>
            </a:endParaRPr>
          </a:p>
        </p:txBody>
      </p:sp>
      <p:sp>
        <p:nvSpPr>
          <p:cNvPr id="6" name="Shape 3"/>
          <p:cNvSpPr/>
          <p:nvPr/>
        </p:nvSpPr>
        <p:spPr>
          <a:xfrm>
            <a:off x="457200" y="2560320"/>
            <a:ext cx="5120640" cy="22860"/>
          </a:xfrm>
          <a:prstGeom prst="rect">
            <a:avLst/>
          </a:prstGeom>
          <a:solidFill>
            <a:schemeClr val="tx1"/>
          </a:solidFill>
          <a:ln w="12700">
            <a:solidFill>
              <a:schemeClr val="tx1"/>
            </a:solidFill>
            <a:prstDash val="solid"/>
          </a:ln>
        </p:spPr>
      </p:sp>
      <p:sp>
        <p:nvSpPr>
          <p:cNvPr id="7" name="Text 4"/>
          <p:cNvSpPr/>
          <p:nvPr/>
        </p:nvSpPr>
        <p:spPr>
          <a:xfrm>
            <a:off x="457200" y="2724912"/>
            <a:ext cx="1280160" cy="320040"/>
          </a:xfrm>
          <a:prstGeom prst="rect">
            <a:avLst/>
          </a:prstGeom>
          <a:noFill/>
          <a:ln/>
        </p:spPr>
        <p:txBody>
          <a:bodyPr wrap="square" lIns="0" tIns="0" rIns="0" bIns="0" rtlCol="0" anchor="ctr"/>
          <a:lstStyle/>
          <a:p>
            <a:pPr marL="0" indent="0">
              <a:buNone/>
            </a:pPr>
            <a:r>
              <a:rPr lang="en-US" sz="1100" b="1" dirty="0">
                <a:latin typeface="Times New Roman" panose="02020603050405020304" pitchFamily="18" charset="0"/>
                <a:ea typeface="Calibri" pitchFamily="34" charset="-122"/>
                <a:cs typeface="Times New Roman" panose="02020603050405020304" pitchFamily="18" charset="0"/>
              </a:rPr>
              <a:t>Student:</a:t>
            </a:r>
            <a:endParaRPr lang="en-US" sz="1100" dirty="0">
              <a:latin typeface="Times New Roman" panose="02020603050405020304" pitchFamily="18" charset="0"/>
              <a:cs typeface="Times New Roman" panose="02020603050405020304" pitchFamily="18" charset="0"/>
            </a:endParaRPr>
          </a:p>
        </p:txBody>
      </p:sp>
      <p:sp>
        <p:nvSpPr>
          <p:cNvPr id="8" name="Text 5"/>
          <p:cNvSpPr/>
          <p:nvPr/>
        </p:nvSpPr>
        <p:spPr>
          <a:xfrm>
            <a:off x="1783080" y="2724912"/>
            <a:ext cx="3931920" cy="320040"/>
          </a:xfrm>
          <a:prstGeom prst="rect">
            <a:avLst/>
          </a:prstGeom>
          <a:noFill/>
          <a:ln/>
        </p:spPr>
        <p:txBody>
          <a:bodyPr wrap="square" lIns="0" tIns="0" rIns="0" bIns="0" rtlCol="0" anchor="ctr"/>
          <a:lstStyle/>
          <a:p>
            <a:pPr marL="0" indent="0">
              <a:buNone/>
            </a:pPr>
            <a:r>
              <a:rPr lang="en-US" sz="1100" dirty="0">
                <a:latin typeface="Times New Roman" panose="02020603050405020304" pitchFamily="18" charset="0"/>
                <a:ea typeface="Calibri" pitchFamily="34" charset="-122"/>
                <a:cs typeface="Times New Roman" panose="02020603050405020304" pitchFamily="18" charset="0"/>
              </a:rPr>
              <a:t>Nischal Khanal</a:t>
            </a:r>
            <a:endParaRPr lang="en-US" sz="1100" dirty="0">
              <a:latin typeface="Times New Roman" panose="02020603050405020304" pitchFamily="18" charset="0"/>
              <a:cs typeface="Times New Roman" panose="02020603050405020304" pitchFamily="18" charset="0"/>
            </a:endParaRPr>
          </a:p>
        </p:txBody>
      </p:sp>
      <p:sp>
        <p:nvSpPr>
          <p:cNvPr id="9" name="Text 6"/>
          <p:cNvSpPr/>
          <p:nvPr/>
        </p:nvSpPr>
        <p:spPr>
          <a:xfrm>
            <a:off x="457200" y="3072384"/>
            <a:ext cx="1280160" cy="320040"/>
          </a:xfrm>
          <a:prstGeom prst="rect">
            <a:avLst/>
          </a:prstGeom>
          <a:noFill/>
          <a:ln/>
        </p:spPr>
        <p:txBody>
          <a:bodyPr wrap="square" lIns="0" tIns="0" rIns="0" bIns="0" rtlCol="0" anchor="ctr"/>
          <a:lstStyle/>
          <a:p>
            <a:pPr marL="0" indent="0">
              <a:buNone/>
            </a:pPr>
            <a:r>
              <a:rPr lang="en-US" sz="1100" b="1" dirty="0">
                <a:latin typeface="Times New Roman" panose="02020603050405020304" pitchFamily="18" charset="0"/>
                <a:ea typeface="Calibri" pitchFamily="34" charset="-122"/>
                <a:cs typeface="Times New Roman" panose="02020603050405020304" pitchFamily="18" charset="0"/>
              </a:rPr>
              <a:t>Student ID:</a:t>
            </a:r>
            <a:endParaRPr lang="en-US" sz="1100" dirty="0">
              <a:latin typeface="Times New Roman" panose="02020603050405020304" pitchFamily="18" charset="0"/>
              <a:cs typeface="Times New Roman" panose="02020603050405020304" pitchFamily="18" charset="0"/>
            </a:endParaRPr>
          </a:p>
        </p:txBody>
      </p:sp>
      <p:sp>
        <p:nvSpPr>
          <p:cNvPr id="10" name="Text 7"/>
          <p:cNvSpPr/>
          <p:nvPr/>
        </p:nvSpPr>
        <p:spPr>
          <a:xfrm>
            <a:off x="1783080" y="3072384"/>
            <a:ext cx="3931920" cy="320040"/>
          </a:xfrm>
          <a:prstGeom prst="rect">
            <a:avLst/>
          </a:prstGeom>
          <a:noFill/>
          <a:ln/>
        </p:spPr>
        <p:txBody>
          <a:bodyPr wrap="square" lIns="0" tIns="0" rIns="0" bIns="0" rtlCol="0" anchor="ctr"/>
          <a:lstStyle/>
          <a:p>
            <a:pPr marL="0" indent="0">
              <a:buNone/>
            </a:pPr>
            <a:r>
              <a:rPr lang="en-US" sz="1100" dirty="0">
                <a:latin typeface="Times New Roman" panose="02020603050405020304" pitchFamily="18" charset="0"/>
                <a:ea typeface="Calibri" pitchFamily="34" charset="-122"/>
                <a:cs typeface="Times New Roman" panose="02020603050405020304" pitchFamily="18" charset="0"/>
              </a:rPr>
              <a:t>250969098</a:t>
            </a:r>
            <a:endParaRPr lang="en-US" sz="1100" dirty="0">
              <a:latin typeface="Times New Roman" panose="02020603050405020304" pitchFamily="18" charset="0"/>
              <a:cs typeface="Times New Roman" panose="02020603050405020304" pitchFamily="18" charset="0"/>
            </a:endParaRPr>
          </a:p>
        </p:txBody>
      </p:sp>
      <p:sp>
        <p:nvSpPr>
          <p:cNvPr id="11" name="Text 8"/>
          <p:cNvSpPr/>
          <p:nvPr/>
        </p:nvSpPr>
        <p:spPr>
          <a:xfrm>
            <a:off x="457200" y="3419856"/>
            <a:ext cx="1280160" cy="320040"/>
          </a:xfrm>
          <a:prstGeom prst="rect">
            <a:avLst/>
          </a:prstGeom>
          <a:noFill/>
          <a:ln/>
        </p:spPr>
        <p:txBody>
          <a:bodyPr wrap="square" lIns="0" tIns="0" rIns="0" bIns="0" rtlCol="0" anchor="ctr"/>
          <a:lstStyle/>
          <a:p>
            <a:pPr marL="0" indent="0">
              <a:buNone/>
            </a:pPr>
            <a:r>
              <a:rPr lang="en-US" sz="1100" b="1" dirty="0">
                <a:latin typeface="Times New Roman" panose="02020603050405020304" pitchFamily="18" charset="0"/>
                <a:ea typeface="Calibri" pitchFamily="34" charset="-122"/>
                <a:cs typeface="Times New Roman" panose="02020603050405020304" pitchFamily="18" charset="0"/>
              </a:rPr>
              <a:t>Module:</a:t>
            </a:r>
            <a:endParaRPr lang="en-US" sz="1100" dirty="0">
              <a:latin typeface="Times New Roman" panose="02020603050405020304" pitchFamily="18" charset="0"/>
              <a:cs typeface="Times New Roman" panose="02020603050405020304" pitchFamily="18" charset="0"/>
            </a:endParaRPr>
          </a:p>
        </p:txBody>
      </p:sp>
      <p:sp>
        <p:nvSpPr>
          <p:cNvPr id="12" name="Text 9"/>
          <p:cNvSpPr/>
          <p:nvPr/>
        </p:nvSpPr>
        <p:spPr>
          <a:xfrm>
            <a:off x="1783080" y="3419856"/>
            <a:ext cx="3931920" cy="320040"/>
          </a:xfrm>
          <a:prstGeom prst="rect">
            <a:avLst/>
          </a:prstGeom>
          <a:noFill/>
          <a:ln/>
        </p:spPr>
        <p:txBody>
          <a:bodyPr wrap="square" lIns="0" tIns="0" rIns="0" bIns="0" rtlCol="0" anchor="ctr"/>
          <a:lstStyle/>
          <a:p>
            <a:pPr marL="0" indent="0">
              <a:buNone/>
            </a:pPr>
            <a:r>
              <a:rPr lang="en-US" sz="1100" dirty="0">
                <a:latin typeface="Times New Roman" panose="02020603050405020304" pitchFamily="18" charset="0"/>
                <a:ea typeface="Calibri" pitchFamily="34" charset="-122"/>
                <a:cs typeface="Times New Roman" panose="02020603050405020304" pitchFamily="18" charset="0"/>
              </a:rPr>
              <a:t>CET140 – Specialist Project</a:t>
            </a:r>
            <a:endParaRPr lang="en-US" sz="1100" dirty="0">
              <a:latin typeface="Times New Roman" panose="02020603050405020304" pitchFamily="18" charset="0"/>
              <a:cs typeface="Times New Roman" panose="02020603050405020304" pitchFamily="18" charset="0"/>
            </a:endParaRPr>
          </a:p>
        </p:txBody>
      </p:sp>
      <p:sp>
        <p:nvSpPr>
          <p:cNvPr id="13" name="Text 10"/>
          <p:cNvSpPr/>
          <p:nvPr/>
        </p:nvSpPr>
        <p:spPr>
          <a:xfrm>
            <a:off x="457200" y="3767328"/>
            <a:ext cx="1280160" cy="320040"/>
          </a:xfrm>
          <a:prstGeom prst="rect">
            <a:avLst/>
          </a:prstGeom>
          <a:noFill/>
          <a:ln/>
        </p:spPr>
        <p:txBody>
          <a:bodyPr wrap="square" lIns="0" tIns="0" rIns="0" bIns="0" rtlCol="0" anchor="ctr"/>
          <a:lstStyle/>
          <a:p>
            <a:pPr marL="0" indent="0">
              <a:buNone/>
            </a:pPr>
            <a:r>
              <a:rPr lang="en-US" sz="1100" b="1" dirty="0">
                <a:latin typeface="Times New Roman" panose="02020603050405020304" pitchFamily="18" charset="0"/>
                <a:ea typeface="Calibri" pitchFamily="34" charset="-122"/>
                <a:cs typeface="Times New Roman" panose="02020603050405020304" pitchFamily="18" charset="0"/>
              </a:rPr>
              <a:t>University:</a:t>
            </a:r>
            <a:endParaRPr lang="en-US" sz="1100" dirty="0">
              <a:latin typeface="Times New Roman" panose="02020603050405020304" pitchFamily="18" charset="0"/>
              <a:cs typeface="Times New Roman" panose="02020603050405020304" pitchFamily="18" charset="0"/>
            </a:endParaRPr>
          </a:p>
        </p:txBody>
      </p:sp>
      <p:sp>
        <p:nvSpPr>
          <p:cNvPr id="14" name="Text 11"/>
          <p:cNvSpPr/>
          <p:nvPr/>
        </p:nvSpPr>
        <p:spPr>
          <a:xfrm>
            <a:off x="1783080" y="3767328"/>
            <a:ext cx="3931920" cy="320040"/>
          </a:xfrm>
          <a:prstGeom prst="rect">
            <a:avLst/>
          </a:prstGeom>
          <a:noFill/>
          <a:ln/>
        </p:spPr>
        <p:txBody>
          <a:bodyPr wrap="square" lIns="0" tIns="0" rIns="0" bIns="0" rtlCol="0" anchor="ctr"/>
          <a:lstStyle/>
          <a:p>
            <a:pPr marL="0" indent="0">
              <a:buNone/>
            </a:pPr>
            <a:r>
              <a:rPr lang="en-US" sz="1100" dirty="0">
                <a:latin typeface="Times New Roman" panose="02020603050405020304" pitchFamily="18" charset="0"/>
                <a:ea typeface="Calibri" pitchFamily="34" charset="-122"/>
                <a:cs typeface="Times New Roman" panose="02020603050405020304" pitchFamily="18" charset="0"/>
              </a:rPr>
              <a:t>University of Sunderland (ISMT College)</a:t>
            </a:r>
            <a:endParaRPr lang="en-US" sz="1100" dirty="0">
              <a:latin typeface="Times New Roman" panose="02020603050405020304" pitchFamily="18" charset="0"/>
              <a:cs typeface="Times New Roman" panose="02020603050405020304" pitchFamily="18" charset="0"/>
            </a:endParaRPr>
          </a:p>
        </p:txBody>
      </p:sp>
      <p:sp>
        <p:nvSpPr>
          <p:cNvPr id="15" name="Text 12"/>
          <p:cNvSpPr/>
          <p:nvPr/>
        </p:nvSpPr>
        <p:spPr>
          <a:xfrm>
            <a:off x="457200" y="4114800"/>
            <a:ext cx="1280160" cy="320040"/>
          </a:xfrm>
          <a:prstGeom prst="rect">
            <a:avLst/>
          </a:prstGeom>
          <a:noFill/>
          <a:ln/>
        </p:spPr>
        <p:txBody>
          <a:bodyPr wrap="square" lIns="0" tIns="0" rIns="0" bIns="0" rtlCol="0" anchor="ctr"/>
          <a:lstStyle/>
          <a:p>
            <a:pPr marL="0" indent="0">
              <a:buNone/>
            </a:pPr>
            <a:r>
              <a:rPr lang="en-US" sz="1100" b="1" dirty="0">
                <a:latin typeface="Times New Roman" panose="02020603050405020304" pitchFamily="18" charset="0"/>
                <a:ea typeface="Calibri" pitchFamily="34" charset="-122"/>
                <a:cs typeface="Times New Roman" panose="02020603050405020304" pitchFamily="18" charset="0"/>
              </a:rPr>
              <a:t>Lecturer:</a:t>
            </a:r>
            <a:endParaRPr lang="en-US" sz="1100" dirty="0">
              <a:latin typeface="Times New Roman" panose="02020603050405020304" pitchFamily="18" charset="0"/>
              <a:cs typeface="Times New Roman" panose="02020603050405020304" pitchFamily="18" charset="0"/>
            </a:endParaRPr>
          </a:p>
        </p:txBody>
      </p:sp>
      <p:sp>
        <p:nvSpPr>
          <p:cNvPr id="16" name="Text 13"/>
          <p:cNvSpPr/>
          <p:nvPr/>
        </p:nvSpPr>
        <p:spPr>
          <a:xfrm>
            <a:off x="1783080" y="4114800"/>
            <a:ext cx="3931920" cy="320040"/>
          </a:xfrm>
          <a:prstGeom prst="rect">
            <a:avLst/>
          </a:prstGeom>
          <a:noFill/>
          <a:ln/>
        </p:spPr>
        <p:txBody>
          <a:bodyPr wrap="square" lIns="0" tIns="0" rIns="0" bIns="0" rtlCol="0" anchor="ctr"/>
          <a:lstStyle/>
          <a:p>
            <a:pPr marL="0" indent="0">
              <a:buNone/>
            </a:pPr>
            <a:r>
              <a:rPr lang="en-US" sz="1100" dirty="0">
                <a:latin typeface="Times New Roman" panose="02020603050405020304" pitchFamily="18" charset="0"/>
                <a:ea typeface="Calibri" pitchFamily="34" charset="-122"/>
                <a:cs typeface="Times New Roman" panose="02020603050405020304" pitchFamily="18" charset="0"/>
              </a:rPr>
              <a:t>Dr. Sam Danso</a:t>
            </a:r>
            <a:endParaRPr lang="en-US" sz="1100" dirty="0">
              <a:latin typeface="Times New Roman" panose="02020603050405020304" pitchFamily="18" charset="0"/>
              <a:cs typeface="Times New Roman" panose="02020603050405020304" pitchFamily="18" charset="0"/>
            </a:endParaRPr>
          </a:p>
        </p:txBody>
      </p:sp>
      <p:sp>
        <p:nvSpPr>
          <p:cNvPr id="17" name="Text 14"/>
          <p:cNvSpPr/>
          <p:nvPr/>
        </p:nvSpPr>
        <p:spPr>
          <a:xfrm>
            <a:off x="457200" y="4462272"/>
            <a:ext cx="1280160" cy="320040"/>
          </a:xfrm>
          <a:prstGeom prst="rect">
            <a:avLst/>
          </a:prstGeom>
          <a:noFill/>
          <a:ln/>
        </p:spPr>
        <p:txBody>
          <a:bodyPr wrap="square" lIns="0" tIns="0" rIns="0" bIns="0" rtlCol="0" anchor="ctr"/>
          <a:lstStyle/>
          <a:p>
            <a:pPr marL="0" indent="0">
              <a:buNone/>
            </a:pPr>
            <a:r>
              <a:rPr lang="en-US" sz="1100" b="1" dirty="0">
                <a:latin typeface="Times New Roman" panose="02020603050405020304" pitchFamily="18" charset="0"/>
                <a:ea typeface="Calibri" pitchFamily="34" charset="-122"/>
                <a:cs typeface="Times New Roman" panose="02020603050405020304" pitchFamily="18" charset="0"/>
              </a:rPr>
              <a:t>Date:</a:t>
            </a:r>
            <a:endParaRPr lang="en-US" sz="1100" dirty="0">
              <a:latin typeface="Times New Roman" panose="02020603050405020304" pitchFamily="18" charset="0"/>
              <a:cs typeface="Times New Roman" panose="02020603050405020304" pitchFamily="18" charset="0"/>
            </a:endParaRPr>
          </a:p>
        </p:txBody>
      </p:sp>
      <p:sp>
        <p:nvSpPr>
          <p:cNvPr id="18" name="Text 15"/>
          <p:cNvSpPr/>
          <p:nvPr/>
        </p:nvSpPr>
        <p:spPr>
          <a:xfrm>
            <a:off x="1783080" y="4462272"/>
            <a:ext cx="3931920" cy="320040"/>
          </a:xfrm>
          <a:prstGeom prst="rect">
            <a:avLst/>
          </a:prstGeom>
          <a:noFill/>
          <a:ln/>
        </p:spPr>
        <p:txBody>
          <a:bodyPr wrap="square" lIns="0" tIns="0" rIns="0" bIns="0" rtlCol="0" anchor="ctr"/>
          <a:lstStyle/>
          <a:p>
            <a:pPr marL="0" indent="0">
              <a:buNone/>
            </a:pPr>
            <a:r>
              <a:rPr lang="en-US" sz="1100" dirty="0">
                <a:latin typeface="Times New Roman" panose="02020603050405020304" pitchFamily="18" charset="0"/>
                <a:ea typeface="Calibri" pitchFamily="34" charset="-122"/>
                <a:cs typeface="Times New Roman" panose="02020603050405020304" pitchFamily="18" charset="0"/>
              </a:rPr>
              <a:t>June 2026</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PRESENTATION OVERVIEW</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85800"/>
            <a:ext cx="8321040" cy="365760"/>
          </a:xfrm>
          <a:prstGeom prst="rect">
            <a:avLst/>
          </a:prstGeom>
          <a:noFill/>
          <a:ln/>
        </p:spPr>
        <p:txBody>
          <a:bodyPr wrap="square" rtlCol="0" anchor="ctr"/>
          <a:lstStyle/>
          <a:p>
            <a:pPr marL="0" indent="0">
              <a:buNone/>
            </a:pPr>
            <a:r>
              <a:rPr lang="en-US" sz="1600" b="1" dirty="0">
                <a:solidFill>
                  <a:srgbClr val="1B396B"/>
                </a:solidFill>
                <a:latin typeface="Times New Roman" panose="02020603050405020304" pitchFamily="18" charset="0"/>
                <a:ea typeface="Calibri" pitchFamily="34" charset="-122"/>
                <a:cs typeface="Times New Roman" panose="02020603050405020304" pitchFamily="18" charset="0"/>
              </a:rPr>
              <a:t>What This Presentation Covers</a:t>
            </a:r>
            <a:endParaRPr lang="en-US" sz="1600" dirty="0">
              <a:solidFill>
                <a:srgbClr val="1B396B"/>
              </a:solidFill>
              <a:latin typeface="Times New Roman" panose="02020603050405020304" pitchFamily="18" charset="0"/>
              <a:cs typeface="Times New Roman" panose="02020603050405020304" pitchFamily="18" charset="0"/>
            </a:endParaRPr>
          </a:p>
        </p:txBody>
      </p:sp>
      <p:sp>
        <p:nvSpPr>
          <p:cNvPr id="6" name="Shape 4"/>
          <p:cNvSpPr/>
          <p:nvPr/>
        </p:nvSpPr>
        <p:spPr>
          <a:xfrm>
            <a:off x="411480" y="1170432"/>
            <a:ext cx="4069080" cy="658368"/>
          </a:xfrm>
          <a:prstGeom prst="roundRect">
            <a:avLst>
              <a:gd name="adj" fmla="val 13889"/>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7" name="Shape 5"/>
          <p:cNvSpPr/>
          <p:nvPr/>
        </p:nvSpPr>
        <p:spPr>
          <a:xfrm>
            <a:off x="502920" y="1261872"/>
            <a:ext cx="438912" cy="475488"/>
          </a:xfrm>
          <a:prstGeom prst="roundRect">
            <a:avLst>
              <a:gd name="adj" fmla="val 10417"/>
            </a:avLst>
          </a:prstGeom>
          <a:solidFill>
            <a:srgbClr val="2E6DB4"/>
          </a:solidFill>
          <a:ln w="12700">
            <a:solidFill>
              <a:srgbClr val="2E6DB4"/>
            </a:solidFill>
            <a:prstDash val="solid"/>
          </a:ln>
        </p:spPr>
      </p:sp>
      <p:sp>
        <p:nvSpPr>
          <p:cNvPr id="8" name="Text 6"/>
          <p:cNvSpPr/>
          <p:nvPr/>
        </p:nvSpPr>
        <p:spPr>
          <a:xfrm>
            <a:off x="502920" y="1261872"/>
            <a:ext cx="43891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01</a:t>
            </a:r>
            <a:endParaRPr lang="en-US" sz="1100" dirty="0">
              <a:latin typeface="Times New Roman" panose="02020603050405020304" pitchFamily="18" charset="0"/>
              <a:cs typeface="Times New Roman" panose="02020603050405020304" pitchFamily="18" charset="0"/>
            </a:endParaRPr>
          </a:p>
        </p:txBody>
      </p:sp>
      <p:sp>
        <p:nvSpPr>
          <p:cNvPr id="9" name="Text 7"/>
          <p:cNvSpPr/>
          <p:nvPr/>
        </p:nvSpPr>
        <p:spPr>
          <a:xfrm>
            <a:off x="1051560" y="1261872"/>
            <a:ext cx="3337560" cy="228600"/>
          </a:xfrm>
          <a:prstGeom prst="rect">
            <a:avLst/>
          </a:prstGeom>
          <a:noFill/>
          <a:ln/>
        </p:spPr>
        <p:txBody>
          <a:bodyPr wrap="square" lIns="0" tIns="0" rIns="0" bIns="0"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Introduction</a:t>
            </a:r>
            <a:endParaRPr lang="en-US" sz="1100" dirty="0">
              <a:latin typeface="Times New Roman" panose="02020603050405020304" pitchFamily="18" charset="0"/>
              <a:cs typeface="Times New Roman" panose="02020603050405020304" pitchFamily="18" charset="0"/>
            </a:endParaRPr>
          </a:p>
        </p:txBody>
      </p:sp>
      <p:sp>
        <p:nvSpPr>
          <p:cNvPr id="10" name="Text 8"/>
          <p:cNvSpPr/>
          <p:nvPr/>
        </p:nvSpPr>
        <p:spPr>
          <a:xfrm>
            <a:off x="1051560" y="1499616"/>
            <a:ext cx="3337560" cy="256032"/>
          </a:xfrm>
          <a:prstGeom prst="rect">
            <a:avLst/>
          </a:prstGeom>
          <a:noFill/>
          <a:ln/>
        </p:spPr>
        <p:txBody>
          <a:bodyPr wrap="square" lIns="0" tIns="0" rIns="0" bIns="0" rtlCol="0" anchor="ctr"/>
          <a:lstStyle/>
          <a:p>
            <a:pPr marL="0" indent="0">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Background on pancreatic cancer &amp; ML in healthcare</a:t>
            </a:r>
            <a:endParaRPr lang="en-US" sz="950" dirty="0">
              <a:latin typeface="Times New Roman" panose="02020603050405020304" pitchFamily="18" charset="0"/>
              <a:cs typeface="Times New Roman" panose="02020603050405020304" pitchFamily="18" charset="0"/>
            </a:endParaRPr>
          </a:p>
        </p:txBody>
      </p:sp>
      <p:sp>
        <p:nvSpPr>
          <p:cNvPr id="11" name="Shape 9"/>
          <p:cNvSpPr/>
          <p:nvPr/>
        </p:nvSpPr>
        <p:spPr>
          <a:xfrm>
            <a:off x="411480" y="1920240"/>
            <a:ext cx="4069080" cy="658368"/>
          </a:xfrm>
          <a:prstGeom prst="roundRect">
            <a:avLst>
              <a:gd name="adj" fmla="val 13889"/>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2" name="Shape 10"/>
          <p:cNvSpPr/>
          <p:nvPr/>
        </p:nvSpPr>
        <p:spPr>
          <a:xfrm>
            <a:off x="502920" y="2011680"/>
            <a:ext cx="438912" cy="475488"/>
          </a:xfrm>
          <a:prstGeom prst="roundRect">
            <a:avLst>
              <a:gd name="adj" fmla="val 10417"/>
            </a:avLst>
          </a:prstGeom>
          <a:solidFill>
            <a:srgbClr val="2E6DB4"/>
          </a:solidFill>
          <a:ln w="12700">
            <a:solidFill>
              <a:srgbClr val="2E6DB4"/>
            </a:solidFill>
            <a:prstDash val="solid"/>
          </a:ln>
        </p:spPr>
      </p:sp>
      <p:sp>
        <p:nvSpPr>
          <p:cNvPr id="13" name="Text 11"/>
          <p:cNvSpPr/>
          <p:nvPr/>
        </p:nvSpPr>
        <p:spPr>
          <a:xfrm>
            <a:off x="502920" y="2011680"/>
            <a:ext cx="43891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02</a:t>
            </a:r>
            <a:endParaRPr lang="en-US" sz="1100" dirty="0">
              <a:latin typeface="Times New Roman" panose="02020603050405020304" pitchFamily="18" charset="0"/>
              <a:cs typeface="Times New Roman" panose="02020603050405020304" pitchFamily="18" charset="0"/>
            </a:endParaRPr>
          </a:p>
        </p:txBody>
      </p:sp>
      <p:sp>
        <p:nvSpPr>
          <p:cNvPr id="14" name="Text 12"/>
          <p:cNvSpPr/>
          <p:nvPr/>
        </p:nvSpPr>
        <p:spPr>
          <a:xfrm>
            <a:off x="1051560" y="2011680"/>
            <a:ext cx="3337560" cy="228600"/>
          </a:xfrm>
          <a:prstGeom prst="rect">
            <a:avLst/>
          </a:prstGeom>
          <a:noFill/>
          <a:ln/>
        </p:spPr>
        <p:txBody>
          <a:bodyPr wrap="square" lIns="0" tIns="0" rIns="0" bIns="0"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Project Objectives</a:t>
            </a:r>
            <a:endParaRPr lang="en-US" sz="1100" dirty="0">
              <a:latin typeface="Times New Roman" panose="02020603050405020304" pitchFamily="18" charset="0"/>
              <a:cs typeface="Times New Roman" panose="02020603050405020304" pitchFamily="18" charset="0"/>
            </a:endParaRPr>
          </a:p>
        </p:txBody>
      </p:sp>
      <p:sp>
        <p:nvSpPr>
          <p:cNvPr id="15" name="Text 13"/>
          <p:cNvSpPr/>
          <p:nvPr/>
        </p:nvSpPr>
        <p:spPr>
          <a:xfrm>
            <a:off x="1051560" y="2249424"/>
            <a:ext cx="3337560" cy="256032"/>
          </a:xfrm>
          <a:prstGeom prst="rect">
            <a:avLst/>
          </a:prstGeom>
          <a:noFill/>
          <a:ln/>
        </p:spPr>
        <p:txBody>
          <a:bodyPr wrap="square" lIns="0" tIns="0" rIns="0" bIns="0" rtlCol="0" anchor="ctr"/>
          <a:lstStyle/>
          <a:p>
            <a:pPr marL="0" indent="0">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What this project set out to achieve</a:t>
            </a:r>
            <a:endParaRPr lang="en-US" sz="950" dirty="0">
              <a:latin typeface="Times New Roman" panose="02020603050405020304" pitchFamily="18" charset="0"/>
              <a:cs typeface="Times New Roman" panose="02020603050405020304" pitchFamily="18" charset="0"/>
            </a:endParaRPr>
          </a:p>
        </p:txBody>
      </p:sp>
      <p:sp>
        <p:nvSpPr>
          <p:cNvPr id="16" name="Shape 14"/>
          <p:cNvSpPr/>
          <p:nvPr/>
        </p:nvSpPr>
        <p:spPr>
          <a:xfrm>
            <a:off x="411480" y="2670048"/>
            <a:ext cx="4069080" cy="658368"/>
          </a:xfrm>
          <a:prstGeom prst="roundRect">
            <a:avLst>
              <a:gd name="adj" fmla="val 13889"/>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7" name="Shape 15"/>
          <p:cNvSpPr/>
          <p:nvPr/>
        </p:nvSpPr>
        <p:spPr>
          <a:xfrm>
            <a:off x="502920" y="2761488"/>
            <a:ext cx="438912" cy="475488"/>
          </a:xfrm>
          <a:prstGeom prst="roundRect">
            <a:avLst>
              <a:gd name="adj" fmla="val 10417"/>
            </a:avLst>
          </a:prstGeom>
          <a:solidFill>
            <a:srgbClr val="2E6DB4"/>
          </a:solidFill>
          <a:ln w="12700">
            <a:solidFill>
              <a:srgbClr val="2E6DB4"/>
            </a:solidFill>
            <a:prstDash val="solid"/>
          </a:ln>
        </p:spPr>
      </p:sp>
      <p:sp>
        <p:nvSpPr>
          <p:cNvPr id="18" name="Text 16"/>
          <p:cNvSpPr/>
          <p:nvPr/>
        </p:nvSpPr>
        <p:spPr>
          <a:xfrm>
            <a:off x="502920" y="2761488"/>
            <a:ext cx="43891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03</a:t>
            </a:r>
            <a:endParaRPr lang="en-US" sz="1100" dirty="0">
              <a:latin typeface="Times New Roman" panose="02020603050405020304" pitchFamily="18" charset="0"/>
              <a:cs typeface="Times New Roman" panose="02020603050405020304" pitchFamily="18" charset="0"/>
            </a:endParaRPr>
          </a:p>
        </p:txBody>
      </p:sp>
      <p:sp>
        <p:nvSpPr>
          <p:cNvPr id="19" name="Text 17"/>
          <p:cNvSpPr/>
          <p:nvPr/>
        </p:nvSpPr>
        <p:spPr>
          <a:xfrm>
            <a:off x="1051560" y="2761488"/>
            <a:ext cx="3337560" cy="228600"/>
          </a:xfrm>
          <a:prstGeom prst="rect">
            <a:avLst/>
          </a:prstGeom>
          <a:noFill/>
          <a:ln/>
        </p:spPr>
        <p:txBody>
          <a:bodyPr wrap="square" lIns="0" tIns="0" rIns="0" bIns="0"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Dataset</a:t>
            </a:r>
            <a:endParaRPr lang="en-US" sz="1100" dirty="0">
              <a:latin typeface="Times New Roman" panose="02020603050405020304" pitchFamily="18" charset="0"/>
              <a:cs typeface="Times New Roman" panose="02020603050405020304" pitchFamily="18" charset="0"/>
            </a:endParaRPr>
          </a:p>
        </p:txBody>
      </p:sp>
      <p:sp>
        <p:nvSpPr>
          <p:cNvPr id="20" name="Text 18"/>
          <p:cNvSpPr/>
          <p:nvPr/>
        </p:nvSpPr>
        <p:spPr>
          <a:xfrm>
            <a:off x="1051560" y="2999232"/>
            <a:ext cx="3337560" cy="256032"/>
          </a:xfrm>
          <a:prstGeom prst="rect">
            <a:avLst/>
          </a:prstGeom>
          <a:noFill/>
          <a:ln/>
        </p:spPr>
        <p:txBody>
          <a:bodyPr wrap="square" lIns="0" tIns="0" rIns="0" bIns="0" rtlCol="0" anchor="ctr"/>
          <a:lstStyle/>
          <a:p>
            <a:pPr marL="0" indent="0">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50,000-record Kaggle dataset overview</a:t>
            </a:r>
            <a:endParaRPr lang="en-US" sz="950" dirty="0">
              <a:latin typeface="Times New Roman" panose="02020603050405020304" pitchFamily="18" charset="0"/>
              <a:cs typeface="Times New Roman" panose="02020603050405020304" pitchFamily="18" charset="0"/>
            </a:endParaRPr>
          </a:p>
        </p:txBody>
      </p:sp>
      <p:sp>
        <p:nvSpPr>
          <p:cNvPr id="21" name="Shape 19"/>
          <p:cNvSpPr/>
          <p:nvPr/>
        </p:nvSpPr>
        <p:spPr>
          <a:xfrm>
            <a:off x="411480" y="3419856"/>
            <a:ext cx="4069080" cy="658368"/>
          </a:xfrm>
          <a:prstGeom prst="roundRect">
            <a:avLst>
              <a:gd name="adj" fmla="val 13889"/>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22" name="Shape 20"/>
          <p:cNvSpPr/>
          <p:nvPr/>
        </p:nvSpPr>
        <p:spPr>
          <a:xfrm>
            <a:off x="502920" y="3511296"/>
            <a:ext cx="438912" cy="475488"/>
          </a:xfrm>
          <a:prstGeom prst="roundRect">
            <a:avLst>
              <a:gd name="adj" fmla="val 10417"/>
            </a:avLst>
          </a:prstGeom>
          <a:solidFill>
            <a:srgbClr val="2E6DB4"/>
          </a:solidFill>
          <a:ln w="12700">
            <a:solidFill>
              <a:srgbClr val="2E6DB4"/>
            </a:solidFill>
            <a:prstDash val="solid"/>
          </a:ln>
        </p:spPr>
      </p:sp>
      <p:sp>
        <p:nvSpPr>
          <p:cNvPr id="23" name="Text 21"/>
          <p:cNvSpPr/>
          <p:nvPr/>
        </p:nvSpPr>
        <p:spPr>
          <a:xfrm>
            <a:off x="502920" y="3511296"/>
            <a:ext cx="43891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04</a:t>
            </a:r>
            <a:endParaRPr lang="en-US" sz="1100" dirty="0">
              <a:latin typeface="Times New Roman" panose="02020603050405020304" pitchFamily="18" charset="0"/>
              <a:cs typeface="Times New Roman" panose="02020603050405020304" pitchFamily="18" charset="0"/>
            </a:endParaRPr>
          </a:p>
        </p:txBody>
      </p:sp>
      <p:sp>
        <p:nvSpPr>
          <p:cNvPr id="24" name="Text 22"/>
          <p:cNvSpPr/>
          <p:nvPr/>
        </p:nvSpPr>
        <p:spPr>
          <a:xfrm>
            <a:off x="1051560" y="3511296"/>
            <a:ext cx="3337560" cy="228600"/>
          </a:xfrm>
          <a:prstGeom prst="rect">
            <a:avLst/>
          </a:prstGeom>
          <a:noFill/>
          <a:ln/>
        </p:spPr>
        <p:txBody>
          <a:bodyPr wrap="square" lIns="0" tIns="0" rIns="0" bIns="0"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Data Preprocessing</a:t>
            </a:r>
            <a:endParaRPr lang="en-US" sz="1100" dirty="0">
              <a:latin typeface="Times New Roman" panose="02020603050405020304" pitchFamily="18" charset="0"/>
              <a:cs typeface="Times New Roman" panose="02020603050405020304" pitchFamily="18" charset="0"/>
            </a:endParaRPr>
          </a:p>
        </p:txBody>
      </p:sp>
      <p:sp>
        <p:nvSpPr>
          <p:cNvPr id="25" name="Text 23"/>
          <p:cNvSpPr/>
          <p:nvPr/>
        </p:nvSpPr>
        <p:spPr>
          <a:xfrm>
            <a:off x="1051560" y="3749040"/>
            <a:ext cx="3337560" cy="256032"/>
          </a:xfrm>
          <a:prstGeom prst="rect">
            <a:avLst/>
          </a:prstGeom>
          <a:noFill/>
          <a:ln/>
        </p:spPr>
        <p:txBody>
          <a:bodyPr wrap="square" lIns="0" tIns="0" rIns="0" bIns="0" rtlCol="0" anchor="ctr"/>
          <a:lstStyle/>
          <a:p>
            <a:pPr marL="0" indent="0">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Cleaning, encoding, scaling, splitting</a:t>
            </a:r>
            <a:endParaRPr lang="en-US" sz="950" dirty="0">
              <a:latin typeface="Times New Roman" panose="02020603050405020304" pitchFamily="18" charset="0"/>
              <a:cs typeface="Times New Roman" panose="02020603050405020304" pitchFamily="18" charset="0"/>
            </a:endParaRPr>
          </a:p>
        </p:txBody>
      </p:sp>
      <p:sp>
        <p:nvSpPr>
          <p:cNvPr id="26" name="Shape 24"/>
          <p:cNvSpPr/>
          <p:nvPr/>
        </p:nvSpPr>
        <p:spPr>
          <a:xfrm>
            <a:off x="411480" y="4169664"/>
            <a:ext cx="4069080" cy="658368"/>
          </a:xfrm>
          <a:prstGeom prst="roundRect">
            <a:avLst>
              <a:gd name="adj" fmla="val 13889"/>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27" name="Shape 25"/>
          <p:cNvSpPr/>
          <p:nvPr/>
        </p:nvSpPr>
        <p:spPr>
          <a:xfrm>
            <a:off x="502920" y="4261104"/>
            <a:ext cx="438912" cy="475488"/>
          </a:xfrm>
          <a:prstGeom prst="roundRect">
            <a:avLst>
              <a:gd name="adj" fmla="val 10417"/>
            </a:avLst>
          </a:prstGeom>
          <a:solidFill>
            <a:srgbClr val="2E6DB4"/>
          </a:solidFill>
          <a:ln w="12700">
            <a:solidFill>
              <a:srgbClr val="2E6DB4"/>
            </a:solidFill>
            <a:prstDash val="solid"/>
          </a:ln>
        </p:spPr>
      </p:sp>
      <p:sp>
        <p:nvSpPr>
          <p:cNvPr id="28" name="Text 26"/>
          <p:cNvSpPr/>
          <p:nvPr/>
        </p:nvSpPr>
        <p:spPr>
          <a:xfrm>
            <a:off x="502920" y="4261104"/>
            <a:ext cx="43891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05</a:t>
            </a:r>
            <a:endParaRPr lang="en-US" sz="1100" dirty="0">
              <a:latin typeface="Times New Roman" panose="02020603050405020304" pitchFamily="18" charset="0"/>
              <a:cs typeface="Times New Roman" panose="02020603050405020304" pitchFamily="18" charset="0"/>
            </a:endParaRPr>
          </a:p>
        </p:txBody>
      </p:sp>
      <p:sp>
        <p:nvSpPr>
          <p:cNvPr id="29" name="Text 27"/>
          <p:cNvSpPr/>
          <p:nvPr/>
        </p:nvSpPr>
        <p:spPr>
          <a:xfrm>
            <a:off x="1051560" y="4261104"/>
            <a:ext cx="3337560" cy="228600"/>
          </a:xfrm>
          <a:prstGeom prst="rect">
            <a:avLst/>
          </a:prstGeom>
          <a:noFill/>
          <a:ln/>
        </p:spPr>
        <p:txBody>
          <a:bodyPr wrap="square" lIns="0" tIns="0" rIns="0" bIns="0"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EDA</a:t>
            </a:r>
            <a:endParaRPr lang="en-US" sz="1100" dirty="0">
              <a:latin typeface="Times New Roman" panose="02020603050405020304" pitchFamily="18" charset="0"/>
              <a:cs typeface="Times New Roman" panose="02020603050405020304" pitchFamily="18" charset="0"/>
            </a:endParaRPr>
          </a:p>
        </p:txBody>
      </p:sp>
      <p:sp>
        <p:nvSpPr>
          <p:cNvPr id="30" name="Text 28"/>
          <p:cNvSpPr/>
          <p:nvPr/>
        </p:nvSpPr>
        <p:spPr>
          <a:xfrm>
            <a:off x="1051560" y="4498848"/>
            <a:ext cx="3337560" cy="256032"/>
          </a:xfrm>
          <a:prstGeom prst="rect">
            <a:avLst/>
          </a:prstGeom>
          <a:noFill/>
          <a:ln/>
        </p:spPr>
        <p:txBody>
          <a:bodyPr wrap="square" lIns="0" tIns="0" rIns="0" bIns="0" rtlCol="0" anchor="ctr"/>
          <a:lstStyle/>
          <a:p>
            <a:pPr marL="0" indent="0">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Distributions, correlation, class balance</a:t>
            </a:r>
            <a:endParaRPr lang="en-US" sz="950" dirty="0">
              <a:latin typeface="Times New Roman" panose="02020603050405020304" pitchFamily="18" charset="0"/>
              <a:cs typeface="Times New Roman" panose="02020603050405020304" pitchFamily="18" charset="0"/>
            </a:endParaRPr>
          </a:p>
        </p:txBody>
      </p:sp>
      <p:sp>
        <p:nvSpPr>
          <p:cNvPr id="31" name="Shape 29"/>
          <p:cNvSpPr/>
          <p:nvPr/>
        </p:nvSpPr>
        <p:spPr>
          <a:xfrm>
            <a:off x="4800600" y="1170432"/>
            <a:ext cx="4069080" cy="658368"/>
          </a:xfrm>
          <a:prstGeom prst="roundRect">
            <a:avLst>
              <a:gd name="adj" fmla="val 13889"/>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32" name="Shape 30"/>
          <p:cNvSpPr/>
          <p:nvPr/>
        </p:nvSpPr>
        <p:spPr>
          <a:xfrm>
            <a:off x="4892040" y="1261872"/>
            <a:ext cx="438912" cy="475488"/>
          </a:xfrm>
          <a:prstGeom prst="roundRect">
            <a:avLst>
              <a:gd name="adj" fmla="val 10417"/>
            </a:avLst>
          </a:prstGeom>
          <a:solidFill>
            <a:srgbClr val="2E6DB4"/>
          </a:solidFill>
          <a:ln w="12700">
            <a:solidFill>
              <a:srgbClr val="2E6DB4"/>
            </a:solidFill>
            <a:prstDash val="solid"/>
          </a:ln>
        </p:spPr>
      </p:sp>
      <p:sp>
        <p:nvSpPr>
          <p:cNvPr id="33" name="Text 31"/>
          <p:cNvSpPr/>
          <p:nvPr/>
        </p:nvSpPr>
        <p:spPr>
          <a:xfrm>
            <a:off x="4892040" y="1261872"/>
            <a:ext cx="43891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06</a:t>
            </a:r>
            <a:endParaRPr lang="en-US" sz="1100" dirty="0">
              <a:latin typeface="Times New Roman" panose="02020603050405020304" pitchFamily="18" charset="0"/>
              <a:cs typeface="Times New Roman" panose="02020603050405020304" pitchFamily="18" charset="0"/>
            </a:endParaRPr>
          </a:p>
        </p:txBody>
      </p:sp>
      <p:sp>
        <p:nvSpPr>
          <p:cNvPr id="34" name="Text 32"/>
          <p:cNvSpPr/>
          <p:nvPr/>
        </p:nvSpPr>
        <p:spPr>
          <a:xfrm>
            <a:off x="5440680" y="1261872"/>
            <a:ext cx="3337560" cy="228600"/>
          </a:xfrm>
          <a:prstGeom prst="rect">
            <a:avLst/>
          </a:prstGeom>
          <a:noFill/>
          <a:ln/>
        </p:spPr>
        <p:txBody>
          <a:bodyPr wrap="square" lIns="0" tIns="0" rIns="0" bIns="0"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ML Models</a:t>
            </a:r>
            <a:endParaRPr lang="en-US" sz="1100" dirty="0">
              <a:latin typeface="Times New Roman" panose="02020603050405020304" pitchFamily="18" charset="0"/>
              <a:cs typeface="Times New Roman" panose="02020603050405020304" pitchFamily="18" charset="0"/>
            </a:endParaRPr>
          </a:p>
        </p:txBody>
      </p:sp>
      <p:sp>
        <p:nvSpPr>
          <p:cNvPr id="35" name="Text 33"/>
          <p:cNvSpPr/>
          <p:nvPr/>
        </p:nvSpPr>
        <p:spPr>
          <a:xfrm>
            <a:off x="5440680" y="1499616"/>
            <a:ext cx="3337560" cy="256032"/>
          </a:xfrm>
          <a:prstGeom prst="rect">
            <a:avLst/>
          </a:prstGeom>
          <a:noFill/>
          <a:ln/>
        </p:spPr>
        <p:txBody>
          <a:bodyPr wrap="square" lIns="0" tIns="0" rIns="0" bIns="0" rtlCol="0" anchor="ctr"/>
          <a:lstStyle/>
          <a:p>
            <a:pPr marL="0" indent="0">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Logistic Regression, Decision Tree, Random Forest</a:t>
            </a:r>
            <a:endParaRPr lang="en-US" sz="950" dirty="0">
              <a:latin typeface="Times New Roman" panose="02020603050405020304" pitchFamily="18" charset="0"/>
              <a:cs typeface="Times New Roman" panose="02020603050405020304" pitchFamily="18" charset="0"/>
            </a:endParaRPr>
          </a:p>
        </p:txBody>
      </p:sp>
      <p:sp>
        <p:nvSpPr>
          <p:cNvPr id="36" name="Shape 34"/>
          <p:cNvSpPr/>
          <p:nvPr/>
        </p:nvSpPr>
        <p:spPr>
          <a:xfrm>
            <a:off x="4800600" y="1920240"/>
            <a:ext cx="4069080" cy="658368"/>
          </a:xfrm>
          <a:prstGeom prst="roundRect">
            <a:avLst>
              <a:gd name="adj" fmla="val 13889"/>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37" name="Shape 35"/>
          <p:cNvSpPr/>
          <p:nvPr/>
        </p:nvSpPr>
        <p:spPr>
          <a:xfrm>
            <a:off x="4892040" y="2011680"/>
            <a:ext cx="438912" cy="475488"/>
          </a:xfrm>
          <a:prstGeom prst="roundRect">
            <a:avLst>
              <a:gd name="adj" fmla="val 10417"/>
            </a:avLst>
          </a:prstGeom>
          <a:solidFill>
            <a:srgbClr val="2E6DB4"/>
          </a:solidFill>
          <a:ln w="12700">
            <a:solidFill>
              <a:srgbClr val="2E6DB4"/>
            </a:solidFill>
            <a:prstDash val="solid"/>
          </a:ln>
        </p:spPr>
      </p:sp>
      <p:sp>
        <p:nvSpPr>
          <p:cNvPr id="38" name="Text 36"/>
          <p:cNvSpPr/>
          <p:nvPr/>
        </p:nvSpPr>
        <p:spPr>
          <a:xfrm>
            <a:off x="4892040" y="2011680"/>
            <a:ext cx="43891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07</a:t>
            </a:r>
            <a:endParaRPr lang="en-US" sz="1100" dirty="0">
              <a:latin typeface="Times New Roman" panose="02020603050405020304" pitchFamily="18" charset="0"/>
              <a:cs typeface="Times New Roman" panose="02020603050405020304" pitchFamily="18" charset="0"/>
            </a:endParaRPr>
          </a:p>
        </p:txBody>
      </p:sp>
      <p:sp>
        <p:nvSpPr>
          <p:cNvPr id="39" name="Text 37"/>
          <p:cNvSpPr/>
          <p:nvPr/>
        </p:nvSpPr>
        <p:spPr>
          <a:xfrm>
            <a:off x="5440680" y="2011680"/>
            <a:ext cx="3337560" cy="228600"/>
          </a:xfrm>
          <a:prstGeom prst="rect">
            <a:avLst/>
          </a:prstGeom>
          <a:noFill/>
          <a:ln/>
        </p:spPr>
        <p:txBody>
          <a:bodyPr wrap="square" lIns="0" tIns="0" rIns="0" bIns="0"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Evaluation</a:t>
            </a:r>
            <a:endParaRPr lang="en-US" sz="1100" dirty="0">
              <a:latin typeface="Times New Roman" panose="02020603050405020304" pitchFamily="18" charset="0"/>
              <a:cs typeface="Times New Roman" panose="02020603050405020304" pitchFamily="18" charset="0"/>
            </a:endParaRPr>
          </a:p>
        </p:txBody>
      </p:sp>
      <p:sp>
        <p:nvSpPr>
          <p:cNvPr id="40" name="Text 38"/>
          <p:cNvSpPr/>
          <p:nvPr/>
        </p:nvSpPr>
        <p:spPr>
          <a:xfrm>
            <a:off x="5440680" y="2249424"/>
            <a:ext cx="3337560" cy="256032"/>
          </a:xfrm>
          <a:prstGeom prst="rect">
            <a:avLst/>
          </a:prstGeom>
          <a:noFill/>
          <a:ln/>
        </p:spPr>
        <p:txBody>
          <a:bodyPr wrap="square" lIns="0" tIns="0" rIns="0" bIns="0" rtlCol="0" anchor="ctr"/>
          <a:lstStyle/>
          <a:p>
            <a:pPr marL="0" indent="0">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Accuracy, F1, AUC-ROC, Confusion Matrix</a:t>
            </a:r>
            <a:endParaRPr lang="en-US" sz="950" dirty="0">
              <a:latin typeface="Times New Roman" panose="02020603050405020304" pitchFamily="18" charset="0"/>
              <a:cs typeface="Times New Roman" panose="02020603050405020304" pitchFamily="18" charset="0"/>
            </a:endParaRPr>
          </a:p>
        </p:txBody>
      </p:sp>
      <p:sp>
        <p:nvSpPr>
          <p:cNvPr id="41" name="Shape 39"/>
          <p:cNvSpPr/>
          <p:nvPr/>
        </p:nvSpPr>
        <p:spPr>
          <a:xfrm>
            <a:off x="4800600" y="2670048"/>
            <a:ext cx="4069080" cy="658368"/>
          </a:xfrm>
          <a:prstGeom prst="roundRect">
            <a:avLst>
              <a:gd name="adj" fmla="val 13889"/>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42" name="Shape 40"/>
          <p:cNvSpPr/>
          <p:nvPr/>
        </p:nvSpPr>
        <p:spPr>
          <a:xfrm>
            <a:off x="4892040" y="2761488"/>
            <a:ext cx="438912" cy="475488"/>
          </a:xfrm>
          <a:prstGeom prst="roundRect">
            <a:avLst>
              <a:gd name="adj" fmla="val 10417"/>
            </a:avLst>
          </a:prstGeom>
          <a:solidFill>
            <a:srgbClr val="2E6DB4"/>
          </a:solidFill>
          <a:ln w="12700">
            <a:solidFill>
              <a:srgbClr val="2E6DB4"/>
            </a:solidFill>
            <a:prstDash val="solid"/>
          </a:ln>
        </p:spPr>
      </p:sp>
      <p:sp>
        <p:nvSpPr>
          <p:cNvPr id="43" name="Text 41"/>
          <p:cNvSpPr/>
          <p:nvPr/>
        </p:nvSpPr>
        <p:spPr>
          <a:xfrm>
            <a:off x="4892040" y="2761488"/>
            <a:ext cx="43891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08</a:t>
            </a:r>
            <a:endParaRPr lang="en-US" sz="1100" dirty="0">
              <a:latin typeface="Times New Roman" panose="02020603050405020304" pitchFamily="18" charset="0"/>
              <a:cs typeface="Times New Roman" panose="02020603050405020304" pitchFamily="18" charset="0"/>
            </a:endParaRPr>
          </a:p>
        </p:txBody>
      </p:sp>
      <p:sp>
        <p:nvSpPr>
          <p:cNvPr id="44" name="Text 42"/>
          <p:cNvSpPr/>
          <p:nvPr/>
        </p:nvSpPr>
        <p:spPr>
          <a:xfrm>
            <a:off x="5440680" y="2761488"/>
            <a:ext cx="3337560" cy="228600"/>
          </a:xfrm>
          <a:prstGeom prst="rect">
            <a:avLst/>
          </a:prstGeom>
          <a:noFill/>
          <a:ln/>
        </p:spPr>
        <p:txBody>
          <a:bodyPr wrap="square" lIns="0" tIns="0" rIns="0" bIns="0"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Results</a:t>
            </a:r>
            <a:endParaRPr lang="en-US" sz="1100" dirty="0">
              <a:latin typeface="Times New Roman" panose="02020603050405020304" pitchFamily="18" charset="0"/>
              <a:cs typeface="Times New Roman" panose="02020603050405020304" pitchFamily="18" charset="0"/>
            </a:endParaRPr>
          </a:p>
        </p:txBody>
      </p:sp>
      <p:sp>
        <p:nvSpPr>
          <p:cNvPr id="45" name="Text 43"/>
          <p:cNvSpPr/>
          <p:nvPr/>
        </p:nvSpPr>
        <p:spPr>
          <a:xfrm>
            <a:off x="5440680" y="2999232"/>
            <a:ext cx="3337560" cy="256032"/>
          </a:xfrm>
          <a:prstGeom prst="rect">
            <a:avLst/>
          </a:prstGeom>
          <a:noFill/>
          <a:ln/>
        </p:spPr>
        <p:txBody>
          <a:bodyPr wrap="square" lIns="0" tIns="0" rIns="0" bIns="0" rtlCol="0" anchor="ctr"/>
          <a:lstStyle/>
          <a:p>
            <a:pPr marL="0" indent="0">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Best model &amp; key findings</a:t>
            </a:r>
            <a:endParaRPr lang="en-US" sz="950" dirty="0">
              <a:latin typeface="Times New Roman" panose="02020603050405020304" pitchFamily="18" charset="0"/>
              <a:cs typeface="Times New Roman" panose="02020603050405020304" pitchFamily="18" charset="0"/>
            </a:endParaRPr>
          </a:p>
        </p:txBody>
      </p:sp>
      <p:sp>
        <p:nvSpPr>
          <p:cNvPr id="46" name="Shape 44"/>
          <p:cNvSpPr/>
          <p:nvPr/>
        </p:nvSpPr>
        <p:spPr>
          <a:xfrm>
            <a:off x="4800600" y="3419856"/>
            <a:ext cx="4069080" cy="658368"/>
          </a:xfrm>
          <a:prstGeom prst="roundRect">
            <a:avLst>
              <a:gd name="adj" fmla="val 13889"/>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47" name="Shape 45"/>
          <p:cNvSpPr/>
          <p:nvPr/>
        </p:nvSpPr>
        <p:spPr>
          <a:xfrm>
            <a:off x="4892040" y="3511296"/>
            <a:ext cx="438912" cy="475488"/>
          </a:xfrm>
          <a:prstGeom prst="roundRect">
            <a:avLst>
              <a:gd name="adj" fmla="val 10417"/>
            </a:avLst>
          </a:prstGeom>
          <a:solidFill>
            <a:srgbClr val="2E6DB4"/>
          </a:solidFill>
          <a:ln w="12700">
            <a:solidFill>
              <a:srgbClr val="2E6DB4"/>
            </a:solidFill>
            <a:prstDash val="solid"/>
          </a:ln>
        </p:spPr>
      </p:sp>
      <p:sp>
        <p:nvSpPr>
          <p:cNvPr id="48" name="Text 46"/>
          <p:cNvSpPr/>
          <p:nvPr/>
        </p:nvSpPr>
        <p:spPr>
          <a:xfrm>
            <a:off x="4892040" y="3511296"/>
            <a:ext cx="43891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09</a:t>
            </a:r>
            <a:endParaRPr lang="en-US" sz="1100" dirty="0">
              <a:latin typeface="Times New Roman" panose="02020603050405020304" pitchFamily="18" charset="0"/>
              <a:cs typeface="Times New Roman" panose="02020603050405020304" pitchFamily="18" charset="0"/>
            </a:endParaRPr>
          </a:p>
        </p:txBody>
      </p:sp>
      <p:sp>
        <p:nvSpPr>
          <p:cNvPr id="49" name="Text 47"/>
          <p:cNvSpPr/>
          <p:nvPr/>
        </p:nvSpPr>
        <p:spPr>
          <a:xfrm>
            <a:off x="5440680" y="3511296"/>
            <a:ext cx="3337560" cy="228600"/>
          </a:xfrm>
          <a:prstGeom prst="rect">
            <a:avLst/>
          </a:prstGeom>
          <a:noFill/>
          <a:ln/>
        </p:spPr>
        <p:txBody>
          <a:bodyPr wrap="square" lIns="0" tIns="0" rIns="0" bIns="0"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SEPLi</a:t>
            </a:r>
            <a:endParaRPr lang="en-US" sz="1100" dirty="0">
              <a:latin typeface="Times New Roman" panose="02020603050405020304" pitchFamily="18" charset="0"/>
              <a:cs typeface="Times New Roman" panose="02020603050405020304" pitchFamily="18" charset="0"/>
            </a:endParaRPr>
          </a:p>
        </p:txBody>
      </p:sp>
      <p:sp>
        <p:nvSpPr>
          <p:cNvPr id="50" name="Text 48"/>
          <p:cNvSpPr/>
          <p:nvPr/>
        </p:nvSpPr>
        <p:spPr>
          <a:xfrm>
            <a:off x="5440680" y="3749040"/>
            <a:ext cx="3337560" cy="256032"/>
          </a:xfrm>
          <a:prstGeom prst="rect">
            <a:avLst/>
          </a:prstGeom>
          <a:noFill/>
          <a:ln/>
        </p:spPr>
        <p:txBody>
          <a:bodyPr wrap="square" lIns="0" tIns="0" rIns="0" bIns="0" rtlCol="0" anchor="ctr"/>
          <a:lstStyle/>
          <a:p>
            <a:pPr marL="0" indent="0">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Social, Ethical, Legal &amp; Professional considerations</a:t>
            </a:r>
            <a:endParaRPr lang="en-US" sz="950" dirty="0">
              <a:latin typeface="Times New Roman" panose="02020603050405020304" pitchFamily="18" charset="0"/>
              <a:cs typeface="Times New Roman" panose="02020603050405020304" pitchFamily="18" charset="0"/>
            </a:endParaRPr>
          </a:p>
        </p:txBody>
      </p:sp>
      <p:sp>
        <p:nvSpPr>
          <p:cNvPr id="51" name="Shape 49"/>
          <p:cNvSpPr/>
          <p:nvPr/>
        </p:nvSpPr>
        <p:spPr>
          <a:xfrm>
            <a:off x="4800600" y="4169664"/>
            <a:ext cx="4069080" cy="658368"/>
          </a:xfrm>
          <a:prstGeom prst="roundRect">
            <a:avLst>
              <a:gd name="adj" fmla="val 13889"/>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52" name="Shape 50"/>
          <p:cNvSpPr/>
          <p:nvPr/>
        </p:nvSpPr>
        <p:spPr>
          <a:xfrm>
            <a:off x="4892040" y="4261104"/>
            <a:ext cx="438912" cy="475488"/>
          </a:xfrm>
          <a:prstGeom prst="roundRect">
            <a:avLst>
              <a:gd name="adj" fmla="val 10417"/>
            </a:avLst>
          </a:prstGeom>
          <a:solidFill>
            <a:srgbClr val="2E6DB4"/>
          </a:solidFill>
          <a:ln w="12700">
            <a:solidFill>
              <a:srgbClr val="2E6DB4"/>
            </a:solidFill>
            <a:prstDash val="solid"/>
          </a:ln>
        </p:spPr>
      </p:sp>
      <p:sp>
        <p:nvSpPr>
          <p:cNvPr id="53" name="Text 51"/>
          <p:cNvSpPr/>
          <p:nvPr/>
        </p:nvSpPr>
        <p:spPr>
          <a:xfrm>
            <a:off x="4892040" y="4261104"/>
            <a:ext cx="43891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10</a:t>
            </a:r>
            <a:endParaRPr lang="en-US" sz="1100" dirty="0">
              <a:latin typeface="Times New Roman" panose="02020603050405020304" pitchFamily="18" charset="0"/>
              <a:cs typeface="Times New Roman" panose="02020603050405020304" pitchFamily="18" charset="0"/>
            </a:endParaRPr>
          </a:p>
        </p:txBody>
      </p:sp>
      <p:sp>
        <p:nvSpPr>
          <p:cNvPr id="54" name="Text 52"/>
          <p:cNvSpPr/>
          <p:nvPr/>
        </p:nvSpPr>
        <p:spPr>
          <a:xfrm>
            <a:off x="5440680" y="4261104"/>
            <a:ext cx="3337560" cy="228600"/>
          </a:xfrm>
          <a:prstGeom prst="rect">
            <a:avLst/>
          </a:prstGeom>
          <a:noFill/>
          <a:ln/>
        </p:spPr>
        <p:txBody>
          <a:bodyPr wrap="square" lIns="0" tIns="0" rIns="0" bIns="0"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Conclusion</a:t>
            </a:r>
            <a:endParaRPr lang="en-US" sz="1100" dirty="0">
              <a:latin typeface="Times New Roman" panose="02020603050405020304" pitchFamily="18" charset="0"/>
              <a:cs typeface="Times New Roman" panose="02020603050405020304" pitchFamily="18" charset="0"/>
            </a:endParaRPr>
          </a:p>
        </p:txBody>
      </p:sp>
      <p:sp>
        <p:nvSpPr>
          <p:cNvPr id="55" name="Text 53"/>
          <p:cNvSpPr/>
          <p:nvPr/>
        </p:nvSpPr>
        <p:spPr>
          <a:xfrm>
            <a:off x="5440680" y="4498848"/>
            <a:ext cx="3337560" cy="256032"/>
          </a:xfrm>
          <a:prstGeom prst="rect">
            <a:avLst/>
          </a:prstGeom>
          <a:noFill/>
          <a:ln/>
        </p:spPr>
        <p:txBody>
          <a:bodyPr wrap="square" lIns="0" tIns="0" rIns="0" bIns="0" rtlCol="0" anchor="ctr"/>
          <a:lstStyle/>
          <a:p>
            <a:pPr marL="0" indent="0">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Summary, lessons learned, future scope</a:t>
            </a:r>
            <a:endParaRPr lang="en-US" sz="95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INTRODUCTION</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58368"/>
            <a:ext cx="8321040" cy="347472"/>
          </a:xfrm>
          <a:prstGeom prst="rect">
            <a:avLst/>
          </a:prstGeom>
          <a:noFill/>
          <a:ln/>
        </p:spPr>
        <p:txBody>
          <a:bodyPr wrap="square" rtlCol="0" anchor="ctr"/>
          <a:lstStyle/>
          <a:p>
            <a:pPr marL="0" indent="0">
              <a:buNone/>
            </a:pPr>
            <a:r>
              <a:rPr lang="en-US" sz="1600" b="1" dirty="0">
                <a:solidFill>
                  <a:srgbClr val="1B3A6B"/>
                </a:solidFill>
                <a:latin typeface="Times New Roman" panose="02020603050405020304" pitchFamily="18" charset="0"/>
                <a:ea typeface="Calibri" pitchFamily="34" charset="-122"/>
                <a:cs typeface="Times New Roman" panose="02020603050405020304" pitchFamily="18" charset="0"/>
              </a:rPr>
              <a:t>Why Pancreatic Cancer?</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411480" y="1078992"/>
            <a:ext cx="2286000" cy="1508760"/>
          </a:xfrm>
          <a:prstGeom prst="roundRect">
            <a:avLst>
              <a:gd name="adj" fmla="val 6061"/>
            </a:avLst>
          </a:prstGeom>
          <a:solidFill>
            <a:srgbClr val="D6E4F7"/>
          </a:solidFill>
          <a:ln w="9525">
            <a:solidFill>
              <a:srgbClr val="C8D8EE"/>
            </a:solidFill>
            <a:prstDash val="solid"/>
          </a:ln>
          <a:effectLst>
            <a:outerShdw blurRad="101600" dist="25400" dir="2700000" algn="bl" rotWithShape="0">
              <a:srgbClr val="000000">
                <a:alpha val="10000"/>
              </a:srgbClr>
            </a:outerShdw>
          </a:effectLst>
        </p:spPr>
      </p:sp>
      <p:sp>
        <p:nvSpPr>
          <p:cNvPr id="7" name="Text 5"/>
          <p:cNvSpPr/>
          <p:nvPr/>
        </p:nvSpPr>
        <p:spPr>
          <a:xfrm>
            <a:off x="411480" y="1115568"/>
            <a:ext cx="2286000" cy="777240"/>
          </a:xfrm>
          <a:prstGeom prst="rect">
            <a:avLst/>
          </a:prstGeom>
          <a:noFill/>
          <a:ln/>
        </p:spPr>
        <p:txBody>
          <a:bodyPr wrap="square" lIns="0" tIns="0" rIns="0" bIns="0" rtlCol="0" anchor="ctr"/>
          <a:lstStyle/>
          <a:p>
            <a:pPr marL="0" indent="0" algn="ctr">
              <a:buNone/>
            </a:pPr>
            <a:r>
              <a:rPr lang="en-US" sz="5200" b="1" dirty="0">
                <a:solidFill>
                  <a:srgbClr val="B81C1C"/>
                </a:solidFill>
                <a:latin typeface="Times New Roman" panose="02020603050405020304" pitchFamily="18" charset="0"/>
                <a:ea typeface="Cambria" pitchFamily="34" charset="-122"/>
                <a:cs typeface="Times New Roman" panose="02020603050405020304" pitchFamily="18" charset="0"/>
              </a:rPr>
              <a:t>5%</a:t>
            </a:r>
            <a:endParaRPr lang="en-US" sz="5200" dirty="0">
              <a:latin typeface="Times New Roman" panose="02020603050405020304" pitchFamily="18" charset="0"/>
              <a:cs typeface="Times New Roman" panose="02020603050405020304" pitchFamily="18" charset="0"/>
            </a:endParaRPr>
          </a:p>
        </p:txBody>
      </p:sp>
      <p:sp>
        <p:nvSpPr>
          <p:cNvPr id="8" name="Text 6"/>
          <p:cNvSpPr/>
          <p:nvPr/>
        </p:nvSpPr>
        <p:spPr>
          <a:xfrm>
            <a:off x="411480" y="1847088"/>
            <a:ext cx="2286000" cy="640080"/>
          </a:xfrm>
          <a:prstGeom prst="rect">
            <a:avLst/>
          </a:prstGeom>
          <a:noFill/>
          <a:ln/>
        </p:spPr>
        <p:txBody>
          <a:bodyPr wrap="square" lIns="0" tIns="0" rIns="0" bIns="0" rtlCol="0" anchor="ctr"/>
          <a:lstStyle/>
          <a:p>
            <a:pPr marL="0" indent="0" algn="ctr">
              <a:lnSpc>
                <a:spcPct val="120000"/>
              </a:lnSpc>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Five-Year</a:t>
            </a:r>
            <a:endParaRPr lang="en-US" sz="1100" dirty="0">
              <a:latin typeface="Times New Roman" panose="02020603050405020304" pitchFamily="18" charset="0"/>
              <a:cs typeface="Times New Roman" panose="02020603050405020304" pitchFamily="18" charset="0"/>
            </a:endParaRPr>
          </a:p>
          <a:p>
            <a:pPr marL="0" indent="0" algn="ctr">
              <a:lnSpc>
                <a:spcPct val="120000"/>
              </a:lnSpc>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Survival Rate</a:t>
            </a:r>
            <a:endParaRPr lang="en-US" sz="1100" dirty="0">
              <a:latin typeface="Times New Roman" panose="02020603050405020304" pitchFamily="18" charset="0"/>
              <a:cs typeface="Times New Roman" panose="02020603050405020304" pitchFamily="18" charset="0"/>
            </a:endParaRPr>
          </a:p>
        </p:txBody>
      </p:sp>
      <p:sp>
        <p:nvSpPr>
          <p:cNvPr id="9" name="Text 7"/>
          <p:cNvSpPr/>
          <p:nvPr/>
        </p:nvSpPr>
        <p:spPr>
          <a:xfrm>
            <a:off x="411480" y="2450592"/>
            <a:ext cx="2286000" cy="182880"/>
          </a:xfrm>
          <a:prstGeom prst="rect">
            <a:avLst/>
          </a:prstGeom>
          <a:noFill/>
          <a:ln/>
        </p:spPr>
        <p:txBody>
          <a:bodyPr wrap="square" lIns="0" tIns="0" rIns="0" bIns="0" rtlCol="0" anchor="ctr"/>
          <a:lstStyle/>
          <a:p>
            <a:pPr marL="0" indent="0" algn="ctr">
              <a:buNone/>
            </a:pPr>
            <a:r>
              <a:rPr lang="en-US" sz="800" i="1" dirty="0">
                <a:solidFill>
                  <a:srgbClr val="5A6478"/>
                </a:solidFill>
                <a:latin typeface="Times New Roman" panose="02020603050405020304" pitchFamily="18" charset="0"/>
                <a:ea typeface="Calibri" pitchFamily="34" charset="-122"/>
                <a:cs typeface="Times New Roman" panose="02020603050405020304" pitchFamily="18" charset="0"/>
              </a:rPr>
              <a:t>(Veeramani et al., 2020)</a:t>
            </a:r>
            <a:endParaRPr lang="en-US" sz="800" dirty="0">
              <a:latin typeface="Times New Roman" panose="02020603050405020304" pitchFamily="18" charset="0"/>
              <a:cs typeface="Times New Roman" panose="02020603050405020304" pitchFamily="18" charset="0"/>
            </a:endParaRPr>
          </a:p>
        </p:txBody>
      </p:sp>
      <p:sp>
        <p:nvSpPr>
          <p:cNvPr id="10" name="Shape 8"/>
          <p:cNvSpPr/>
          <p:nvPr/>
        </p:nvSpPr>
        <p:spPr>
          <a:xfrm>
            <a:off x="2880360" y="1078992"/>
            <a:ext cx="5852160" cy="859536"/>
          </a:xfrm>
          <a:prstGeom prst="roundRect">
            <a:avLst>
              <a:gd name="adj" fmla="val 10638"/>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1" name="Text 9"/>
          <p:cNvSpPr/>
          <p:nvPr/>
        </p:nvSpPr>
        <p:spPr>
          <a:xfrm>
            <a:off x="3063240" y="1133856"/>
            <a:ext cx="5577840" cy="256032"/>
          </a:xfrm>
          <a:prstGeom prst="rect">
            <a:avLst/>
          </a:prstGeom>
          <a:noFill/>
          <a:ln/>
        </p:spPr>
        <p:txBody>
          <a:bodyPr wrap="square" lIns="0" tIns="0" rIns="0" bIns="0" rtlCol="0" anchor="ctr"/>
          <a:lstStyle/>
          <a:p>
            <a:pPr marL="0" indent="0">
              <a:buNone/>
            </a:pPr>
            <a:r>
              <a:rPr lang="en-US" sz="1200" b="1" dirty="0">
                <a:solidFill>
                  <a:srgbClr val="1B3A6B"/>
                </a:solidFill>
                <a:latin typeface="Times New Roman" panose="02020603050405020304" pitchFamily="18" charset="0"/>
                <a:ea typeface="Calibri" pitchFamily="34" charset="-122"/>
                <a:cs typeface="Times New Roman" panose="02020603050405020304" pitchFamily="18" charset="0"/>
              </a:rPr>
              <a:t>Low Survival Rate</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3063240" y="1399032"/>
            <a:ext cx="5577840" cy="475488"/>
          </a:xfrm>
          <a:prstGeom prst="rect">
            <a:avLst/>
          </a:prstGeom>
          <a:noFill/>
          <a:ln/>
        </p:spPr>
        <p:txBody>
          <a:bodyPr wrap="square" lIns="0" tIns="0" rIns="0" bIns="0" rtlCol="0" anchor="ctr"/>
          <a:lstStyle/>
          <a:p>
            <a:pPr marL="0" indent="0">
              <a:lnSpc>
                <a:spcPct val="130000"/>
              </a:lnSpc>
              <a:buNone/>
            </a:pPr>
            <a:r>
              <a:rPr lang="en-US" sz="1050" dirty="0">
                <a:solidFill>
                  <a:srgbClr val="1A1A2E"/>
                </a:solidFill>
                <a:latin typeface="Times New Roman" panose="02020603050405020304" pitchFamily="18" charset="0"/>
                <a:ea typeface="Calibri" pitchFamily="34" charset="-122"/>
                <a:cs typeface="Times New Roman" panose="02020603050405020304" pitchFamily="18" charset="0"/>
              </a:rPr>
              <a:t>Only 5% of patients survive five years  primarily because the disease is rarely detected at an early stage.</a:t>
            </a:r>
            <a:endParaRPr lang="en-US" sz="1050" dirty="0">
              <a:latin typeface="Times New Roman" panose="02020603050405020304" pitchFamily="18" charset="0"/>
              <a:cs typeface="Times New Roman" panose="02020603050405020304" pitchFamily="18" charset="0"/>
            </a:endParaRPr>
          </a:p>
        </p:txBody>
      </p:sp>
      <p:sp>
        <p:nvSpPr>
          <p:cNvPr id="13" name="Shape 11"/>
          <p:cNvSpPr/>
          <p:nvPr/>
        </p:nvSpPr>
        <p:spPr>
          <a:xfrm>
            <a:off x="2880360" y="2048256"/>
            <a:ext cx="5852160" cy="859536"/>
          </a:xfrm>
          <a:prstGeom prst="roundRect">
            <a:avLst>
              <a:gd name="adj" fmla="val 10638"/>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4" name="Text 12"/>
          <p:cNvSpPr/>
          <p:nvPr/>
        </p:nvSpPr>
        <p:spPr>
          <a:xfrm>
            <a:off x="3063240" y="2103120"/>
            <a:ext cx="5577840" cy="256032"/>
          </a:xfrm>
          <a:prstGeom prst="rect">
            <a:avLst/>
          </a:prstGeom>
          <a:noFill/>
          <a:ln/>
        </p:spPr>
        <p:txBody>
          <a:bodyPr wrap="square" lIns="0" tIns="0" rIns="0" bIns="0" rtlCol="0" anchor="ctr"/>
          <a:lstStyle/>
          <a:p>
            <a:pPr marL="0" indent="0">
              <a:buNone/>
            </a:pPr>
            <a:r>
              <a:rPr lang="en-US" sz="1200" b="1" dirty="0">
                <a:solidFill>
                  <a:srgbClr val="1B3A6B"/>
                </a:solidFill>
                <a:latin typeface="Times New Roman" panose="02020603050405020304" pitchFamily="18" charset="0"/>
                <a:ea typeface="Calibri" pitchFamily="34" charset="-122"/>
                <a:cs typeface="Times New Roman" panose="02020603050405020304" pitchFamily="18" charset="0"/>
              </a:rPr>
              <a:t>Late-Stage Diagnosis</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3063240" y="2368296"/>
            <a:ext cx="5577840" cy="475488"/>
          </a:xfrm>
          <a:prstGeom prst="rect">
            <a:avLst/>
          </a:prstGeom>
          <a:noFill/>
          <a:ln/>
        </p:spPr>
        <p:txBody>
          <a:bodyPr wrap="square" lIns="0" tIns="0" rIns="0" bIns="0" rtlCol="0" anchor="ctr"/>
          <a:lstStyle/>
          <a:p>
            <a:pPr marL="0" indent="0">
              <a:lnSpc>
                <a:spcPct val="130000"/>
              </a:lnSpc>
              <a:buNone/>
            </a:pPr>
            <a:r>
              <a:rPr lang="en-US" sz="1050" dirty="0">
                <a:solidFill>
                  <a:srgbClr val="1A1A2E"/>
                </a:solidFill>
                <a:latin typeface="Times New Roman" panose="02020603050405020304" pitchFamily="18" charset="0"/>
                <a:ea typeface="Calibri" pitchFamily="34" charset="-122"/>
                <a:cs typeface="Times New Roman" panose="02020603050405020304" pitchFamily="18" charset="0"/>
              </a:rPr>
              <a:t>Symptoms like jaundice, back pain and weight loss appear late, by which time the cancer has often spread.</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2880360" y="3017520"/>
            <a:ext cx="5852160" cy="859536"/>
          </a:xfrm>
          <a:prstGeom prst="roundRect">
            <a:avLst>
              <a:gd name="adj" fmla="val 10638"/>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7" name="Text 15"/>
          <p:cNvSpPr/>
          <p:nvPr/>
        </p:nvSpPr>
        <p:spPr>
          <a:xfrm>
            <a:off x="3063240" y="3072384"/>
            <a:ext cx="5577840" cy="256032"/>
          </a:xfrm>
          <a:prstGeom prst="rect">
            <a:avLst/>
          </a:prstGeom>
          <a:noFill/>
          <a:ln/>
        </p:spPr>
        <p:txBody>
          <a:bodyPr wrap="square" lIns="0" tIns="0" rIns="0" bIns="0" rtlCol="0" anchor="ctr"/>
          <a:lstStyle/>
          <a:p>
            <a:pPr marL="0" indent="0">
              <a:buNone/>
            </a:pPr>
            <a:r>
              <a:rPr lang="en-US" sz="1200" b="1" dirty="0">
                <a:solidFill>
                  <a:srgbClr val="1B3A6B"/>
                </a:solidFill>
                <a:latin typeface="Times New Roman" panose="02020603050405020304" pitchFamily="18" charset="0"/>
                <a:ea typeface="Calibri" pitchFamily="34" charset="-122"/>
                <a:cs typeface="Times New Roman" panose="02020603050405020304" pitchFamily="18" charset="0"/>
              </a:rPr>
              <a:t>Diagnostic Challenge</a:t>
            </a:r>
            <a:endParaRPr lang="en-US" sz="1200" dirty="0">
              <a:latin typeface="Times New Roman" panose="02020603050405020304" pitchFamily="18" charset="0"/>
              <a:cs typeface="Times New Roman" panose="02020603050405020304" pitchFamily="18" charset="0"/>
            </a:endParaRPr>
          </a:p>
        </p:txBody>
      </p:sp>
      <p:sp>
        <p:nvSpPr>
          <p:cNvPr id="18" name="Text 16"/>
          <p:cNvSpPr/>
          <p:nvPr/>
        </p:nvSpPr>
        <p:spPr>
          <a:xfrm>
            <a:off x="3063240" y="3337560"/>
            <a:ext cx="5577840" cy="475488"/>
          </a:xfrm>
          <a:prstGeom prst="rect">
            <a:avLst/>
          </a:prstGeom>
          <a:noFill/>
          <a:ln/>
        </p:spPr>
        <p:txBody>
          <a:bodyPr wrap="square" lIns="0" tIns="0" rIns="0" bIns="0" rtlCol="0" anchor="ctr"/>
          <a:lstStyle/>
          <a:p>
            <a:pPr marL="0" indent="0">
              <a:lnSpc>
                <a:spcPct val="130000"/>
              </a:lnSpc>
              <a:buNone/>
            </a:pPr>
            <a:r>
              <a:rPr lang="en-US" sz="1050" dirty="0">
                <a:solidFill>
                  <a:srgbClr val="1A1A2E"/>
                </a:solidFill>
                <a:latin typeface="Times New Roman" panose="02020603050405020304" pitchFamily="18" charset="0"/>
                <a:ea typeface="Calibri" pitchFamily="34" charset="-122"/>
                <a:cs typeface="Times New Roman" panose="02020603050405020304" pitchFamily="18" charset="0"/>
              </a:rPr>
              <a:t>Diagnosis requires expensive imaging (MRI/CT), which is inaccessible in many healthcare settings (Appelbaum et al., 2021).</a:t>
            </a:r>
            <a:endParaRPr lang="en-US" sz="1050" dirty="0">
              <a:latin typeface="Times New Roman" panose="02020603050405020304" pitchFamily="18" charset="0"/>
              <a:cs typeface="Times New Roman" panose="02020603050405020304" pitchFamily="18" charset="0"/>
            </a:endParaRPr>
          </a:p>
        </p:txBody>
      </p:sp>
      <p:sp>
        <p:nvSpPr>
          <p:cNvPr id="19" name="Shape 17"/>
          <p:cNvSpPr/>
          <p:nvPr/>
        </p:nvSpPr>
        <p:spPr>
          <a:xfrm>
            <a:off x="2880360" y="3986784"/>
            <a:ext cx="5852160" cy="859536"/>
          </a:xfrm>
          <a:prstGeom prst="roundRect">
            <a:avLst>
              <a:gd name="adj" fmla="val 10638"/>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20" name="Text 18"/>
          <p:cNvSpPr/>
          <p:nvPr/>
        </p:nvSpPr>
        <p:spPr>
          <a:xfrm>
            <a:off x="3063240" y="4041648"/>
            <a:ext cx="5577840" cy="256032"/>
          </a:xfrm>
          <a:prstGeom prst="rect">
            <a:avLst/>
          </a:prstGeom>
          <a:noFill/>
          <a:ln/>
        </p:spPr>
        <p:txBody>
          <a:bodyPr wrap="square" lIns="0" tIns="0" rIns="0" bIns="0" rtlCol="0" anchor="ctr"/>
          <a:lstStyle/>
          <a:p>
            <a:pPr marL="0" indent="0">
              <a:buNone/>
            </a:pPr>
            <a:r>
              <a:rPr lang="en-US" sz="1200" b="1" dirty="0">
                <a:solidFill>
                  <a:srgbClr val="1B3A6B"/>
                </a:solidFill>
                <a:latin typeface="Times New Roman" panose="02020603050405020304" pitchFamily="18" charset="0"/>
                <a:ea typeface="Calibri" pitchFamily="34" charset="-122"/>
                <a:cs typeface="Times New Roman" panose="02020603050405020304" pitchFamily="18" charset="0"/>
              </a:rPr>
              <a:t>Role of Machine Learning</a:t>
            </a:r>
            <a:endParaRPr lang="en-US" sz="1200" dirty="0">
              <a:latin typeface="Times New Roman" panose="02020603050405020304" pitchFamily="18" charset="0"/>
              <a:cs typeface="Times New Roman" panose="02020603050405020304" pitchFamily="18" charset="0"/>
            </a:endParaRPr>
          </a:p>
        </p:txBody>
      </p:sp>
      <p:sp>
        <p:nvSpPr>
          <p:cNvPr id="21" name="Text 19"/>
          <p:cNvSpPr/>
          <p:nvPr/>
        </p:nvSpPr>
        <p:spPr>
          <a:xfrm>
            <a:off x="3063240" y="4306824"/>
            <a:ext cx="5577840" cy="475488"/>
          </a:xfrm>
          <a:prstGeom prst="rect">
            <a:avLst/>
          </a:prstGeom>
          <a:noFill/>
          <a:ln/>
        </p:spPr>
        <p:txBody>
          <a:bodyPr wrap="square" lIns="0" tIns="0" rIns="0" bIns="0" rtlCol="0" anchor="ctr"/>
          <a:lstStyle/>
          <a:p>
            <a:pPr marL="0" indent="0">
              <a:lnSpc>
                <a:spcPct val="130000"/>
              </a:lnSpc>
              <a:buNone/>
            </a:pPr>
            <a:r>
              <a:rPr lang="en-US" sz="1050" dirty="0">
                <a:solidFill>
                  <a:srgbClr val="1A1A2E"/>
                </a:solidFill>
                <a:latin typeface="Times New Roman" panose="02020603050405020304" pitchFamily="18" charset="0"/>
                <a:ea typeface="Calibri" pitchFamily="34" charset="-122"/>
                <a:cs typeface="Times New Roman" panose="02020603050405020304" pitchFamily="18" charset="0"/>
              </a:rPr>
              <a:t>ML models can analyse patient risk factors age, lifestyle, symptoms to flag high-risk patients for earlier investigation (Muhammad et al., 2019).</a:t>
            </a:r>
            <a:endParaRPr lang="en-US" sz="1050" dirty="0">
              <a:latin typeface="Times New Roman" panose="02020603050405020304" pitchFamily="18" charset="0"/>
              <a:cs typeface="Times New Roman" panose="02020603050405020304" pitchFamily="18" charset="0"/>
            </a:endParaRPr>
          </a:p>
        </p:txBody>
      </p:sp>
      <p:sp>
        <p:nvSpPr>
          <p:cNvPr id="22" name="Text 20"/>
          <p:cNvSpPr/>
          <p:nvPr/>
        </p:nvSpPr>
        <p:spPr>
          <a:xfrm>
            <a:off x="411480" y="4892040"/>
            <a:ext cx="8321040" cy="182880"/>
          </a:xfrm>
          <a:prstGeom prst="rect">
            <a:avLst/>
          </a:prstGeom>
          <a:noFill/>
          <a:ln/>
        </p:spPr>
        <p:txBody>
          <a:bodyPr wrap="square" rtlCol="0" anchor="ctr"/>
          <a:lstStyle/>
          <a:p>
            <a:pPr marL="0" indent="0">
              <a:buNone/>
            </a:pPr>
            <a:r>
              <a:rPr lang="en-US" sz="800" i="1" dirty="0">
                <a:solidFill>
                  <a:srgbClr val="5A6478"/>
                </a:solidFill>
                <a:latin typeface="Times New Roman" panose="02020603050405020304" pitchFamily="18" charset="0"/>
                <a:ea typeface="Calibri" pitchFamily="34" charset="-122"/>
                <a:cs typeface="Times New Roman" panose="02020603050405020304" pitchFamily="18" charset="0"/>
              </a:rPr>
              <a:t>Sources: Veeramani et al. (2020); Muhammad et al. (2019); Appelbaum et al. (2021)</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PROJECT OBJECTIVES</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58368"/>
            <a:ext cx="8321040" cy="347472"/>
          </a:xfrm>
          <a:prstGeom prst="rect">
            <a:avLst/>
          </a:prstGeom>
          <a:noFill/>
          <a:ln/>
        </p:spPr>
        <p:txBody>
          <a:bodyPr wrap="square" rtlCol="0" anchor="ctr"/>
          <a:lstStyle/>
          <a:p>
            <a:pPr marL="0" indent="0">
              <a:buNone/>
            </a:pPr>
            <a:r>
              <a:rPr lang="en-US" sz="1600" b="1" dirty="0">
                <a:solidFill>
                  <a:srgbClr val="1B3A6B"/>
                </a:solidFill>
                <a:latin typeface="Times New Roman" panose="02020603050405020304" pitchFamily="18" charset="0"/>
                <a:ea typeface="Calibri" pitchFamily="34" charset="-122"/>
                <a:cs typeface="Times New Roman" panose="02020603050405020304" pitchFamily="18" charset="0"/>
              </a:rPr>
              <a:t>What This Project Aimed to Achieve</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411480" y="1115568"/>
            <a:ext cx="4114800" cy="1115568"/>
          </a:xfrm>
          <a:prstGeom prst="roundRect">
            <a:avLst>
              <a:gd name="adj" fmla="val 8197"/>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7" name="Image 0" descr="preencoded.png"/>
          <p:cNvPicPr>
            <a:picLocks noChangeAspect="1"/>
          </p:cNvPicPr>
          <p:nvPr/>
        </p:nvPicPr>
        <p:blipFill>
          <a:blip r:embed="rId3"/>
          <a:stretch>
            <a:fillRect/>
          </a:stretch>
        </p:blipFill>
        <p:spPr>
          <a:xfrm>
            <a:off x="576072" y="1243584"/>
            <a:ext cx="502920" cy="502920"/>
          </a:xfrm>
          <a:prstGeom prst="rect">
            <a:avLst/>
          </a:prstGeom>
        </p:spPr>
      </p:pic>
      <p:sp>
        <p:nvSpPr>
          <p:cNvPr id="8" name="Text 5"/>
          <p:cNvSpPr/>
          <p:nvPr/>
        </p:nvSpPr>
        <p:spPr>
          <a:xfrm>
            <a:off x="1216152" y="1225296"/>
            <a:ext cx="3200400" cy="274320"/>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Review Existing Research</a:t>
            </a:r>
            <a:endParaRPr lang="en-US" sz="1150" dirty="0">
              <a:latin typeface="Times New Roman" panose="02020603050405020304" pitchFamily="18" charset="0"/>
              <a:cs typeface="Times New Roman" panose="02020603050405020304" pitchFamily="18" charset="0"/>
            </a:endParaRPr>
          </a:p>
        </p:txBody>
      </p:sp>
      <p:sp>
        <p:nvSpPr>
          <p:cNvPr id="9" name="Text 6"/>
          <p:cNvSpPr/>
          <p:nvPr/>
        </p:nvSpPr>
        <p:spPr>
          <a:xfrm>
            <a:off x="1216152" y="1508760"/>
            <a:ext cx="3200400" cy="64008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Review published ML approaches to pancreatic cancer prediction and identify gaps (CRISP-DM: Business Understanding).</a:t>
            </a:r>
            <a:endParaRPr lang="en-US" sz="950" dirty="0">
              <a:latin typeface="Times New Roman" panose="02020603050405020304" pitchFamily="18" charset="0"/>
              <a:cs typeface="Times New Roman" panose="02020603050405020304" pitchFamily="18" charset="0"/>
            </a:endParaRPr>
          </a:p>
        </p:txBody>
      </p:sp>
      <p:sp>
        <p:nvSpPr>
          <p:cNvPr id="10" name="Shape 7"/>
          <p:cNvSpPr/>
          <p:nvPr/>
        </p:nvSpPr>
        <p:spPr>
          <a:xfrm>
            <a:off x="4800600" y="1115568"/>
            <a:ext cx="4114800" cy="1115568"/>
          </a:xfrm>
          <a:prstGeom prst="roundRect">
            <a:avLst>
              <a:gd name="adj" fmla="val 8197"/>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11" name="Image 1" descr="preencoded.png"/>
          <p:cNvPicPr>
            <a:picLocks noChangeAspect="1"/>
          </p:cNvPicPr>
          <p:nvPr/>
        </p:nvPicPr>
        <p:blipFill>
          <a:blip r:embed="rId4"/>
          <a:stretch>
            <a:fillRect/>
          </a:stretch>
        </p:blipFill>
        <p:spPr>
          <a:xfrm>
            <a:off x="4965192" y="1243584"/>
            <a:ext cx="502920" cy="502920"/>
          </a:xfrm>
          <a:prstGeom prst="rect">
            <a:avLst/>
          </a:prstGeom>
        </p:spPr>
      </p:pic>
      <p:sp>
        <p:nvSpPr>
          <p:cNvPr id="12" name="Text 8"/>
          <p:cNvSpPr/>
          <p:nvPr/>
        </p:nvSpPr>
        <p:spPr>
          <a:xfrm>
            <a:off x="5605272" y="1225296"/>
            <a:ext cx="3200400" cy="274320"/>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Source a Suitable Dataset</a:t>
            </a:r>
            <a:endParaRPr lang="en-US" sz="1150" dirty="0">
              <a:latin typeface="Times New Roman" panose="02020603050405020304" pitchFamily="18" charset="0"/>
              <a:cs typeface="Times New Roman" panose="02020603050405020304" pitchFamily="18" charset="0"/>
            </a:endParaRPr>
          </a:p>
        </p:txBody>
      </p:sp>
      <p:sp>
        <p:nvSpPr>
          <p:cNvPr id="13" name="Text 9"/>
          <p:cNvSpPr/>
          <p:nvPr/>
        </p:nvSpPr>
        <p:spPr>
          <a:xfrm>
            <a:off x="5605272" y="1508760"/>
            <a:ext cx="3200400" cy="64008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Find and load an open, </a:t>
            </a:r>
            <a:r>
              <a:rPr lang="en-US" sz="950" dirty="0" err="1">
                <a:solidFill>
                  <a:srgbClr val="1A1A2E"/>
                </a:solidFill>
                <a:latin typeface="Times New Roman" panose="02020603050405020304" pitchFamily="18" charset="0"/>
                <a:ea typeface="Calibri" pitchFamily="34" charset="-122"/>
                <a:cs typeface="Times New Roman" panose="02020603050405020304" pitchFamily="18" charset="0"/>
              </a:rPr>
              <a:t>noagreement</a:t>
            </a: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 dataset of patient demographics, risk factors, symptoms and outcomes from Kaggle.</a:t>
            </a:r>
            <a:endParaRPr lang="en-US" sz="950" dirty="0">
              <a:latin typeface="Times New Roman" panose="02020603050405020304" pitchFamily="18" charset="0"/>
              <a:cs typeface="Times New Roman" panose="02020603050405020304" pitchFamily="18" charset="0"/>
            </a:endParaRPr>
          </a:p>
        </p:txBody>
      </p:sp>
      <p:sp>
        <p:nvSpPr>
          <p:cNvPr id="14" name="Shape 10"/>
          <p:cNvSpPr/>
          <p:nvPr/>
        </p:nvSpPr>
        <p:spPr>
          <a:xfrm>
            <a:off x="411480" y="2377440"/>
            <a:ext cx="4114800" cy="1115568"/>
          </a:xfrm>
          <a:prstGeom prst="roundRect">
            <a:avLst>
              <a:gd name="adj" fmla="val 8197"/>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15" name="Image 2" descr="preencoded.png"/>
          <p:cNvPicPr>
            <a:picLocks noChangeAspect="1"/>
          </p:cNvPicPr>
          <p:nvPr/>
        </p:nvPicPr>
        <p:blipFill>
          <a:blip r:embed="rId5"/>
          <a:stretch>
            <a:fillRect/>
          </a:stretch>
        </p:blipFill>
        <p:spPr>
          <a:xfrm>
            <a:off x="576072" y="2505456"/>
            <a:ext cx="502920" cy="502920"/>
          </a:xfrm>
          <a:prstGeom prst="rect">
            <a:avLst/>
          </a:prstGeom>
        </p:spPr>
      </p:pic>
      <p:sp>
        <p:nvSpPr>
          <p:cNvPr id="16" name="Text 11"/>
          <p:cNvSpPr/>
          <p:nvPr/>
        </p:nvSpPr>
        <p:spPr>
          <a:xfrm>
            <a:off x="1216152" y="2487168"/>
            <a:ext cx="3200400" cy="274320"/>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Clean &amp; Prepare the Data</a:t>
            </a:r>
            <a:endParaRPr lang="en-US" sz="1150" dirty="0">
              <a:latin typeface="Times New Roman" panose="02020603050405020304" pitchFamily="18" charset="0"/>
              <a:cs typeface="Times New Roman" panose="02020603050405020304" pitchFamily="18" charset="0"/>
            </a:endParaRPr>
          </a:p>
        </p:txBody>
      </p:sp>
      <p:sp>
        <p:nvSpPr>
          <p:cNvPr id="17" name="Text 12"/>
          <p:cNvSpPr/>
          <p:nvPr/>
        </p:nvSpPr>
        <p:spPr>
          <a:xfrm>
            <a:off x="1216152" y="2770632"/>
            <a:ext cx="3200400" cy="64008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Handle missing values, encode categorical variables, scale features, and split into training and test sets.</a:t>
            </a:r>
            <a:endParaRPr lang="en-US" sz="950" dirty="0">
              <a:latin typeface="Times New Roman" panose="02020603050405020304" pitchFamily="18" charset="0"/>
              <a:cs typeface="Times New Roman" panose="02020603050405020304" pitchFamily="18" charset="0"/>
            </a:endParaRPr>
          </a:p>
        </p:txBody>
      </p:sp>
      <p:sp>
        <p:nvSpPr>
          <p:cNvPr id="18" name="Shape 13"/>
          <p:cNvSpPr/>
          <p:nvPr/>
        </p:nvSpPr>
        <p:spPr>
          <a:xfrm>
            <a:off x="4800600" y="2377440"/>
            <a:ext cx="4114800" cy="1115568"/>
          </a:xfrm>
          <a:prstGeom prst="roundRect">
            <a:avLst>
              <a:gd name="adj" fmla="val 8197"/>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19" name="Image 3" descr="preencoded.png"/>
          <p:cNvPicPr>
            <a:picLocks noChangeAspect="1"/>
          </p:cNvPicPr>
          <p:nvPr/>
        </p:nvPicPr>
        <p:blipFill>
          <a:blip r:embed="rId6"/>
          <a:stretch>
            <a:fillRect/>
          </a:stretch>
        </p:blipFill>
        <p:spPr>
          <a:xfrm>
            <a:off x="4965192" y="2505456"/>
            <a:ext cx="502920" cy="502920"/>
          </a:xfrm>
          <a:prstGeom prst="rect">
            <a:avLst/>
          </a:prstGeom>
        </p:spPr>
      </p:pic>
      <p:sp>
        <p:nvSpPr>
          <p:cNvPr id="20" name="Text 14"/>
          <p:cNvSpPr/>
          <p:nvPr/>
        </p:nvSpPr>
        <p:spPr>
          <a:xfrm>
            <a:off x="5605272" y="2487168"/>
            <a:ext cx="3200400" cy="274320"/>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Build ML Classification Models</a:t>
            </a:r>
            <a:endParaRPr lang="en-US" sz="1150" dirty="0">
              <a:latin typeface="Times New Roman" panose="02020603050405020304" pitchFamily="18" charset="0"/>
              <a:cs typeface="Times New Roman" panose="02020603050405020304" pitchFamily="18" charset="0"/>
            </a:endParaRPr>
          </a:p>
        </p:txBody>
      </p:sp>
      <p:sp>
        <p:nvSpPr>
          <p:cNvPr id="21" name="Text 15"/>
          <p:cNvSpPr/>
          <p:nvPr/>
        </p:nvSpPr>
        <p:spPr>
          <a:xfrm>
            <a:off x="5605272" y="2770632"/>
            <a:ext cx="3200400" cy="64008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Train and compare Logistic Regression, Decision Tree and Random Forest classifiers in Python (scikit-learn).</a:t>
            </a:r>
            <a:endParaRPr lang="en-US" sz="950" dirty="0">
              <a:latin typeface="Times New Roman" panose="02020603050405020304" pitchFamily="18" charset="0"/>
              <a:cs typeface="Times New Roman" panose="02020603050405020304" pitchFamily="18" charset="0"/>
            </a:endParaRPr>
          </a:p>
        </p:txBody>
      </p:sp>
      <p:sp>
        <p:nvSpPr>
          <p:cNvPr id="22" name="Shape 16"/>
          <p:cNvSpPr/>
          <p:nvPr/>
        </p:nvSpPr>
        <p:spPr>
          <a:xfrm>
            <a:off x="411480" y="3639312"/>
            <a:ext cx="4114800" cy="1115568"/>
          </a:xfrm>
          <a:prstGeom prst="roundRect">
            <a:avLst>
              <a:gd name="adj" fmla="val 8197"/>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23" name="Image 4" descr="preencoded.png"/>
          <p:cNvPicPr>
            <a:picLocks noChangeAspect="1"/>
          </p:cNvPicPr>
          <p:nvPr/>
        </p:nvPicPr>
        <p:blipFill>
          <a:blip r:embed="rId7"/>
          <a:stretch>
            <a:fillRect/>
          </a:stretch>
        </p:blipFill>
        <p:spPr>
          <a:xfrm>
            <a:off x="576072" y="3767328"/>
            <a:ext cx="502920" cy="502920"/>
          </a:xfrm>
          <a:prstGeom prst="rect">
            <a:avLst/>
          </a:prstGeom>
        </p:spPr>
      </p:pic>
      <p:sp>
        <p:nvSpPr>
          <p:cNvPr id="24" name="Text 17"/>
          <p:cNvSpPr/>
          <p:nvPr/>
        </p:nvSpPr>
        <p:spPr>
          <a:xfrm>
            <a:off x="1216152" y="3749040"/>
            <a:ext cx="3200400" cy="274320"/>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Evaluate Model Performance</a:t>
            </a:r>
            <a:endParaRPr lang="en-US" sz="1150" dirty="0">
              <a:latin typeface="Times New Roman" panose="02020603050405020304" pitchFamily="18" charset="0"/>
              <a:cs typeface="Times New Roman" panose="02020603050405020304" pitchFamily="18" charset="0"/>
            </a:endParaRPr>
          </a:p>
        </p:txBody>
      </p:sp>
      <p:sp>
        <p:nvSpPr>
          <p:cNvPr id="25" name="Text 18"/>
          <p:cNvSpPr/>
          <p:nvPr/>
        </p:nvSpPr>
        <p:spPr>
          <a:xfrm>
            <a:off x="1216152" y="4032504"/>
            <a:ext cx="3200400" cy="64008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Assess each model using Accuracy, Precision, Recall, F1 Score and ROC-AUC via 10 fold cross validation.</a:t>
            </a:r>
            <a:endParaRPr lang="en-US" sz="950" dirty="0">
              <a:latin typeface="Times New Roman" panose="02020603050405020304" pitchFamily="18" charset="0"/>
              <a:cs typeface="Times New Roman" panose="02020603050405020304" pitchFamily="18" charset="0"/>
            </a:endParaRPr>
          </a:p>
        </p:txBody>
      </p:sp>
      <p:sp>
        <p:nvSpPr>
          <p:cNvPr id="26" name="Shape 19"/>
          <p:cNvSpPr/>
          <p:nvPr/>
        </p:nvSpPr>
        <p:spPr>
          <a:xfrm>
            <a:off x="4800600" y="3639312"/>
            <a:ext cx="4114800" cy="1115568"/>
          </a:xfrm>
          <a:prstGeom prst="roundRect">
            <a:avLst>
              <a:gd name="adj" fmla="val 8197"/>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27" name="Image 5" descr="preencoded.png"/>
          <p:cNvPicPr>
            <a:picLocks noChangeAspect="1"/>
          </p:cNvPicPr>
          <p:nvPr/>
        </p:nvPicPr>
        <p:blipFill>
          <a:blip r:embed="rId8"/>
          <a:stretch>
            <a:fillRect/>
          </a:stretch>
        </p:blipFill>
        <p:spPr>
          <a:xfrm>
            <a:off x="4965192" y="3767328"/>
            <a:ext cx="502920" cy="502920"/>
          </a:xfrm>
          <a:prstGeom prst="rect">
            <a:avLst/>
          </a:prstGeom>
        </p:spPr>
      </p:pic>
      <p:sp>
        <p:nvSpPr>
          <p:cNvPr id="28" name="Text 20"/>
          <p:cNvSpPr/>
          <p:nvPr/>
        </p:nvSpPr>
        <p:spPr>
          <a:xfrm>
            <a:off x="5605272" y="3749040"/>
            <a:ext cx="3200400" cy="274320"/>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Present Results to Management</a:t>
            </a:r>
            <a:endParaRPr lang="en-US" sz="1150" dirty="0">
              <a:latin typeface="Times New Roman" panose="02020603050405020304" pitchFamily="18" charset="0"/>
              <a:cs typeface="Times New Roman" panose="02020603050405020304" pitchFamily="18" charset="0"/>
            </a:endParaRPr>
          </a:p>
        </p:txBody>
      </p:sp>
      <p:sp>
        <p:nvSpPr>
          <p:cNvPr id="29" name="Text 21"/>
          <p:cNvSpPr/>
          <p:nvPr/>
        </p:nvSpPr>
        <p:spPr>
          <a:xfrm>
            <a:off x="5605272" y="4032504"/>
            <a:ext cx="3200400" cy="64008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Summarise findings and make a clear recommendation to TechHealthCare Solutions Ltd on viability of investment.</a:t>
            </a:r>
            <a:endParaRPr lang="en-US" sz="950" dirty="0">
              <a:latin typeface="Times New Roman" panose="02020603050405020304" pitchFamily="18" charset="0"/>
              <a:cs typeface="Times New Roman" panose="02020603050405020304" pitchFamily="18" charset="0"/>
            </a:endParaRPr>
          </a:p>
        </p:txBody>
      </p:sp>
      <p:sp>
        <p:nvSpPr>
          <p:cNvPr id="30" name="Text 22"/>
          <p:cNvSpPr/>
          <p:nvPr/>
        </p:nvSpPr>
        <p:spPr>
          <a:xfrm>
            <a:off x="411480" y="4910328"/>
            <a:ext cx="8321040" cy="173736"/>
          </a:xfrm>
          <a:prstGeom prst="rect">
            <a:avLst/>
          </a:prstGeom>
          <a:noFill/>
          <a:ln/>
        </p:spPr>
        <p:txBody>
          <a:bodyPr wrap="square" rtlCol="0" anchor="ctr"/>
          <a:lstStyle/>
          <a:p>
            <a:pPr marL="0" indent="0">
              <a:buNone/>
            </a:pPr>
            <a:r>
              <a:rPr lang="en-US" sz="800" i="1" dirty="0">
                <a:solidFill>
                  <a:srgbClr val="5A6478"/>
                </a:solidFill>
                <a:latin typeface="Times New Roman" panose="02020603050405020304" pitchFamily="18" charset="0"/>
                <a:ea typeface="Calibri" pitchFamily="34" charset="-122"/>
                <a:cs typeface="Times New Roman" panose="02020603050405020304" pitchFamily="18" charset="0"/>
              </a:rPr>
              <a:t>Aligned with CRISP-DM methodology (Data Science PM, 2021)</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DATASET OVERVIEW</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40080"/>
            <a:ext cx="8321040" cy="320040"/>
          </a:xfrm>
          <a:prstGeom prst="rect">
            <a:avLst/>
          </a:prstGeom>
          <a:noFill/>
          <a:ln/>
        </p:spPr>
        <p:txBody>
          <a:bodyPr wrap="square"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Panday, A. (2024) Pancreatic Cancer Prediction Dataset Kaggle</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411480" y="1024128"/>
            <a:ext cx="1993392" cy="987552"/>
          </a:xfrm>
          <a:prstGeom prst="roundRect">
            <a:avLst>
              <a:gd name="adj" fmla="val 9259"/>
            </a:avLst>
          </a:prstGeom>
          <a:solidFill>
            <a:srgbClr val="D6E4F7"/>
          </a:solidFill>
          <a:ln w="9525">
            <a:solidFill>
              <a:srgbClr val="C8D8EE"/>
            </a:solidFill>
            <a:prstDash val="solid"/>
          </a:ln>
          <a:effectLst>
            <a:outerShdw blurRad="101600" dist="25400" dir="2700000" algn="bl" rotWithShape="0">
              <a:srgbClr val="000000">
                <a:alpha val="10000"/>
              </a:srgbClr>
            </a:outerShdw>
          </a:effectLst>
        </p:spPr>
      </p:sp>
      <p:sp>
        <p:nvSpPr>
          <p:cNvPr id="7" name="Text 5"/>
          <p:cNvSpPr/>
          <p:nvPr/>
        </p:nvSpPr>
        <p:spPr>
          <a:xfrm>
            <a:off x="411480" y="1060704"/>
            <a:ext cx="1993392" cy="530352"/>
          </a:xfrm>
          <a:prstGeom prst="rect">
            <a:avLst/>
          </a:prstGeom>
          <a:noFill/>
          <a:ln/>
        </p:spPr>
        <p:txBody>
          <a:bodyPr wrap="square" lIns="0" tIns="0" rIns="0" bIns="0" rtlCol="0" anchor="ctr"/>
          <a:lstStyle/>
          <a:p>
            <a:pPr marL="0" indent="0" algn="ctr">
              <a:buNone/>
            </a:pPr>
            <a:r>
              <a:rPr lang="en-US" sz="3000" b="1" dirty="0">
                <a:solidFill>
                  <a:srgbClr val="2E6DB4"/>
                </a:solidFill>
                <a:latin typeface="Times New Roman" panose="02020603050405020304" pitchFamily="18" charset="0"/>
                <a:ea typeface="Cambria" pitchFamily="34" charset="-122"/>
                <a:cs typeface="Times New Roman" panose="02020603050405020304" pitchFamily="18" charset="0"/>
              </a:rPr>
              <a:t>50,000</a:t>
            </a:r>
            <a:endParaRPr lang="en-US" sz="3000" dirty="0">
              <a:latin typeface="Times New Roman" panose="02020603050405020304" pitchFamily="18" charset="0"/>
              <a:cs typeface="Times New Roman" panose="02020603050405020304" pitchFamily="18" charset="0"/>
            </a:endParaRPr>
          </a:p>
        </p:txBody>
      </p:sp>
      <p:sp>
        <p:nvSpPr>
          <p:cNvPr id="8" name="Text 6"/>
          <p:cNvSpPr/>
          <p:nvPr/>
        </p:nvSpPr>
        <p:spPr>
          <a:xfrm>
            <a:off x="411480" y="1572768"/>
            <a:ext cx="1993392" cy="320040"/>
          </a:xfrm>
          <a:prstGeom prst="rect">
            <a:avLst/>
          </a:prstGeom>
          <a:noFill/>
          <a:ln/>
        </p:spPr>
        <p:txBody>
          <a:bodyPr wrap="square" lIns="0" tIns="0" rIns="0" bIns="0" rtlCol="0" anchor="ctr"/>
          <a:lstStyle/>
          <a:p>
            <a:pPr marL="0" indent="0" algn="ctr">
              <a:buNone/>
            </a:pPr>
            <a:r>
              <a:rPr lang="en-US" sz="1000" dirty="0">
                <a:solidFill>
                  <a:srgbClr val="5A6478"/>
                </a:solidFill>
                <a:latin typeface="Times New Roman" panose="02020603050405020304" pitchFamily="18" charset="0"/>
                <a:ea typeface="Calibri" pitchFamily="34" charset="-122"/>
                <a:cs typeface="Times New Roman" panose="02020603050405020304" pitchFamily="18" charset="0"/>
              </a:rPr>
              <a:t>Patient Records</a:t>
            </a:r>
            <a:endParaRPr lang="en-US" sz="1000" dirty="0">
              <a:latin typeface="Times New Roman" panose="02020603050405020304" pitchFamily="18" charset="0"/>
              <a:cs typeface="Times New Roman" panose="02020603050405020304" pitchFamily="18" charset="0"/>
            </a:endParaRPr>
          </a:p>
        </p:txBody>
      </p:sp>
      <p:sp>
        <p:nvSpPr>
          <p:cNvPr id="9" name="Shape 7"/>
          <p:cNvSpPr/>
          <p:nvPr/>
        </p:nvSpPr>
        <p:spPr>
          <a:xfrm>
            <a:off x="2587752" y="1024128"/>
            <a:ext cx="1993392" cy="987552"/>
          </a:xfrm>
          <a:prstGeom prst="roundRect">
            <a:avLst>
              <a:gd name="adj" fmla="val 9259"/>
            </a:avLst>
          </a:prstGeom>
          <a:solidFill>
            <a:srgbClr val="D6E4F7"/>
          </a:solidFill>
          <a:ln w="9525">
            <a:solidFill>
              <a:srgbClr val="C8D8EE"/>
            </a:solidFill>
            <a:prstDash val="solid"/>
          </a:ln>
          <a:effectLst>
            <a:outerShdw blurRad="101600" dist="25400" dir="2700000" algn="bl" rotWithShape="0">
              <a:srgbClr val="000000">
                <a:alpha val="10000"/>
              </a:srgbClr>
            </a:outerShdw>
          </a:effectLst>
        </p:spPr>
      </p:sp>
      <p:sp>
        <p:nvSpPr>
          <p:cNvPr id="10" name="Text 8"/>
          <p:cNvSpPr/>
          <p:nvPr/>
        </p:nvSpPr>
        <p:spPr>
          <a:xfrm>
            <a:off x="2587752" y="1060704"/>
            <a:ext cx="1993392" cy="530352"/>
          </a:xfrm>
          <a:prstGeom prst="rect">
            <a:avLst/>
          </a:prstGeom>
          <a:noFill/>
          <a:ln/>
        </p:spPr>
        <p:txBody>
          <a:bodyPr wrap="square" lIns="0" tIns="0" rIns="0" bIns="0" rtlCol="0" anchor="ctr"/>
          <a:lstStyle/>
          <a:p>
            <a:pPr marL="0" indent="0" algn="ctr">
              <a:buNone/>
            </a:pPr>
            <a:r>
              <a:rPr lang="en-US" sz="3000" b="1" dirty="0">
                <a:solidFill>
                  <a:srgbClr val="2E6DB4"/>
                </a:solidFill>
                <a:latin typeface="Times New Roman" panose="02020603050405020304" pitchFamily="18" charset="0"/>
                <a:ea typeface="Cambria" pitchFamily="34" charset="-122"/>
                <a:cs typeface="Times New Roman" panose="02020603050405020304" pitchFamily="18" charset="0"/>
              </a:rPr>
              <a:t>24</a:t>
            </a:r>
            <a:endParaRPr lang="en-US" sz="3000" dirty="0">
              <a:latin typeface="Times New Roman" panose="02020603050405020304" pitchFamily="18" charset="0"/>
              <a:cs typeface="Times New Roman" panose="02020603050405020304" pitchFamily="18" charset="0"/>
            </a:endParaRPr>
          </a:p>
        </p:txBody>
      </p:sp>
      <p:sp>
        <p:nvSpPr>
          <p:cNvPr id="11" name="Text 9"/>
          <p:cNvSpPr/>
          <p:nvPr/>
        </p:nvSpPr>
        <p:spPr>
          <a:xfrm>
            <a:off x="2587752" y="1572768"/>
            <a:ext cx="1993392" cy="320040"/>
          </a:xfrm>
          <a:prstGeom prst="rect">
            <a:avLst/>
          </a:prstGeom>
          <a:noFill/>
          <a:ln/>
        </p:spPr>
        <p:txBody>
          <a:bodyPr wrap="square" lIns="0" tIns="0" rIns="0" bIns="0" rtlCol="0" anchor="ctr"/>
          <a:lstStyle/>
          <a:p>
            <a:pPr marL="0" indent="0" algn="ctr">
              <a:buNone/>
            </a:pPr>
            <a:r>
              <a:rPr lang="en-US" sz="1000" dirty="0">
                <a:solidFill>
                  <a:srgbClr val="5A6478"/>
                </a:solidFill>
                <a:latin typeface="Times New Roman" panose="02020603050405020304" pitchFamily="18" charset="0"/>
                <a:ea typeface="Calibri" pitchFamily="34" charset="-122"/>
                <a:cs typeface="Times New Roman" panose="02020603050405020304" pitchFamily="18" charset="0"/>
              </a:rPr>
              <a:t>Total Columns</a:t>
            </a:r>
            <a:endParaRPr lang="en-US" sz="1000" dirty="0">
              <a:latin typeface="Times New Roman" panose="02020603050405020304" pitchFamily="18" charset="0"/>
              <a:cs typeface="Times New Roman" panose="02020603050405020304" pitchFamily="18" charset="0"/>
            </a:endParaRPr>
          </a:p>
        </p:txBody>
      </p:sp>
      <p:sp>
        <p:nvSpPr>
          <p:cNvPr id="12" name="Shape 10"/>
          <p:cNvSpPr/>
          <p:nvPr/>
        </p:nvSpPr>
        <p:spPr>
          <a:xfrm>
            <a:off x="4764024" y="1024128"/>
            <a:ext cx="1993392" cy="987552"/>
          </a:xfrm>
          <a:prstGeom prst="roundRect">
            <a:avLst>
              <a:gd name="adj" fmla="val 9259"/>
            </a:avLst>
          </a:prstGeom>
          <a:solidFill>
            <a:srgbClr val="D6E4F7"/>
          </a:solidFill>
          <a:ln w="9525">
            <a:solidFill>
              <a:srgbClr val="C8D8EE"/>
            </a:solidFill>
            <a:prstDash val="solid"/>
          </a:ln>
          <a:effectLst>
            <a:outerShdw blurRad="101600" dist="25400" dir="2700000" algn="bl" rotWithShape="0">
              <a:srgbClr val="000000">
                <a:alpha val="10000"/>
              </a:srgbClr>
            </a:outerShdw>
          </a:effectLst>
        </p:spPr>
      </p:sp>
      <p:sp>
        <p:nvSpPr>
          <p:cNvPr id="13" name="Text 11"/>
          <p:cNvSpPr/>
          <p:nvPr/>
        </p:nvSpPr>
        <p:spPr>
          <a:xfrm>
            <a:off x="4764024" y="1060704"/>
            <a:ext cx="1993392" cy="530352"/>
          </a:xfrm>
          <a:prstGeom prst="rect">
            <a:avLst/>
          </a:prstGeom>
          <a:noFill/>
          <a:ln/>
        </p:spPr>
        <p:txBody>
          <a:bodyPr wrap="square" lIns="0" tIns="0" rIns="0" bIns="0" rtlCol="0" anchor="ctr"/>
          <a:lstStyle/>
          <a:p>
            <a:pPr marL="0" indent="0" algn="ctr">
              <a:buNone/>
            </a:pPr>
            <a:r>
              <a:rPr lang="en-US" sz="3000" b="1" dirty="0">
                <a:solidFill>
                  <a:srgbClr val="2E6DB4"/>
                </a:solidFill>
                <a:latin typeface="Times New Roman" panose="02020603050405020304" pitchFamily="18" charset="0"/>
                <a:ea typeface="Cambria" pitchFamily="34" charset="-122"/>
                <a:cs typeface="Times New Roman" panose="02020603050405020304" pitchFamily="18" charset="0"/>
              </a:rPr>
              <a:t>20</a:t>
            </a:r>
            <a:endParaRPr lang="en-US" sz="3000" dirty="0">
              <a:latin typeface="Times New Roman" panose="02020603050405020304" pitchFamily="18" charset="0"/>
              <a:cs typeface="Times New Roman" panose="02020603050405020304" pitchFamily="18" charset="0"/>
            </a:endParaRPr>
          </a:p>
        </p:txBody>
      </p:sp>
      <p:sp>
        <p:nvSpPr>
          <p:cNvPr id="14" name="Text 12"/>
          <p:cNvSpPr/>
          <p:nvPr/>
        </p:nvSpPr>
        <p:spPr>
          <a:xfrm>
            <a:off x="4764024" y="1572768"/>
            <a:ext cx="1993392" cy="320040"/>
          </a:xfrm>
          <a:prstGeom prst="rect">
            <a:avLst/>
          </a:prstGeom>
          <a:noFill/>
          <a:ln/>
        </p:spPr>
        <p:txBody>
          <a:bodyPr wrap="square" lIns="0" tIns="0" rIns="0" bIns="0" rtlCol="0" anchor="ctr"/>
          <a:lstStyle/>
          <a:p>
            <a:pPr marL="0" indent="0" algn="ctr">
              <a:buNone/>
            </a:pPr>
            <a:r>
              <a:rPr lang="en-US" sz="1000" dirty="0">
                <a:solidFill>
                  <a:srgbClr val="5A6478"/>
                </a:solidFill>
                <a:latin typeface="Times New Roman" panose="02020603050405020304" pitchFamily="18" charset="0"/>
                <a:ea typeface="Calibri" pitchFamily="34" charset="-122"/>
                <a:cs typeface="Times New Roman" panose="02020603050405020304" pitchFamily="18" charset="0"/>
              </a:rPr>
              <a:t>Input Features</a:t>
            </a:r>
            <a:endParaRPr lang="en-US" sz="1000" dirty="0">
              <a:latin typeface="Times New Roman" panose="02020603050405020304" pitchFamily="18" charset="0"/>
              <a:cs typeface="Times New Roman" panose="02020603050405020304" pitchFamily="18" charset="0"/>
            </a:endParaRPr>
          </a:p>
        </p:txBody>
      </p:sp>
      <p:sp>
        <p:nvSpPr>
          <p:cNvPr id="15" name="Shape 13"/>
          <p:cNvSpPr/>
          <p:nvPr/>
        </p:nvSpPr>
        <p:spPr>
          <a:xfrm>
            <a:off x="6940296" y="1024128"/>
            <a:ext cx="1993392" cy="987552"/>
          </a:xfrm>
          <a:prstGeom prst="roundRect">
            <a:avLst>
              <a:gd name="adj" fmla="val 9259"/>
            </a:avLst>
          </a:prstGeom>
          <a:solidFill>
            <a:srgbClr val="D6E4F7"/>
          </a:solidFill>
          <a:ln w="9525">
            <a:solidFill>
              <a:srgbClr val="C8D8EE"/>
            </a:solidFill>
            <a:prstDash val="solid"/>
          </a:ln>
          <a:effectLst>
            <a:outerShdw blurRad="101600" dist="25400" dir="2700000" algn="bl" rotWithShape="0">
              <a:srgbClr val="000000">
                <a:alpha val="10000"/>
              </a:srgbClr>
            </a:outerShdw>
          </a:effectLst>
        </p:spPr>
      </p:sp>
      <p:sp>
        <p:nvSpPr>
          <p:cNvPr id="16" name="Text 14"/>
          <p:cNvSpPr/>
          <p:nvPr/>
        </p:nvSpPr>
        <p:spPr>
          <a:xfrm>
            <a:off x="6940296" y="1060704"/>
            <a:ext cx="1993392" cy="530352"/>
          </a:xfrm>
          <a:prstGeom prst="rect">
            <a:avLst/>
          </a:prstGeom>
          <a:noFill/>
          <a:ln/>
        </p:spPr>
        <p:txBody>
          <a:bodyPr wrap="square" lIns="0" tIns="0" rIns="0" bIns="0" rtlCol="0" anchor="ctr"/>
          <a:lstStyle/>
          <a:p>
            <a:pPr marL="0" indent="0" algn="ctr">
              <a:buNone/>
            </a:pPr>
            <a:r>
              <a:rPr lang="en-US" sz="3000" b="1" dirty="0">
                <a:solidFill>
                  <a:srgbClr val="2E6DB4"/>
                </a:solidFill>
                <a:latin typeface="Times New Roman" panose="02020603050405020304" pitchFamily="18" charset="0"/>
                <a:ea typeface="Cambria" pitchFamily="34" charset="-122"/>
                <a:cs typeface="Times New Roman" panose="02020603050405020304" pitchFamily="18" charset="0"/>
              </a:rPr>
              <a:t>0</a:t>
            </a:r>
            <a:endParaRPr lang="en-US" sz="3000" dirty="0">
              <a:latin typeface="Times New Roman" panose="02020603050405020304" pitchFamily="18" charset="0"/>
              <a:cs typeface="Times New Roman" panose="02020603050405020304" pitchFamily="18" charset="0"/>
            </a:endParaRPr>
          </a:p>
        </p:txBody>
      </p:sp>
      <p:sp>
        <p:nvSpPr>
          <p:cNvPr id="17" name="Text 15"/>
          <p:cNvSpPr/>
          <p:nvPr/>
        </p:nvSpPr>
        <p:spPr>
          <a:xfrm>
            <a:off x="6940296" y="1572768"/>
            <a:ext cx="1993392" cy="320040"/>
          </a:xfrm>
          <a:prstGeom prst="rect">
            <a:avLst/>
          </a:prstGeom>
          <a:noFill/>
          <a:ln/>
        </p:spPr>
        <p:txBody>
          <a:bodyPr wrap="square" lIns="0" tIns="0" rIns="0" bIns="0" rtlCol="0" anchor="ctr"/>
          <a:lstStyle/>
          <a:p>
            <a:pPr marL="0" indent="0" algn="ctr">
              <a:buNone/>
            </a:pPr>
            <a:r>
              <a:rPr lang="en-US" sz="1000" dirty="0">
                <a:solidFill>
                  <a:srgbClr val="5A6478"/>
                </a:solidFill>
                <a:latin typeface="Times New Roman" panose="02020603050405020304" pitchFamily="18" charset="0"/>
                <a:ea typeface="Calibri" pitchFamily="34" charset="-122"/>
                <a:cs typeface="Times New Roman" panose="02020603050405020304" pitchFamily="18" charset="0"/>
              </a:rPr>
              <a:t>Missing Values</a:t>
            </a:r>
            <a:endParaRPr lang="en-US" sz="1000" dirty="0">
              <a:latin typeface="Times New Roman" panose="02020603050405020304" pitchFamily="18" charset="0"/>
              <a:cs typeface="Times New Roman" panose="02020603050405020304" pitchFamily="18" charset="0"/>
            </a:endParaRPr>
          </a:p>
        </p:txBody>
      </p:sp>
      <p:sp>
        <p:nvSpPr>
          <p:cNvPr id="18" name="Text 16"/>
          <p:cNvSpPr/>
          <p:nvPr/>
        </p:nvSpPr>
        <p:spPr>
          <a:xfrm>
            <a:off x="411480" y="2103120"/>
            <a:ext cx="4114800" cy="274320"/>
          </a:xfrm>
          <a:prstGeom prst="rect">
            <a:avLst/>
          </a:prstGeom>
          <a:noFill/>
          <a:ln/>
        </p:spPr>
        <p:txBody>
          <a:bodyPr wrap="square"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Key Variables in the Dataset</a:t>
            </a:r>
            <a:endParaRPr lang="en-US" sz="1150" dirty="0">
              <a:latin typeface="Times New Roman" panose="02020603050405020304" pitchFamily="18" charset="0"/>
              <a:cs typeface="Times New Roman" panose="02020603050405020304" pitchFamily="18" charset="0"/>
            </a:endParaRPr>
          </a:p>
        </p:txBody>
      </p:sp>
      <p:graphicFrame>
        <p:nvGraphicFramePr>
          <p:cNvPr id="19" name="Table 0"/>
          <p:cNvGraphicFramePr>
            <a:graphicFrameLocks noGrp="1"/>
          </p:cNvGraphicFramePr>
          <p:nvPr>
            <p:extLst>
              <p:ext uri="{D42A27DB-BD31-4B8C-83A1-F6EECF244321}">
                <p14:modId xmlns:p14="http://schemas.microsoft.com/office/powerpoint/2010/main" val="2571763744"/>
              </p:ext>
            </p:extLst>
          </p:nvPr>
        </p:nvGraphicFramePr>
        <p:xfrm>
          <a:off x="411480" y="2423160"/>
          <a:ext cx="4654133" cy="2514600"/>
        </p:xfrm>
        <a:graphic>
          <a:graphicData uri="http://schemas.openxmlformats.org/drawingml/2006/table">
            <a:tbl>
              <a:tblPr/>
              <a:tblGrid>
                <a:gridCol w="1236734">
                  <a:extLst>
                    <a:ext uri="{9D8B030D-6E8A-4147-A177-3AD203B41FA5}">
                      <a16:colId xmlns:a16="http://schemas.microsoft.com/office/drawing/2014/main" val="20000"/>
                    </a:ext>
                  </a:extLst>
                </a:gridCol>
                <a:gridCol w="1048022">
                  <a:extLst>
                    <a:ext uri="{9D8B030D-6E8A-4147-A177-3AD203B41FA5}">
                      <a16:colId xmlns:a16="http://schemas.microsoft.com/office/drawing/2014/main" val="20001"/>
                    </a:ext>
                  </a:extLst>
                </a:gridCol>
                <a:gridCol w="2369377">
                  <a:extLst>
                    <a:ext uri="{9D8B030D-6E8A-4147-A177-3AD203B41FA5}">
                      <a16:colId xmlns:a16="http://schemas.microsoft.com/office/drawing/2014/main" val="20002"/>
                    </a:ext>
                  </a:extLst>
                </a:gridCol>
              </a:tblGrid>
              <a:tr h="235416">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Feature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Type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Description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28060">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Age</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Numeric</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Patient age (years)</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060">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Gender</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Categorical</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Male / Female</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8060">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Smoking History</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Binary</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1 = smoker, 0 = non-smoker</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060">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Diabetes</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Binary</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Presence of diabetes</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8060">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Chronic Pancreatitis</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Binary</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History of chronic pancreatitis</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8060">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Jaundice</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Binary</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Symptom indicator</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28060">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Weight Loss</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Binary</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Symptom indicator</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3368">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Survival Time Months</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Numeric</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Months survived post-diagnosis</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28060">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Stage at Diagnosis</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Target</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Stage I / II / III / IV</a:t>
                      </a:r>
                      <a:endParaRPr lang="en-US" sz="95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0" name="Text 17"/>
          <p:cNvSpPr/>
          <p:nvPr/>
        </p:nvSpPr>
        <p:spPr>
          <a:xfrm>
            <a:off x="5623560" y="2103120"/>
            <a:ext cx="3200400" cy="274320"/>
          </a:xfrm>
          <a:prstGeom prst="rect">
            <a:avLst/>
          </a:prstGeom>
          <a:noFill/>
          <a:ln/>
        </p:spPr>
        <p:txBody>
          <a:bodyPr wrap="square"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Target Class Distribution</a:t>
            </a:r>
            <a:endParaRPr lang="en-US" sz="1150" dirty="0">
              <a:latin typeface="Times New Roman" panose="02020603050405020304" pitchFamily="18" charset="0"/>
              <a:cs typeface="Times New Roman" panose="02020603050405020304" pitchFamily="18" charset="0"/>
            </a:endParaRPr>
          </a:p>
        </p:txBody>
      </p:sp>
      <p:pic>
        <p:nvPicPr>
          <p:cNvPr id="21" name="Image 0" descr="preencoded.png"/>
          <p:cNvPicPr>
            <a:picLocks noChangeAspect="1"/>
          </p:cNvPicPr>
          <p:nvPr/>
        </p:nvPicPr>
        <p:blipFill>
          <a:blip r:embed="rId3"/>
          <a:stretch>
            <a:fillRect/>
          </a:stretch>
        </p:blipFill>
        <p:spPr>
          <a:xfrm>
            <a:off x="5267915" y="2423160"/>
            <a:ext cx="3556045" cy="2514600"/>
          </a:xfrm>
          <a:prstGeom prst="rect">
            <a:avLst/>
          </a:prstGeom>
        </p:spPr>
      </p:pic>
      <p:sp>
        <p:nvSpPr>
          <p:cNvPr id="22" name="Text 18"/>
          <p:cNvSpPr/>
          <p:nvPr/>
        </p:nvSpPr>
        <p:spPr>
          <a:xfrm>
            <a:off x="365760" y="4962024"/>
            <a:ext cx="8321040" cy="173736"/>
          </a:xfrm>
          <a:prstGeom prst="rect">
            <a:avLst/>
          </a:prstGeom>
          <a:noFill/>
          <a:ln/>
        </p:spPr>
        <p:txBody>
          <a:bodyPr wrap="square" rtlCol="0" anchor="ctr"/>
          <a:lstStyle/>
          <a:p>
            <a:pPr marL="0" indent="0">
              <a:buNone/>
            </a:pPr>
            <a:r>
              <a:rPr lang="en-US" sz="800" i="1" dirty="0">
                <a:solidFill>
                  <a:srgbClr val="5A6478"/>
                </a:solidFill>
                <a:latin typeface="Times New Roman" panose="02020603050405020304" pitchFamily="18" charset="0"/>
                <a:ea typeface="Calibri" pitchFamily="34" charset="-122"/>
                <a:cs typeface="Times New Roman" panose="02020603050405020304" pitchFamily="18" charset="0"/>
              </a:rPr>
              <a:t>Source: Panday, A. (2024) Kaggle: kaggle.com/datasets/ankushpanday1/pancreatic-cancer-prediction-dataset</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DATA PREPROCESSING</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40080"/>
            <a:ext cx="8321040" cy="320040"/>
          </a:xfrm>
          <a:prstGeom prst="rect">
            <a:avLst/>
          </a:prstGeom>
          <a:noFill/>
          <a:ln/>
        </p:spPr>
        <p:txBody>
          <a:bodyPr wrap="square"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CRISP-DM Phase: Data Preparation</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274320" y="1051560"/>
            <a:ext cx="1572768" cy="1856232"/>
          </a:xfrm>
          <a:prstGeom prst="roundRect">
            <a:avLst>
              <a:gd name="adj" fmla="val 5814"/>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7" name="Shape 5"/>
          <p:cNvSpPr/>
          <p:nvPr/>
        </p:nvSpPr>
        <p:spPr>
          <a:xfrm>
            <a:off x="329184" y="1106424"/>
            <a:ext cx="1463040" cy="384048"/>
          </a:xfrm>
          <a:prstGeom prst="roundRect">
            <a:avLst>
              <a:gd name="adj" fmla="val 14286"/>
            </a:avLst>
          </a:prstGeom>
          <a:solidFill>
            <a:srgbClr val="2E6DB4"/>
          </a:solidFill>
          <a:ln w="12700">
            <a:solidFill>
              <a:srgbClr val="2E6DB4"/>
            </a:solidFill>
            <a:prstDash val="solid"/>
          </a:ln>
        </p:spPr>
      </p:sp>
      <p:sp>
        <p:nvSpPr>
          <p:cNvPr id="8" name="Text 6"/>
          <p:cNvSpPr/>
          <p:nvPr/>
        </p:nvSpPr>
        <p:spPr>
          <a:xfrm>
            <a:off x="329184" y="1106424"/>
            <a:ext cx="1463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329184" y="1536192"/>
            <a:ext cx="1463040" cy="475488"/>
          </a:xfrm>
          <a:prstGeom prst="rect">
            <a:avLst/>
          </a:prstGeom>
          <a:noFill/>
          <a:ln/>
        </p:spPr>
        <p:txBody>
          <a:bodyPr wrap="square" lIns="0" tIns="0" rIns="0" bIns="0" rtlCol="0" anchor="ctr"/>
          <a:lstStyle/>
          <a:p>
            <a:pPr marL="0" indent="0" algn="ctr">
              <a:lnSpc>
                <a:spcPct val="120000"/>
              </a:lnSpc>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Drop</a:t>
            </a:r>
            <a:endParaRPr lang="en-US" sz="1100" dirty="0">
              <a:latin typeface="Times New Roman" panose="02020603050405020304" pitchFamily="18" charset="0"/>
              <a:cs typeface="Times New Roman" panose="02020603050405020304" pitchFamily="18" charset="0"/>
            </a:endParaRPr>
          </a:p>
          <a:p>
            <a:pPr marL="0" indent="0" algn="ctr">
              <a:lnSpc>
                <a:spcPct val="120000"/>
              </a:lnSpc>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Columns</a:t>
            </a:r>
            <a:endParaRPr lang="en-US" sz="1100" dirty="0">
              <a:latin typeface="Times New Roman" panose="02020603050405020304" pitchFamily="18" charset="0"/>
              <a:cs typeface="Times New Roman" panose="02020603050405020304" pitchFamily="18" charset="0"/>
            </a:endParaRPr>
          </a:p>
        </p:txBody>
      </p:sp>
      <p:sp>
        <p:nvSpPr>
          <p:cNvPr id="10" name="Text 8"/>
          <p:cNvSpPr/>
          <p:nvPr/>
        </p:nvSpPr>
        <p:spPr>
          <a:xfrm>
            <a:off x="329184" y="2029968"/>
            <a:ext cx="1463040" cy="1115568"/>
          </a:xfrm>
          <a:prstGeom prst="rect">
            <a:avLst/>
          </a:prstGeom>
          <a:noFill/>
          <a:ln/>
        </p:spPr>
        <p:txBody>
          <a:bodyPr wrap="square" lIns="0" tIns="0" rIns="0" bIns="0" rtlCol="0" anchor="ctr"/>
          <a:lstStyle/>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Country, Treatment_Type,</a:t>
            </a:r>
            <a:endParaRPr lang="en-US" sz="900" dirty="0">
              <a:latin typeface="Times New Roman" panose="02020603050405020304" pitchFamily="18" charset="0"/>
              <a:cs typeface="Times New Roman" panose="02020603050405020304" pitchFamily="18" charset="0"/>
            </a:endParaRPr>
          </a:p>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Survival_Status removed</a:t>
            </a:r>
            <a:endParaRPr lang="en-US" sz="900" dirty="0">
              <a:latin typeface="Times New Roman" panose="02020603050405020304" pitchFamily="18" charset="0"/>
              <a:cs typeface="Times New Roman" panose="02020603050405020304" pitchFamily="18" charset="0"/>
            </a:endParaRPr>
          </a:p>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(leakage / non-clinical)</a:t>
            </a:r>
            <a:endParaRPr lang="en-US" sz="900" dirty="0">
              <a:latin typeface="Times New Roman" panose="02020603050405020304" pitchFamily="18" charset="0"/>
              <a:cs typeface="Times New Roman" panose="02020603050405020304" pitchFamily="18" charset="0"/>
            </a:endParaRPr>
          </a:p>
        </p:txBody>
      </p:sp>
      <p:sp>
        <p:nvSpPr>
          <p:cNvPr id="11" name="Text 9"/>
          <p:cNvSpPr/>
          <p:nvPr/>
        </p:nvSpPr>
        <p:spPr>
          <a:xfrm>
            <a:off x="1847088" y="1737360"/>
            <a:ext cx="146304" cy="365760"/>
          </a:xfrm>
          <a:prstGeom prst="rect">
            <a:avLst/>
          </a:prstGeom>
          <a:noFill/>
          <a:ln/>
        </p:spPr>
        <p:txBody>
          <a:bodyPr wrap="square" lIns="0" tIns="0" rIns="0" bIns="0" rtlCol="0" anchor="ctr"/>
          <a:lstStyle/>
          <a:p>
            <a:pPr marL="0" indent="0" algn="ctr">
              <a:buNone/>
            </a:pPr>
            <a:r>
              <a:rPr lang="en-US" sz="1800" dirty="0">
                <a:solidFill>
                  <a:srgbClr val="2E6DB4"/>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2" name="Shape 10"/>
          <p:cNvSpPr/>
          <p:nvPr/>
        </p:nvSpPr>
        <p:spPr>
          <a:xfrm>
            <a:off x="1993392" y="1051560"/>
            <a:ext cx="1572768" cy="1856232"/>
          </a:xfrm>
          <a:prstGeom prst="roundRect">
            <a:avLst>
              <a:gd name="adj" fmla="val 5814"/>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3" name="Shape 11"/>
          <p:cNvSpPr/>
          <p:nvPr/>
        </p:nvSpPr>
        <p:spPr>
          <a:xfrm>
            <a:off x="2048256" y="1106424"/>
            <a:ext cx="1463040" cy="384048"/>
          </a:xfrm>
          <a:prstGeom prst="roundRect">
            <a:avLst>
              <a:gd name="adj" fmla="val 14286"/>
            </a:avLst>
          </a:prstGeom>
          <a:solidFill>
            <a:srgbClr val="217A3C"/>
          </a:solidFill>
          <a:ln w="12700">
            <a:solidFill>
              <a:srgbClr val="217A3C"/>
            </a:solidFill>
            <a:prstDash val="solid"/>
          </a:ln>
        </p:spPr>
      </p:sp>
      <p:sp>
        <p:nvSpPr>
          <p:cNvPr id="14" name="Text 12"/>
          <p:cNvSpPr/>
          <p:nvPr/>
        </p:nvSpPr>
        <p:spPr>
          <a:xfrm>
            <a:off x="2048256" y="1106424"/>
            <a:ext cx="1463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2048256" y="1536192"/>
            <a:ext cx="1463040" cy="475488"/>
          </a:xfrm>
          <a:prstGeom prst="rect">
            <a:avLst/>
          </a:prstGeom>
          <a:noFill/>
          <a:ln/>
        </p:spPr>
        <p:txBody>
          <a:bodyPr wrap="square" lIns="0" tIns="0" rIns="0" bIns="0" rtlCol="0" anchor="ctr"/>
          <a:lstStyle/>
          <a:p>
            <a:pPr marL="0" indent="0" algn="ctr">
              <a:lnSpc>
                <a:spcPct val="120000"/>
              </a:lnSpc>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Check</a:t>
            </a:r>
            <a:endParaRPr lang="en-US" sz="1100" dirty="0">
              <a:latin typeface="Times New Roman" panose="02020603050405020304" pitchFamily="18" charset="0"/>
              <a:cs typeface="Times New Roman" panose="02020603050405020304" pitchFamily="18" charset="0"/>
            </a:endParaRPr>
          </a:p>
          <a:p>
            <a:pPr marL="0" indent="0" algn="ctr">
              <a:lnSpc>
                <a:spcPct val="120000"/>
              </a:lnSpc>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Missing</a:t>
            </a:r>
            <a:endParaRPr lang="en-US" sz="1100" dirty="0">
              <a:latin typeface="Times New Roman" panose="02020603050405020304" pitchFamily="18" charset="0"/>
              <a:cs typeface="Times New Roman" panose="02020603050405020304" pitchFamily="18" charset="0"/>
            </a:endParaRPr>
          </a:p>
        </p:txBody>
      </p:sp>
      <p:sp>
        <p:nvSpPr>
          <p:cNvPr id="16" name="Text 14"/>
          <p:cNvSpPr/>
          <p:nvPr/>
        </p:nvSpPr>
        <p:spPr>
          <a:xfrm>
            <a:off x="2048256" y="2029968"/>
            <a:ext cx="1463040" cy="1115568"/>
          </a:xfrm>
          <a:prstGeom prst="rect">
            <a:avLst/>
          </a:prstGeom>
          <a:noFill/>
          <a:ln/>
        </p:spPr>
        <p:txBody>
          <a:bodyPr wrap="square" lIns="0" tIns="0" rIns="0" bIns="0" rtlCol="0" anchor="ctr"/>
          <a:lstStyle/>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0 missing values found</a:t>
            </a:r>
            <a:endParaRPr lang="en-US" sz="900" dirty="0">
              <a:latin typeface="Times New Roman" panose="02020603050405020304" pitchFamily="18" charset="0"/>
              <a:cs typeface="Times New Roman" panose="02020603050405020304" pitchFamily="18" charset="0"/>
            </a:endParaRPr>
          </a:p>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across all 24 columns.</a:t>
            </a:r>
            <a:endParaRPr lang="en-US" sz="900" dirty="0">
              <a:latin typeface="Times New Roman" panose="02020603050405020304" pitchFamily="18" charset="0"/>
              <a:cs typeface="Times New Roman" panose="02020603050405020304" pitchFamily="18" charset="0"/>
            </a:endParaRPr>
          </a:p>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No imputation needed.</a:t>
            </a:r>
            <a:endParaRPr lang="en-US" sz="900" dirty="0">
              <a:latin typeface="Times New Roman" panose="02020603050405020304" pitchFamily="18" charset="0"/>
              <a:cs typeface="Times New Roman" panose="02020603050405020304" pitchFamily="18" charset="0"/>
            </a:endParaRPr>
          </a:p>
        </p:txBody>
      </p:sp>
      <p:sp>
        <p:nvSpPr>
          <p:cNvPr id="17" name="Text 15"/>
          <p:cNvSpPr/>
          <p:nvPr/>
        </p:nvSpPr>
        <p:spPr>
          <a:xfrm>
            <a:off x="3566160" y="1737360"/>
            <a:ext cx="146304" cy="365760"/>
          </a:xfrm>
          <a:prstGeom prst="rect">
            <a:avLst/>
          </a:prstGeom>
          <a:noFill/>
          <a:ln/>
        </p:spPr>
        <p:txBody>
          <a:bodyPr wrap="square" lIns="0" tIns="0" rIns="0" bIns="0" rtlCol="0" anchor="ctr"/>
          <a:lstStyle/>
          <a:p>
            <a:pPr marL="0" indent="0" algn="ctr">
              <a:buNone/>
            </a:pPr>
            <a:r>
              <a:rPr lang="en-US" sz="1800" dirty="0">
                <a:solidFill>
                  <a:srgbClr val="2E6DB4"/>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8" name="Shape 16"/>
          <p:cNvSpPr/>
          <p:nvPr/>
        </p:nvSpPr>
        <p:spPr>
          <a:xfrm>
            <a:off x="3712464" y="1051560"/>
            <a:ext cx="1572768" cy="1856232"/>
          </a:xfrm>
          <a:prstGeom prst="roundRect">
            <a:avLst>
              <a:gd name="adj" fmla="val 5814"/>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9" name="Shape 17"/>
          <p:cNvSpPr/>
          <p:nvPr/>
        </p:nvSpPr>
        <p:spPr>
          <a:xfrm>
            <a:off x="3767328" y="1106424"/>
            <a:ext cx="1463040" cy="384048"/>
          </a:xfrm>
          <a:prstGeom prst="roundRect">
            <a:avLst>
              <a:gd name="adj" fmla="val 14286"/>
            </a:avLst>
          </a:prstGeom>
          <a:solidFill>
            <a:srgbClr val="7B3FA0"/>
          </a:solidFill>
          <a:ln w="12700">
            <a:solidFill>
              <a:srgbClr val="7B3FA0"/>
            </a:solidFill>
            <a:prstDash val="solid"/>
          </a:ln>
        </p:spPr>
      </p:sp>
      <p:sp>
        <p:nvSpPr>
          <p:cNvPr id="20" name="Text 18"/>
          <p:cNvSpPr/>
          <p:nvPr/>
        </p:nvSpPr>
        <p:spPr>
          <a:xfrm>
            <a:off x="3767328" y="1106424"/>
            <a:ext cx="1463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3767328" y="1536192"/>
            <a:ext cx="1463040" cy="475488"/>
          </a:xfrm>
          <a:prstGeom prst="rect">
            <a:avLst/>
          </a:prstGeom>
          <a:noFill/>
          <a:ln/>
        </p:spPr>
        <p:txBody>
          <a:bodyPr wrap="square" lIns="0" tIns="0" rIns="0" bIns="0" rtlCol="0" anchor="ctr"/>
          <a:lstStyle/>
          <a:p>
            <a:pPr marL="0" indent="0" algn="ctr">
              <a:lnSpc>
                <a:spcPct val="120000"/>
              </a:lnSpc>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Encode</a:t>
            </a:r>
            <a:endParaRPr lang="en-US" sz="1100" dirty="0">
              <a:latin typeface="Times New Roman" panose="02020603050405020304" pitchFamily="18" charset="0"/>
              <a:cs typeface="Times New Roman" panose="02020603050405020304" pitchFamily="18" charset="0"/>
            </a:endParaRPr>
          </a:p>
          <a:p>
            <a:pPr marL="0" indent="0" algn="ctr">
              <a:lnSpc>
                <a:spcPct val="120000"/>
              </a:lnSpc>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Categoricals</a:t>
            </a:r>
            <a:endParaRPr lang="en-US" sz="1100" dirty="0">
              <a:latin typeface="Times New Roman" panose="02020603050405020304" pitchFamily="18" charset="0"/>
              <a:cs typeface="Times New Roman" panose="02020603050405020304" pitchFamily="18" charset="0"/>
            </a:endParaRPr>
          </a:p>
        </p:txBody>
      </p:sp>
      <p:sp>
        <p:nvSpPr>
          <p:cNvPr id="22" name="Text 20"/>
          <p:cNvSpPr/>
          <p:nvPr/>
        </p:nvSpPr>
        <p:spPr>
          <a:xfrm>
            <a:off x="3767328" y="2029968"/>
            <a:ext cx="1463040" cy="1115568"/>
          </a:xfrm>
          <a:prstGeom prst="rect">
            <a:avLst/>
          </a:prstGeom>
          <a:noFill/>
          <a:ln/>
        </p:spPr>
        <p:txBody>
          <a:bodyPr wrap="square" lIns="0" tIns="0" rIns="0" bIns="0" rtlCol="0" anchor="ctr"/>
          <a:lstStyle/>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LabelEncoder on 6 cols:</a:t>
            </a:r>
            <a:endParaRPr lang="en-US" sz="900" dirty="0">
              <a:latin typeface="Times New Roman" panose="02020603050405020304" pitchFamily="18" charset="0"/>
              <a:cs typeface="Times New Roman" panose="02020603050405020304" pitchFamily="18" charset="0"/>
            </a:endParaRPr>
          </a:p>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Gender, Activity, Diet,</a:t>
            </a:r>
            <a:endParaRPr lang="en-US" sz="900" dirty="0">
              <a:latin typeface="Times New Roman" panose="02020603050405020304" pitchFamily="18" charset="0"/>
              <a:cs typeface="Times New Roman" panose="02020603050405020304" pitchFamily="18" charset="0"/>
            </a:endParaRPr>
          </a:p>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Healthcare access, etc.</a:t>
            </a:r>
            <a:endParaRPr lang="en-US" sz="900" dirty="0">
              <a:latin typeface="Times New Roman" panose="02020603050405020304" pitchFamily="18" charset="0"/>
              <a:cs typeface="Times New Roman" panose="02020603050405020304" pitchFamily="18" charset="0"/>
            </a:endParaRPr>
          </a:p>
        </p:txBody>
      </p:sp>
      <p:sp>
        <p:nvSpPr>
          <p:cNvPr id="23" name="Text 21"/>
          <p:cNvSpPr/>
          <p:nvPr/>
        </p:nvSpPr>
        <p:spPr>
          <a:xfrm>
            <a:off x="5285232" y="1737360"/>
            <a:ext cx="146304" cy="365760"/>
          </a:xfrm>
          <a:prstGeom prst="rect">
            <a:avLst/>
          </a:prstGeom>
          <a:noFill/>
          <a:ln/>
        </p:spPr>
        <p:txBody>
          <a:bodyPr wrap="square" lIns="0" tIns="0" rIns="0" bIns="0" rtlCol="0" anchor="ctr"/>
          <a:lstStyle/>
          <a:p>
            <a:pPr marL="0" indent="0" algn="ctr">
              <a:buNone/>
            </a:pPr>
            <a:r>
              <a:rPr lang="en-US" sz="1800" dirty="0">
                <a:solidFill>
                  <a:srgbClr val="2E6DB4"/>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4" name="Shape 22"/>
          <p:cNvSpPr/>
          <p:nvPr/>
        </p:nvSpPr>
        <p:spPr>
          <a:xfrm>
            <a:off x="5431536" y="1051560"/>
            <a:ext cx="1572768" cy="1856232"/>
          </a:xfrm>
          <a:prstGeom prst="roundRect">
            <a:avLst>
              <a:gd name="adj" fmla="val 5814"/>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25" name="Shape 23"/>
          <p:cNvSpPr/>
          <p:nvPr/>
        </p:nvSpPr>
        <p:spPr>
          <a:xfrm>
            <a:off x="5486400" y="1106424"/>
            <a:ext cx="1463040" cy="384048"/>
          </a:xfrm>
          <a:prstGeom prst="roundRect">
            <a:avLst>
              <a:gd name="adj" fmla="val 14286"/>
            </a:avLst>
          </a:prstGeom>
          <a:solidFill>
            <a:srgbClr val="B8520A"/>
          </a:solidFill>
          <a:ln w="12700">
            <a:solidFill>
              <a:srgbClr val="B8520A"/>
            </a:solidFill>
            <a:prstDash val="solid"/>
          </a:ln>
        </p:spPr>
      </p:sp>
      <p:sp>
        <p:nvSpPr>
          <p:cNvPr id="26" name="Text 24"/>
          <p:cNvSpPr/>
          <p:nvPr/>
        </p:nvSpPr>
        <p:spPr>
          <a:xfrm>
            <a:off x="5486400" y="1106424"/>
            <a:ext cx="1463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Cambria" pitchFamily="34" charset="-122"/>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5486400" y="1536192"/>
            <a:ext cx="1463040" cy="475488"/>
          </a:xfrm>
          <a:prstGeom prst="rect">
            <a:avLst/>
          </a:prstGeom>
          <a:noFill/>
          <a:ln/>
        </p:spPr>
        <p:txBody>
          <a:bodyPr wrap="square" lIns="0" tIns="0" rIns="0" bIns="0" rtlCol="0" anchor="ctr"/>
          <a:lstStyle/>
          <a:p>
            <a:pPr marL="0" indent="0" algn="ctr">
              <a:lnSpc>
                <a:spcPct val="120000"/>
              </a:lnSpc>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Scale</a:t>
            </a:r>
            <a:endParaRPr lang="en-US" sz="1100" dirty="0">
              <a:latin typeface="Times New Roman" panose="02020603050405020304" pitchFamily="18" charset="0"/>
              <a:cs typeface="Times New Roman" panose="02020603050405020304" pitchFamily="18" charset="0"/>
            </a:endParaRPr>
          </a:p>
          <a:p>
            <a:pPr marL="0" indent="0" algn="ctr">
              <a:lnSpc>
                <a:spcPct val="120000"/>
              </a:lnSpc>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Features</a:t>
            </a:r>
            <a:endParaRPr lang="en-US" sz="1100" dirty="0">
              <a:latin typeface="Times New Roman" panose="02020603050405020304" pitchFamily="18" charset="0"/>
              <a:cs typeface="Times New Roman" panose="02020603050405020304" pitchFamily="18" charset="0"/>
            </a:endParaRPr>
          </a:p>
        </p:txBody>
      </p:sp>
      <p:sp>
        <p:nvSpPr>
          <p:cNvPr id="28" name="Text 26"/>
          <p:cNvSpPr/>
          <p:nvPr/>
        </p:nvSpPr>
        <p:spPr>
          <a:xfrm>
            <a:off x="5486400" y="2029968"/>
            <a:ext cx="1463040" cy="1115568"/>
          </a:xfrm>
          <a:prstGeom prst="rect">
            <a:avLst/>
          </a:prstGeom>
          <a:noFill/>
          <a:ln/>
        </p:spPr>
        <p:txBody>
          <a:bodyPr wrap="square" lIns="0" tIns="0" rIns="0" bIns="0" rtlCol="0" anchor="ctr"/>
          <a:lstStyle/>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StandardScaler applied</a:t>
            </a:r>
            <a:endParaRPr lang="en-US" sz="900" dirty="0">
              <a:latin typeface="Times New Roman" panose="02020603050405020304" pitchFamily="18" charset="0"/>
              <a:cs typeface="Times New Roman" panose="02020603050405020304" pitchFamily="18" charset="0"/>
            </a:endParaRPr>
          </a:p>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to all 20 features.</a:t>
            </a:r>
            <a:endParaRPr lang="en-US" sz="900" dirty="0">
              <a:latin typeface="Times New Roman" panose="02020603050405020304" pitchFamily="18" charset="0"/>
              <a:cs typeface="Times New Roman" panose="02020603050405020304" pitchFamily="18" charset="0"/>
            </a:endParaRPr>
          </a:p>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Mean=0, Std=1.</a:t>
            </a:r>
            <a:endParaRPr lang="en-US" sz="900" dirty="0">
              <a:latin typeface="Times New Roman" panose="02020603050405020304" pitchFamily="18" charset="0"/>
              <a:cs typeface="Times New Roman" panose="02020603050405020304" pitchFamily="18" charset="0"/>
            </a:endParaRPr>
          </a:p>
        </p:txBody>
      </p:sp>
      <p:sp>
        <p:nvSpPr>
          <p:cNvPr id="29" name="Text 27"/>
          <p:cNvSpPr/>
          <p:nvPr/>
        </p:nvSpPr>
        <p:spPr>
          <a:xfrm>
            <a:off x="7004304" y="1737360"/>
            <a:ext cx="146304" cy="365760"/>
          </a:xfrm>
          <a:prstGeom prst="rect">
            <a:avLst/>
          </a:prstGeom>
          <a:noFill/>
          <a:ln/>
        </p:spPr>
        <p:txBody>
          <a:bodyPr wrap="square" lIns="0" tIns="0" rIns="0" bIns="0" rtlCol="0" anchor="ctr"/>
          <a:lstStyle/>
          <a:p>
            <a:pPr marL="0" indent="0" algn="ctr">
              <a:buNone/>
            </a:pPr>
            <a:r>
              <a:rPr lang="en-US" sz="1800" dirty="0">
                <a:solidFill>
                  <a:srgbClr val="2E6DB4"/>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30" name="Shape 28"/>
          <p:cNvSpPr/>
          <p:nvPr/>
        </p:nvSpPr>
        <p:spPr>
          <a:xfrm>
            <a:off x="7150608" y="1051560"/>
            <a:ext cx="1572768" cy="1856232"/>
          </a:xfrm>
          <a:prstGeom prst="roundRect">
            <a:avLst>
              <a:gd name="adj" fmla="val 5814"/>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31" name="Shape 29"/>
          <p:cNvSpPr/>
          <p:nvPr/>
        </p:nvSpPr>
        <p:spPr>
          <a:xfrm>
            <a:off x="7205472" y="1106424"/>
            <a:ext cx="1463040" cy="384048"/>
          </a:xfrm>
          <a:prstGeom prst="roundRect">
            <a:avLst>
              <a:gd name="adj" fmla="val 14286"/>
            </a:avLst>
          </a:prstGeom>
          <a:solidFill>
            <a:srgbClr val="B81C1C"/>
          </a:solidFill>
          <a:ln w="12700">
            <a:solidFill>
              <a:srgbClr val="B81C1C"/>
            </a:solidFill>
            <a:prstDash val="solid"/>
          </a:ln>
        </p:spPr>
      </p:sp>
      <p:sp>
        <p:nvSpPr>
          <p:cNvPr id="32" name="Text 30"/>
          <p:cNvSpPr/>
          <p:nvPr/>
        </p:nvSpPr>
        <p:spPr>
          <a:xfrm>
            <a:off x="7205472" y="1106424"/>
            <a:ext cx="1463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Cambria" pitchFamily="34" charset="-122"/>
                <a:cs typeface="Times New Roman" panose="02020603050405020304" pitchFamily="18" charset="0"/>
              </a:rPr>
              <a:t>5</a:t>
            </a:r>
            <a:endParaRPr lang="en-US" sz="1600" dirty="0">
              <a:latin typeface="Times New Roman" panose="02020603050405020304" pitchFamily="18" charset="0"/>
              <a:cs typeface="Times New Roman" panose="02020603050405020304" pitchFamily="18" charset="0"/>
            </a:endParaRPr>
          </a:p>
        </p:txBody>
      </p:sp>
      <p:sp>
        <p:nvSpPr>
          <p:cNvPr id="33" name="Text 31"/>
          <p:cNvSpPr/>
          <p:nvPr/>
        </p:nvSpPr>
        <p:spPr>
          <a:xfrm>
            <a:off x="7205472" y="1536192"/>
            <a:ext cx="1463040" cy="475488"/>
          </a:xfrm>
          <a:prstGeom prst="rect">
            <a:avLst/>
          </a:prstGeom>
          <a:noFill/>
          <a:ln/>
        </p:spPr>
        <p:txBody>
          <a:bodyPr wrap="square" lIns="0" tIns="0" rIns="0" bIns="0" rtlCol="0" anchor="ctr"/>
          <a:lstStyle/>
          <a:p>
            <a:pPr marL="0" indent="0" algn="ctr">
              <a:lnSpc>
                <a:spcPct val="120000"/>
              </a:lnSpc>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Train/Test</a:t>
            </a:r>
            <a:endParaRPr lang="en-US" sz="1100" dirty="0">
              <a:latin typeface="Times New Roman" panose="02020603050405020304" pitchFamily="18" charset="0"/>
              <a:cs typeface="Times New Roman" panose="02020603050405020304" pitchFamily="18" charset="0"/>
            </a:endParaRPr>
          </a:p>
          <a:p>
            <a:pPr marL="0" indent="0" algn="ctr">
              <a:lnSpc>
                <a:spcPct val="120000"/>
              </a:lnSpc>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Split</a:t>
            </a:r>
            <a:endParaRPr lang="en-US" sz="1100" dirty="0">
              <a:latin typeface="Times New Roman" panose="02020603050405020304" pitchFamily="18" charset="0"/>
              <a:cs typeface="Times New Roman" panose="02020603050405020304" pitchFamily="18" charset="0"/>
            </a:endParaRPr>
          </a:p>
        </p:txBody>
      </p:sp>
      <p:sp>
        <p:nvSpPr>
          <p:cNvPr id="34" name="Text 32"/>
          <p:cNvSpPr/>
          <p:nvPr/>
        </p:nvSpPr>
        <p:spPr>
          <a:xfrm>
            <a:off x="7205472" y="2029968"/>
            <a:ext cx="1463040" cy="1115568"/>
          </a:xfrm>
          <a:prstGeom prst="rect">
            <a:avLst/>
          </a:prstGeom>
          <a:noFill/>
          <a:ln/>
        </p:spPr>
        <p:txBody>
          <a:bodyPr wrap="square" lIns="0" tIns="0" rIns="0" bIns="0" rtlCol="0" anchor="ctr"/>
          <a:lstStyle/>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80% training (40,000)</a:t>
            </a:r>
            <a:endParaRPr lang="en-US" sz="900" dirty="0">
              <a:latin typeface="Times New Roman" panose="02020603050405020304" pitchFamily="18" charset="0"/>
              <a:cs typeface="Times New Roman" panose="02020603050405020304" pitchFamily="18" charset="0"/>
            </a:endParaRPr>
          </a:p>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20% test (10,000)</a:t>
            </a:r>
            <a:endParaRPr lang="en-US" sz="900" dirty="0">
              <a:latin typeface="Times New Roman" panose="02020603050405020304" pitchFamily="18" charset="0"/>
              <a:cs typeface="Times New Roman" panose="02020603050405020304" pitchFamily="18" charset="0"/>
            </a:endParaRPr>
          </a:p>
          <a:p>
            <a:pPr marL="0" indent="0" algn="ctr">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Stratified split.</a:t>
            </a:r>
            <a:endParaRPr lang="en-US" sz="900" dirty="0">
              <a:latin typeface="Times New Roman" panose="02020603050405020304" pitchFamily="18" charset="0"/>
              <a:cs typeface="Times New Roman" panose="02020603050405020304" pitchFamily="18" charset="0"/>
            </a:endParaRPr>
          </a:p>
        </p:txBody>
      </p:sp>
      <p:sp>
        <p:nvSpPr>
          <p:cNvPr id="35" name="Text 33"/>
          <p:cNvSpPr/>
          <p:nvPr/>
        </p:nvSpPr>
        <p:spPr>
          <a:xfrm>
            <a:off x="329184" y="3104388"/>
            <a:ext cx="4297680" cy="274320"/>
          </a:xfrm>
          <a:prstGeom prst="rect">
            <a:avLst/>
          </a:prstGeom>
          <a:noFill/>
          <a:ln/>
        </p:spPr>
        <p:txBody>
          <a:bodyPr wrap="square"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Missing Values Check (from notebook)</a:t>
            </a:r>
            <a:endParaRPr lang="en-US" sz="1100" dirty="0">
              <a:latin typeface="Times New Roman" panose="02020603050405020304" pitchFamily="18" charset="0"/>
              <a:cs typeface="Times New Roman" panose="02020603050405020304" pitchFamily="18" charset="0"/>
            </a:endParaRPr>
          </a:p>
        </p:txBody>
      </p:sp>
      <p:pic>
        <p:nvPicPr>
          <p:cNvPr id="36" name="Image 0" descr="preencoded.png"/>
          <p:cNvPicPr>
            <a:picLocks noChangeAspect="1"/>
          </p:cNvPicPr>
          <p:nvPr/>
        </p:nvPicPr>
        <p:blipFill>
          <a:blip r:embed="rId3"/>
          <a:stretch>
            <a:fillRect/>
          </a:stretch>
        </p:blipFill>
        <p:spPr>
          <a:xfrm>
            <a:off x="411480" y="3378708"/>
            <a:ext cx="4297680" cy="1604772"/>
          </a:xfrm>
          <a:prstGeom prst="rect">
            <a:avLst/>
          </a:prstGeom>
        </p:spPr>
      </p:pic>
      <p:sp>
        <p:nvSpPr>
          <p:cNvPr id="37" name="Text 34"/>
          <p:cNvSpPr/>
          <p:nvPr/>
        </p:nvSpPr>
        <p:spPr>
          <a:xfrm>
            <a:off x="5007756" y="3106512"/>
            <a:ext cx="3749040" cy="274320"/>
          </a:xfrm>
          <a:prstGeom prst="rect">
            <a:avLst/>
          </a:prstGeom>
          <a:noFill/>
          <a:ln/>
        </p:spPr>
        <p:txBody>
          <a:bodyPr wrap="square"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Target Label Encoding</a:t>
            </a:r>
            <a:endParaRPr lang="en-US" sz="1100" dirty="0">
              <a:latin typeface="Times New Roman" panose="02020603050405020304" pitchFamily="18" charset="0"/>
              <a:cs typeface="Times New Roman" panose="02020603050405020304" pitchFamily="18" charset="0"/>
            </a:endParaRPr>
          </a:p>
        </p:txBody>
      </p:sp>
      <p:graphicFrame>
        <p:nvGraphicFramePr>
          <p:cNvPr id="38" name="Table 0"/>
          <p:cNvGraphicFramePr>
            <a:graphicFrameLocks noGrp="1"/>
          </p:cNvGraphicFramePr>
          <p:nvPr>
            <p:extLst>
              <p:ext uri="{D42A27DB-BD31-4B8C-83A1-F6EECF244321}">
                <p14:modId xmlns:p14="http://schemas.microsoft.com/office/powerpoint/2010/main" val="4048010718"/>
              </p:ext>
            </p:extLst>
          </p:nvPr>
        </p:nvGraphicFramePr>
        <p:xfrm>
          <a:off x="4974336" y="3403692"/>
          <a:ext cx="3749040" cy="1325880"/>
        </p:xfrm>
        <a:graphic>
          <a:graphicData uri="http://schemas.openxmlformats.org/drawingml/2006/table">
            <a:tbl>
              <a:tblPr/>
              <a:tblGrid>
                <a:gridCol w="26517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265176">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Stage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Encoded</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65176">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Stage I</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0</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Stage II</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1</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Stage III</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2</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Stage IV</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3</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EXPLORATORY DATA ANALYSIS (EDA)</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40080"/>
            <a:ext cx="8321040" cy="320040"/>
          </a:xfrm>
          <a:prstGeom prst="rect">
            <a:avLst/>
          </a:prstGeom>
          <a:noFill/>
          <a:ln/>
        </p:spPr>
        <p:txBody>
          <a:bodyPr wrap="square"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Understanding the Data Before Modelling</a:t>
            </a:r>
            <a:endParaRPr lang="en-US" sz="1300" dirty="0">
              <a:latin typeface="Times New Roman" panose="02020603050405020304" pitchFamily="18" charset="0"/>
              <a:cs typeface="Times New Roman" panose="02020603050405020304" pitchFamily="18" charset="0"/>
            </a:endParaRPr>
          </a:p>
        </p:txBody>
      </p:sp>
      <p:sp>
        <p:nvSpPr>
          <p:cNvPr id="6" name="Text 4"/>
          <p:cNvSpPr/>
          <p:nvPr/>
        </p:nvSpPr>
        <p:spPr>
          <a:xfrm>
            <a:off x="411480" y="1024128"/>
            <a:ext cx="5120640" cy="274320"/>
          </a:xfrm>
          <a:prstGeom prst="rect">
            <a:avLst/>
          </a:prstGeom>
          <a:noFill/>
          <a:ln/>
        </p:spPr>
        <p:txBody>
          <a:bodyPr wrap="square"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Risk Factor Prevalence by Stage</a:t>
            </a:r>
            <a:endParaRPr lang="en-US" sz="1100" dirty="0">
              <a:latin typeface="Times New Roman" panose="02020603050405020304" pitchFamily="18" charset="0"/>
              <a:cs typeface="Times New Roman" panose="02020603050405020304" pitchFamily="18" charset="0"/>
            </a:endParaRPr>
          </a:p>
        </p:txBody>
      </p:sp>
      <p:pic>
        <p:nvPicPr>
          <p:cNvPr id="7" name="Image 0" descr="preencoded.png"/>
          <p:cNvPicPr>
            <a:picLocks noChangeAspect="1"/>
          </p:cNvPicPr>
          <p:nvPr/>
        </p:nvPicPr>
        <p:blipFill>
          <a:blip r:embed="rId3"/>
          <a:stretch>
            <a:fillRect/>
          </a:stretch>
        </p:blipFill>
        <p:spPr>
          <a:xfrm>
            <a:off x="411480" y="1335024"/>
            <a:ext cx="5120640" cy="2103120"/>
          </a:xfrm>
          <a:prstGeom prst="rect">
            <a:avLst/>
          </a:prstGeom>
        </p:spPr>
      </p:pic>
      <p:sp>
        <p:nvSpPr>
          <p:cNvPr id="8" name="Text 5"/>
          <p:cNvSpPr/>
          <p:nvPr/>
        </p:nvSpPr>
        <p:spPr>
          <a:xfrm>
            <a:off x="5669280" y="1024128"/>
            <a:ext cx="3154680" cy="274320"/>
          </a:xfrm>
          <a:prstGeom prst="rect">
            <a:avLst/>
          </a:prstGeom>
          <a:noFill/>
          <a:ln/>
        </p:spPr>
        <p:txBody>
          <a:bodyPr wrap="square"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Age Distribution by Stage</a:t>
            </a:r>
            <a:endParaRPr lang="en-US" sz="1100" dirty="0">
              <a:latin typeface="Times New Roman" panose="02020603050405020304" pitchFamily="18" charset="0"/>
              <a:cs typeface="Times New Roman" panose="02020603050405020304" pitchFamily="18" charset="0"/>
            </a:endParaRPr>
          </a:p>
        </p:txBody>
      </p:sp>
      <p:pic>
        <p:nvPicPr>
          <p:cNvPr id="9" name="Image 1" descr="preencoded.png"/>
          <p:cNvPicPr>
            <a:picLocks noChangeAspect="1"/>
          </p:cNvPicPr>
          <p:nvPr/>
        </p:nvPicPr>
        <p:blipFill>
          <a:blip r:embed="rId4"/>
          <a:stretch>
            <a:fillRect/>
          </a:stretch>
        </p:blipFill>
        <p:spPr>
          <a:xfrm>
            <a:off x="5669280" y="1335024"/>
            <a:ext cx="3154680" cy="2103120"/>
          </a:xfrm>
          <a:prstGeom prst="rect">
            <a:avLst/>
          </a:prstGeom>
        </p:spPr>
      </p:pic>
      <p:sp>
        <p:nvSpPr>
          <p:cNvPr id="10" name="Shape 6"/>
          <p:cNvSpPr/>
          <p:nvPr/>
        </p:nvSpPr>
        <p:spPr>
          <a:xfrm>
            <a:off x="411480" y="3547872"/>
            <a:ext cx="8321040" cy="1417320"/>
          </a:xfrm>
          <a:prstGeom prst="roundRect">
            <a:avLst>
              <a:gd name="adj" fmla="val 6452"/>
            </a:avLst>
          </a:prstGeom>
          <a:solidFill>
            <a:srgbClr val="E8F0FB"/>
          </a:solidFill>
          <a:ln w="9525">
            <a:solidFill>
              <a:srgbClr val="C8D8EE"/>
            </a:solidFill>
            <a:prstDash val="solid"/>
          </a:ln>
          <a:effectLst>
            <a:outerShdw blurRad="101600" dist="25400" dir="2700000" algn="bl" rotWithShape="0">
              <a:srgbClr val="000000">
                <a:alpha val="10000"/>
              </a:srgbClr>
            </a:outerShdw>
          </a:effectLst>
        </p:spPr>
      </p:sp>
      <p:sp>
        <p:nvSpPr>
          <p:cNvPr id="11" name="Text 7"/>
          <p:cNvSpPr/>
          <p:nvPr/>
        </p:nvSpPr>
        <p:spPr>
          <a:xfrm>
            <a:off x="594360" y="3630168"/>
            <a:ext cx="7955280" cy="274320"/>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Key Observations</a:t>
            </a:r>
            <a:endParaRPr lang="en-US" sz="1150" dirty="0">
              <a:latin typeface="Times New Roman" panose="02020603050405020304" pitchFamily="18" charset="0"/>
              <a:cs typeface="Times New Roman" panose="02020603050405020304" pitchFamily="18" charset="0"/>
            </a:endParaRPr>
          </a:p>
        </p:txBody>
      </p:sp>
      <p:sp>
        <p:nvSpPr>
          <p:cNvPr id="12" name="Text 8"/>
          <p:cNvSpPr/>
          <p:nvPr/>
        </p:nvSpPr>
        <p:spPr>
          <a:xfrm>
            <a:off x="594360" y="3931920"/>
            <a:ext cx="7955280" cy="1005840"/>
          </a:xfrm>
          <a:prstGeom prst="rect">
            <a:avLst/>
          </a:prstGeom>
          <a:noFill/>
          <a:ln/>
        </p:spPr>
        <p:txBody>
          <a:bodyPr wrap="square" rtlCol="0" anchor="ctr"/>
          <a:lstStyle/>
          <a:p>
            <a:pPr marL="342900" indent="-342900">
              <a:lnSpc>
                <a:spcPct val="130000"/>
              </a:lnSpc>
              <a:buSzPct val="100000"/>
              <a:buChar char="•"/>
            </a:pPr>
            <a:r>
              <a:rPr lang="en-US" sz="1050" dirty="0">
                <a:solidFill>
                  <a:srgbClr val="1A1A2E"/>
                </a:solidFill>
                <a:latin typeface="Times New Roman" panose="02020603050405020304" pitchFamily="18" charset="0"/>
                <a:cs typeface="Times New Roman" panose="02020603050405020304" pitchFamily="18" charset="0"/>
              </a:rPr>
              <a:t>Jaundice, Weight Loss and Back Pain show slightly higher prevalence at later stages consistent with clinical knowledge (Veeramani et al., 2020).</a:t>
            </a:r>
            <a:endParaRPr lang="en-US" sz="1050" dirty="0">
              <a:latin typeface="Times New Roman" panose="02020603050405020304" pitchFamily="18" charset="0"/>
              <a:cs typeface="Times New Roman" panose="02020603050405020304" pitchFamily="18" charset="0"/>
            </a:endParaRPr>
          </a:p>
          <a:p>
            <a:pPr marL="342900" indent="-342900">
              <a:lnSpc>
                <a:spcPct val="130000"/>
              </a:lnSpc>
              <a:buSzPct val="100000"/>
              <a:buChar char="•"/>
            </a:pPr>
            <a:r>
              <a:rPr lang="en-US" sz="1050" dirty="0">
                <a:solidFill>
                  <a:srgbClr val="1A1A2E"/>
                </a:solidFill>
                <a:latin typeface="Times New Roman" panose="02020603050405020304" pitchFamily="18" charset="0"/>
                <a:cs typeface="Times New Roman" panose="02020603050405020304" pitchFamily="18" charset="0"/>
              </a:rPr>
              <a:t>Age distributions are very similar across all four stages, suggesting age alone is a weak predictor reinforcing the need for multi-feature ML models.</a:t>
            </a:r>
            <a:endParaRPr lang="en-US" sz="1050" dirty="0">
              <a:latin typeface="Times New Roman" panose="02020603050405020304" pitchFamily="18" charset="0"/>
              <a:cs typeface="Times New Roman" panose="02020603050405020304" pitchFamily="18" charset="0"/>
            </a:endParaRPr>
          </a:p>
          <a:p>
            <a:pPr marL="342900" indent="-342900">
              <a:lnSpc>
                <a:spcPct val="130000"/>
              </a:lnSpc>
              <a:buSzPct val="100000"/>
              <a:buChar char="•"/>
            </a:pPr>
            <a:r>
              <a:rPr lang="en-US" sz="1050" dirty="0">
                <a:solidFill>
                  <a:srgbClr val="1A1A2E"/>
                </a:solidFill>
                <a:latin typeface="Times New Roman" panose="02020603050405020304" pitchFamily="18" charset="0"/>
                <a:cs typeface="Times New Roman" panose="02020603050405020304" pitchFamily="18" charset="0"/>
              </a:rPr>
              <a:t>The dataset is imbalanced (Stage IV = 39.8%, Stage I = 9.9%), so class_weight='balanced' was applied during modelling to avoid bias.</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MACHINE LEARNING MODELS</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40080"/>
            <a:ext cx="8321040" cy="320040"/>
          </a:xfrm>
          <a:prstGeom prst="rect">
            <a:avLst/>
          </a:prstGeom>
          <a:noFill/>
          <a:ln/>
        </p:spPr>
        <p:txBody>
          <a:bodyPr wrap="square"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Three Classifiers — Selected to Cover a Range of Complexity</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365760" y="1051560"/>
            <a:ext cx="2697480" cy="3858768"/>
          </a:xfrm>
          <a:prstGeom prst="roundRect">
            <a:avLst>
              <a:gd name="adj" fmla="val 3390"/>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7" name="Shape 5"/>
          <p:cNvSpPr/>
          <p:nvPr/>
        </p:nvSpPr>
        <p:spPr>
          <a:xfrm>
            <a:off x="438912" y="1115568"/>
            <a:ext cx="2551176" cy="502920"/>
          </a:xfrm>
          <a:prstGeom prst="roundRect">
            <a:avLst>
              <a:gd name="adj" fmla="val 12727"/>
            </a:avLst>
          </a:prstGeom>
          <a:solidFill>
            <a:srgbClr val="2E6DB4"/>
          </a:solidFill>
          <a:ln w="12700">
            <a:solidFill>
              <a:srgbClr val="2E6DB4"/>
            </a:solidFill>
            <a:prstDash val="solid"/>
          </a:ln>
        </p:spPr>
      </p:sp>
      <p:sp>
        <p:nvSpPr>
          <p:cNvPr id="8" name="Text 6"/>
          <p:cNvSpPr/>
          <p:nvPr/>
        </p:nvSpPr>
        <p:spPr>
          <a:xfrm>
            <a:off x="438912" y="1115568"/>
            <a:ext cx="2551176"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01. Logistic Regression</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502920" y="1691640"/>
            <a:ext cx="2423160" cy="228600"/>
          </a:xfrm>
          <a:prstGeom prst="rect">
            <a:avLst/>
          </a:prstGeom>
          <a:noFill/>
          <a:ln/>
        </p:spPr>
        <p:txBody>
          <a:bodyPr wrap="square" lIns="0" tIns="0" rIns="0" bIns="0" rtlCol="0" anchor="ctr"/>
          <a:lstStyle/>
          <a:p>
            <a:pPr marL="0" indent="0">
              <a:buNone/>
            </a:pPr>
            <a:r>
              <a:rPr lang="en-US" sz="950" b="1" dirty="0">
                <a:solidFill>
                  <a:srgbClr val="5A6478"/>
                </a:solidFill>
                <a:latin typeface="Times New Roman" panose="02020603050405020304" pitchFamily="18" charset="0"/>
                <a:ea typeface="Calibri" pitchFamily="34" charset="-122"/>
                <a:cs typeface="Times New Roman" panose="02020603050405020304" pitchFamily="18" charset="0"/>
              </a:rPr>
              <a:t>Parameters</a:t>
            </a:r>
            <a:endParaRPr lang="en-US" sz="950" dirty="0">
              <a:latin typeface="Times New Roman" panose="02020603050405020304" pitchFamily="18" charset="0"/>
              <a:cs typeface="Times New Roman" panose="02020603050405020304" pitchFamily="18" charset="0"/>
            </a:endParaRPr>
          </a:p>
        </p:txBody>
      </p:sp>
      <p:sp>
        <p:nvSpPr>
          <p:cNvPr id="10" name="Text 8"/>
          <p:cNvSpPr/>
          <p:nvPr/>
        </p:nvSpPr>
        <p:spPr>
          <a:xfrm>
            <a:off x="502920" y="1938528"/>
            <a:ext cx="2423160" cy="228600"/>
          </a:xfrm>
          <a:prstGeom prst="rect">
            <a:avLst/>
          </a:prstGeom>
          <a:noFill/>
          <a:ln/>
        </p:spPr>
        <p:txBody>
          <a:bodyPr wrap="square" lIns="0" tIns="0" rIns="0" bIns="0" rtlCol="0" anchor="ct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max_iter = 2000</a:t>
            </a:r>
            <a:endParaRPr lang="en-US" sz="950" dirty="0">
              <a:latin typeface="Times New Roman" panose="02020603050405020304" pitchFamily="18" charset="0"/>
              <a:cs typeface="Times New Roman" panose="02020603050405020304" pitchFamily="18" charset="0"/>
            </a:endParaRPr>
          </a:p>
        </p:txBody>
      </p:sp>
      <p:sp>
        <p:nvSpPr>
          <p:cNvPr id="11" name="Text 9"/>
          <p:cNvSpPr/>
          <p:nvPr/>
        </p:nvSpPr>
        <p:spPr>
          <a:xfrm>
            <a:off x="502920" y="2185416"/>
            <a:ext cx="2423160" cy="228600"/>
          </a:xfrm>
          <a:prstGeom prst="rect">
            <a:avLst/>
          </a:prstGeom>
          <a:noFill/>
          <a:ln/>
        </p:spPr>
        <p:txBody>
          <a:bodyPr wrap="square" lIns="0" tIns="0" rIns="0" bIns="0" rtlCol="0" anchor="ct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class_weight = balanced</a:t>
            </a:r>
            <a:endParaRPr lang="en-US" sz="950" dirty="0">
              <a:latin typeface="Times New Roman" panose="02020603050405020304" pitchFamily="18" charset="0"/>
              <a:cs typeface="Times New Roman" panose="02020603050405020304" pitchFamily="18" charset="0"/>
            </a:endParaRPr>
          </a:p>
        </p:txBody>
      </p:sp>
      <p:sp>
        <p:nvSpPr>
          <p:cNvPr id="12" name="Text 10"/>
          <p:cNvSpPr/>
          <p:nvPr/>
        </p:nvSpPr>
        <p:spPr>
          <a:xfrm>
            <a:off x="502920" y="2432304"/>
            <a:ext cx="2423160" cy="228600"/>
          </a:xfrm>
          <a:prstGeom prst="rect">
            <a:avLst/>
          </a:prstGeom>
          <a:noFill/>
          <a:ln/>
        </p:spPr>
        <p:txBody>
          <a:bodyPr wrap="square" lIns="0" tIns="0" rIns="0" bIns="0" rtlCol="0" anchor="ct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solver = lbfgs</a:t>
            </a:r>
            <a:endParaRPr lang="en-US" sz="950" dirty="0">
              <a:latin typeface="Times New Roman" panose="02020603050405020304" pitchFamily="18" charset="0"/>
              <a:cs typeface="Times New Roman" panose="02020603050405020304" pitchFamily="18" charset="0"/>
            </a:endParaRPr>
          </a:p>
        </p:txBody>
      </p:sp>
      <p:sp>
        <p:nvSpPr>
          <p:cNvPr id="13" name="Shape 11"/>
          <p:cNvSpPr/>
          <p:nvPr/>
        </p:nvSpPr>
        <p:spPr>
          <a:xfrm>
            <a:off x="502920" y="2715768"/>
            <a:ext cx="2423160" cy="9144"/>
          </a:xfrm>
          <a:prstGeom prst="rect">
            <a:avLst/>
          </a:prstGeom>
          <a:solidFill>
            <a:srgbClr val="C8D8EE"/>
          </a:solidFill>
          <a:ln w="12700">
            <a:solidFill>
              <a:srgbClr val="C8D8EE"/>
            </a:solidFill>
            <a:prstDash val="solid"/>
          </a:ln>
        </p:spPr>
      </p:sp>
      <p:sp>
        <p:nvSpPr>
          <p:cNvPr id="14" name="Text 12"/>
          <p:cNvSpPr/>
          <p:nvPr/>
        </p:nvSpPr>
        <p:spPr>
          <a:xfrm>
            <a:off x="502920" y="2779776"/>
            <a:ext cx="2423160" cy="228600"/>
          </a:xfrm>
          <a:prstGeom prst="rect">
            <a:avLst/>
          </a:prstGeom>
          <a:noFill/>
          <a:ln/>
        </p:spPr>
        <p:txBody>
          <a:bodyPr wrap="square" lIns="0" tIns="0" rIns="0" bIns="0" rtlCol="0" anchor="ctr"/>
          <a:lstStyle/>
          <a:p>
            <a:pPr marL="0" indent="0">
              <a:buNone/>
            </a:pPr>
            <a:r>
              <a:rPr lang="en-US" sz="950" b="1" dirty="0">
                <a:solidFill>
                  <a:srgbClr val="5A6478"/>
                </a:solidFill>
                <a:latin typeface="Times New Roman" panose="02020603050405020304" pitchFamily="18" charset="0"/>
                <a:ea typeface="Calibri" pitchFamily="34" charset="-122"/>
                <a:cs typeface="Times New Roman" panose="02020603050405020304" pitchFamily="18" charset="0"/>
              </a:rPr>
              <a:t>Why chosen</a:t>
            </a:r>
            <a:endParaRPr lang="en-US" sz="950" dirty="0">
              <a:latin typeface="Times New Roman" panose="02020603050405020304" pitchFamily="18" charset="0"/>
              <a:cs typeface="Times New Roman" panose="02020603050405020304" pitchFamily="18" charset="0"/>
            </a:endParaRPr>
          </a:p>
        </p:txBody>
      </p:sp>
      <p:sp>
        <p:nvSpPr>
          <p:cNvPr id="15" name="Text 13"/>
          <p:cNvSpPr/>
          <p:nvPr/>
        </p:nvSpPr>
        <p:spPr>
          <a:xfrm>
            <a:off x="502920" y="3017520"/>
            <a:ext cx="2423160" cy="749808"/>
          </a:xfrm>
          <a:prstGeom prst="rect">
            <a:avLst/>
          </a:prstGeom>
          <a:noFill/>
          <a:ln/>
        </p:spPr>
        <p:txBody>
          <a:bodyPr wrap="square" lIns="0" tIns="0" rIns="0" bIns="0" rtlCol="0" anchor="ctr"/>
          <a:lstStyle/>
          <a:p>
            <a:pPr marL="0" indent="0">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Simple, fast and highly interpretable baseline model. Good starting point to check whether a linear decision boundary is sufficient for this problem.</a:t>
            </a:r>
            <a:endParaRPr lang="en-US" sz="900" dirty="0">
              <a:latin typeface="Times New Roman" panose="02020603050405020304" pitchFamily="18" charset="0"/>
              <a:cs typeface="Times New Roman" panose="02020603050405020304" pitchFamily="18" charset="0"/>
            </a:endParaRPr>
          </a:p>
        </p:txBody>
      </p:sp>
      <p:sp>
        <p:nvSpPr>
          <p:cNvPr id="16" name="Text 14"/>
          <p:cNvSpPr/>
          <p:nvPr/>
        </p:nvSpPr>
        <p:spPr>
          <a:xfrm>
            <a:off x="502920" y="3794760"/>
            <a:ext cx="2423160" cy="228600"/>
          </a:xfrm>
          <a:prstGeom prst="rect">
            <a:avLst/>
          </a:prstGeom>
          <a:noFill/>
          <a:ln/>
        </p:spPr>
        <p:txBody>
          <a:bodyPr wrap="square" lIns="0" tIns="0" rIns="0" bIns="0" rtlCol="0" anchor="ctr"/>
          <a:lstStyle/>
          <a:p>
            <a:pPr marL="0" indent="0">
              <a:buNone/>
            </a:pPr>
            <a:r>
              <a:rPr lang="en-US" sz="950" b="1" dirty="0">
                <a:solidFill>
                  <a:srgbClr val="5A6478"/>
                </a:solidFill>
                <a:latin typeface="Times New Roman" panose="02020603050405020304" pitchFamily="18" charset="0"/>
                <a:ea typeface="Calibri" pitchFamily="34" charset="-122"/>
                <a:cs typeface="Times New Roman" panose="02020603050405020304" pitchFamily="18" charset="0"/>
              </a:rPr>
              <a:t>Advantages</a:t>
            </a:r>
            <a:endParaRPr lang="en-US" sz="950" dirty="0">
              <a:latin typeface="Times New Roman" panose="02020603050405020304" pitchFamily="18" charset="0"/>
              <a:cs typeface="Times New Roman" panose="02020603050405020304" pitchFamily="18" charset="0"/>
            </a:endParaRPr>
          </a:p>
        </p:txBody>
      </p:sp>
      <p:sp>
        <p:nvSpPr>
          <p:cNvPr id="17" name="Text 15"/>
          <p:cNvSpPr/>
          <p:nvPr/>
        </p:nvSpPr>
        <p:spPr>
          <a:xfrm>
            <a:off x="502920" y="4005072"/>
            <a:ext cx="2423160" cy="219456"/>
          </a:xfrm>
          <a:prstGeom prst="rect">
            <a:avLst/>
          </a:prstGeom>
          <a:noFill/>
          <a:ln/>
        </p:spPr>
        <p:txBody>
          <a:bodyPr wrap="square" lIns="0" tIns="0" rIns="0" bIns="0" rtlCol="0" anchor="ctr"/>
          <a:lstStyle/>
          <a:p>
            <a:pPr marL="0" indent="0">
              <a:buNone/>
            </a:pPr>
            <a:r>
              <a:rPr lang="en-US" sz="900" dirty="0">
                <a:solidFill>
                  <a:srgbClr val="217A3C"/>
                </a:solidFill>
                <a:latin typeface="Times New Roman" panose="02020603050405020304" pitchFamily="18" charset="0"/>
                <a:ea typeface="Calibri" pitchFamily="34" charset="-122"/>
                <a:cs typeface="Times New Roman" panose="02020603050405020304" pitchFamily="18" charset="0"/>
              </a:rPr>
              <a:t>✓  Interpretable coefficients</a:t>
            </a:r>
            <a:endParaRPr lang="en-US" sz="900" dirty="0">
              <a:latin typeface="Times New Roman" panose="02020603050405020304" pitchFamily="18" charset="0"/>
              <a:cs typeface="Times New Roman" panose="02020603050405020304" pitchFamily="18" charset="0"/>
            </a:endParaRPr>
          </a:p>
        </p:txBody>
      </p:sp>
      <p:sp>
        <p:nvSpPr>
          <p:cNvPr id="18" name="Text 16"/>
          <p:cNvSpPr/>
          <p:nvPr/>
        </p:nvSpPr>
        <p:spPr>
          <a:xfrm>
            <a:off x="502920" y="4242816"/>
            <a:ext cx="2423160" cy="219456"/>
          </a:xfrm>
          <a:prstGeom prst="rect">
            <a:avLst/>
          </a:prstGeom>
          <a:noFill/>
          <a:ln/>
        </p:spPr>
        <p:txBody>
          <a:bodyPr wrap="square" lIns="0" tIns="0" rIns="0" bIns="0" rtlCol="0" anchor="ctr"/>
          <a:lstStyle/>
          <a:p>
            <a:pPr marL="0" indent="0">
              <a:buNone/>
            </a:pPr>
            <a:r>
              <a:rPr lang="en-US" sz="900" dirty="0">
                <a:solidFill>
                  <a:srgbClr val="217A3C"/>
                </a:solidFill>
                <a:latin typeface="Times New Roman" panose="02020603050405020304" pitchFamily="18" charset="0"/>
                <a:ea typeface="Calibri" pitchFamily="34" charset="-122"/>
                <a:cs typeface="Times New Roman" panose="02020603050405020304" pitchFamily="18" charset="0"/>
              </a:rPr>
              <a:t>✓  Fast to train</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502920" y="4480560"/>
            <a:ext cx="2423160" cy="219456"/>
          </a:xfrm>
          <a:prstGeom prst="rect">
            <a:avLst/>
          </a:prstGeom>
          <a:noFill/>
          <a:ln/>
        </p:spPr>
        <p:txBody>
          <a:bodyPr wrap="square" lIns="0" tIns="0" rIns="0" bIns="0" rtlCol="0" anchor="ctr"/>
          <a:lstStyle/>
          <a:p>
            <a:pPr marL="0" indent="0">
              <a:buNone/>
            </a:pPr>
            <a:r>
              <a:rPr lang="en-US" sz="900" dirty="0">
                <a:solidFill>
                  <a:srgbClr val="217A3C"/>
                </a:solidFill>
                <a:latin typeface="Times New Roman" panose="02020603050405020304" pitchFamily="18" charset="0"/>
                <a:ea typeface="Calibri" pitchFamily="34" charset="-122"/>
                <a:cs typeface="Times New Roman" panose="02020603050405020304" pitchFamily="18" charset="0"/>
              </a:rPr>
              <a:t>✓  Low risk of overfitting</a:t>
            </a:r>
            <a:endParaRPr lang="en-US" sz="900" dirty="0">
              <a:latin typeface="Times New Roman" panose="02020603050405020304" pitchFamily="18" charset="0"/>
              <a:cs typeface="Times New Roman" panose="02020603050405020304" pitchFamily="18" charset="0"/>
            </a:endParaRPr>
          </a:p>
        </p:txBody>
      </p:sp>
      <p:sp>
        <p:nvSpPr>
          <p:cNvPr id="20" name="Shape 18"/>
          <p:cNvSpPr/>
          <p:nvPr/>
        </p:nvSpPr>
        <p:spPr>
          <a:xfrm>
            <a:off x="3246120" y="1051560"/>
            <a:ext cx="2697480" cy="3858768"/>
          </a:xfrm>
          <a:prstGeom prst="roundRect">
            <a:avLst>
              <a:gd name="adj" fmla="val 3390"/>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21" name="Shape 19"/>
          <p:cNvSpPr/>
          <p:nvPr/>
        </p:nvSpPr>
        <p:spPr>
          <a:xfrm>
            <a:off x="3319272" y="1115568"/>
            <a:ext cx="2551176" cy="502920"/>
          </a:xfrm>
          <a:prstGeom prst="roundRect">
            <a:avLst>
              <a:gd name="adj" fmla="val 12727"/>
            </a:avLst>
          </a:prstGeom>
          <a:solidFill>
            <a:srgbClr val="217A3C"/>
          </a:solidFill>
          <a:ln w="12700">
            <a:solidFill>
              <a:srgbClr val="217A3C"/>
            </a:solidFill>
            <a:prstDash val="solid"/>
          </a:ln>
        </p:spPr>
      </p:sp>
      <p:sp>
        <p:nvSpPr>
          <p:cNvPr id="22" name="Text 20"/>
          <p:cNvSpPr/>
          <p:nvPr/>
        </p:nvSpPr>
        <p:spPr>
          <a:xfrm>
            <a:off x="3319272" y="1115568"/>
            <a:ext cx="2551176"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02. Decision Tree</a:t>
            </a:r>
            <a:endParaRPr lang="en-US" sz="1200" dirty="0">
              <a:latin typeface="Times New Roman" panose="02020603050405020304" pitchFamily="18" charset="0"/>
              <a:cs typeface="Times New Roman" panose="02020603050405020304" pitchFamily="18" charset="0"/>
            </a:endParaRPr>
          </a:p>
        </p:txBody>
      </p:sp>
      <p:sp>
        <p:nvSpPr>
          <p:cNvPr id="23" name="Text 21"/>
          <p:cNvSpPr/>
          <p:nvPr/>
        </p:nvSpPr>
        <p:spPr>
          <a:xfrm>
            <a:off x="3383280" y="1691640"/>
            <a:ext cx="2423160" cy="228600"/>
          </a:xfrm>
          <a:prstGeom prst="rect">
            <a:avLst/>
          </a:prstGeom>
          <a:noFill/>
          <a:ln/>
        </p:spPr>
        <p:txBody>
          <a:bodyPr wrap="square" lIns="0" tIns="0" rIns="0" bIns="0" rtlCol="0" anchor="ctr"/>
          <a:lstStyle/>
          <a:p>
            <a:pPr marL="0" indent="0">
              <a:buNone/>
            </a:pPr>
            <a:r>
              <a:rPr lang="en-US" sz="950" b="1" dirty="0">
                <a:solidFill>
                  <a:srgbClr val="5A6478"/>
                </a:solidFill>
                <a:latin typeface="Times New Roman" panose="02020603050405020304" pitchFamily="18" charset="0"/>
                <a:ea typeface="Calibri" pitchFamily="34" charset="-122"/>
                <a:cs typeface="Times New Roman" panose="02020603050405020304" pitchFamily="18" charset="0"/>
              </a:rPr>
              <a:t>Parameters</a:t>
            </a:r>
            <a:endParaRPr lang="en-US" sz="950" dirty="0">
              <a:latin typeface="Times New Roman" panose="02020603050405020304" pitchFamily="18" charset="0"/>
              <a:cs typeface="Times New Roman" panose="02020603050405020304" pitchFamily="18" charset="0"/>
            </a:endParaRPr>
          </a:p>
        </p:txBody>
      </p:sp>
      <p:sp>
        <p:nvSpPr>
          <p:cNvPr id="24" name="Text 22"/>
          <p:cNvSpPr/>
          <p:nvPr/>
        </p:nvSpPr>
        <p:spPr>
          <a:xfrm>
            <a:off x="3383280" y="1938528"/>
            <a:ext cx="2423160" cy="228600"/>
          </a:xfrm>
          <a:prstGeom prst="rect">
            <a:avLst/>
          </a:prstGeom>
          <a:noFill/>
          <a:ln/>
        </p:spPr>
        <p:txBody>
          <a:bodyPr wrap="square" lIns="0" tIns="0" rIns="0" bIns="0" rtlCol="0" anchor="ct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max_depth = 10</a:t>
            </a:r>
            <a:endParaRPr lang="en-US" sz="950" dirty="0">
              <a:latin typeface="Times New Roman" panose="02020603050405020304" pitchFamily="18" charset="0"/>
              <a:cs typeface="Times New Roman" panose="02020603050405020304" pitchFamily="18" charset="0"/>
            </a:endParaRPr>
          </a:p>
        </p:txBody>
      </p:sp>
      <p:sp>
        <p:nvSpPr>
          <p:cNvPr id="25" name="Text 23"/>
          <p:cNvSpPr/>
          <p:nvPr/>
        </p:nvSpPr>
        <p:spPr>
          <a:xfrm>
            <a:off x="3383280" y="2185416"/>
            <a:ext cx="2423160" cy="228600"/>
          </a:xfrm>
          <a:prstGeom prst="rect">
            <a:avLst/>
          </a:prstGeom>
          <a:noFill/>
          <a:ln/>
        </p:spPr>
        <p:txBody>
          <a:bodyPr wrap="square" lIns="0" tIns="0" rIns="0" bIns="0" rtlCol="0" anchor="ct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min_samples_split = 20</a:t>
            </a:r>
            <a:endParaRPr lang="en-US" sz="950" dirty="0">
              <a:latin typeface="Times New Roman" panose="02020603050405020304" pitchFamily="18" charset="0"/>
              <a:cs typeface="Times New Roman" panose="02020603050405020304" pitchFamily="18" charset="0"/>
            </a:endParaRPr>
          </a:p>
        </p:txBody>
      </p:sp>
      <p:sp>
        <p:nvSpPr>
          <p:cNvPr id="26" name="Text 24"/>
          <p:cNvSpPr/>
          <p:nvPr/>
        </p:nvSpPr>
        <p:spPr>
          <a:xfrm>
            <a:off x="3383280" y="2432304"/>
            <a:ext cx="2423160" cy="228600"/>
          </a:xfrm>
          <a:prstGeom prst="rect">
            <a:avLst/>
          </a:prstGeom>
          <a:noFill/>
          <a:ln/>
        </p:spPr>
        <p:txBody>
          <a:bodyPr wrap="square" lIns="0" tIns="0" rIns="0" bIns="0" rtlCol="0" anchor="ct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class_weight = balanced</a:t>
            </a:r>
            <a:endParaRPr lang="en-US" sz="950" dirty="0">
              <a:latin typeface="Times New Roman" panose="02020603050405020304" pitchFamily="18" charset="0"/>
              <a:cs typeface="Times New Roman" panose="02020603050405020304" pitchFamily="18" charset="0"/>
            </a:endParaRPr>
          </a:p>
        </p:txBody>
      </p:sp>
      <p:sp>
        <p:nvSpPr>
          <p:cNvPr id="27" name="Shape 25"/>
          <p:cNvSpPr/>
          <p:nvPr/>
        </p:nvSpPr>
        <p:spPr>
          <a:xfrm>
            <a:off x="3383280" y="2715768"/>
            <a:ext cx="2423160" cy="9144"/>
          </a:xfrm>
          <a:prstGeom prst="rect">
            <a:avLst/>
          </a:prstGeom>
          <a:solidFill>
            <a:srgbClr val="C8D8EE"/>
          </a:solidFill>
          <a:ln w="12700">
            <a:solidFill>
              <a:srgbClr val="C8D8EE"/>
            </a:solidFill>
            <a:prstDash val="solid"/>
          </a:ln>
        </p:spPr>
      </p:sp>
      <p:sp>
        <p:nvSpPr>
          <p:cNvPr id="28" name="Text 26"/>
          <p:cNvSpPr/>
          <p:nvPr/>
        </p:nvSpPr>
        <p:spPr>
          <a:xfrm>
            <a:off x="3383280" y="2779776"/>
            <a:ext cx="2423160" cy="228600"/>
          </a:xfrm>
          <a:prstGeom prst="rect">
            <a:avLst/>
          </a:prstGeom>
          <a:noFill/>
          <a:ln/>
        </p:spPr>
        <p:txBody>
          <a:bodyPr wrap="square" lIns="0" tIns="0" rIns="0" bIns="0" rtlCol="0" anchor="ctr"/>
          <a:lstStyle/>
          <a:p>
            <a:pPr marL="0" indent="0">
              <a:buNone/>
            </a:pPr>
            <a:r>
              <a:rPr lang="en-US" sz="950" b="1" dirty="0">
                <a:solidFill>
                  <a:srgbClr val="5A6478"/>
                </a:solidFill>
                <a:latin typeface="Times New Roman" panose="02020603050405020304" pitchFamily="18" charset="0"/>
                <a:ea typeface="Calibri" pitchFamily="34" charset="-122"/>
                <a:cs typeface="Times New Roman" panose="02020603050405020304" pitchFamily="18" charset="0"/>
              </a:rPr>
              <a:t>Why chosen</a:t>
            </a:r>
            <a:endParaRPr lang="en-US" sz="950" dirty="0">
              <a:latin typeface="Times New Roman" panose="02020603050405020304" pitchFamily="18" charset="0"/>
              <a:cs typeface="Times New Roman" panose="02020603050405020304" pitchFamily="18" charset="0"/>
            </a:endParaRPr>
          </a:p>
        </p:txBody>
      </p:sp>
      <p:sp>
        <p:nvSpPr>
          <p:cNvPr id="29" name="Text 27"/>
          <p:cNvSpPr/>
          <p:nvPr/>
        </p:nvSpPr>
        <p:spPr>
          <a:xfrm>
            <a:off x="3383280" y="3017520"/>
            <a:ext cx="2423160" cy="749808"/>
          </a:xfrm>
          <a:prstGeom prst="rect">
            <a:avLst/>
          </a:prstGeom>
          <a:noFill/>
          <a:ln/>
        </p:spPr>
        <p:txBody>
          <a:bodyPr wrap="square" lIns="0" tIns="0" rIns="0" bIns="0" rtlCol="0" anchor="ctr"/>
          <a:lstStyle/>
          <a:p>
            <a:pPr marL="0" indent="0">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Rule based model that produces a visual tree structure easy to explain to non-technical stakeholders such as TechHealthCare management.</a:t>
            </a:r>
            <a:endParaRPr lang="en-US" sz="900" dirty="0">
              <a:latin typeface="Times New Roman" panose="02020603050405020304" pitchFamily="18" charset="0"/>
              <a:cs typeface="Times New Roman" panose="02020603050405020304" pitchFamily="18" charset="0"/>
            </a:endParaRPr>
          </a:p>
        </p:txBody>
      </p:sp>
      <p:sp>
        <p:nvSpPr>
          <p:cNvPr id="30" name="Text 28"/>
          <p:cNvSpPr/>
          <p:nvPr/>
        </p:nvSpPr>
        <p:spPr>
          <a:xfrm>
            <a:off x="3383280" y="3794760"/>
            <a:ext cx="2423160" cy="228600"/>
          </a:xfrm>
          <a:prstGeom prst="rect">
            <a:avLst/>
          </a:prstGeom>
          <a:noFill/>
          <a:ln/>
        </p:spPr>
        <p:txBody>
          <a:bodyPr wrap="square" lIns="0" tIns="0" rIns="0" bIns="0" rtlCol="0" anchor="ctr"/>
          <a:lstStyle/>
          <a:p>
            <a:pPr marL="0" indent="0">
              <a:buNone/>
            </a:pPr>
            <a:r>
              <a:rPr lang="en-US" sz="950" b="1" dirty="0">
                <a:solidFill>
                  <a:srgbClr val="5A6478"/>
                </a:solidFill>
                <a:latin typeface="Times New Roman" panose="02020603050405020304" pitchFamily="18" charset="0"/>
                <a:ea typeface="Calibri" pitchFamily="34" charset="-122"/>
                <a:cs typeface="Times New Roman" panose="02020603050405020304" pitchFamily="18" charset="0"/>
              </a:rPr>
              <a:t>Advantages</a:t>
            </a:r>
            <a:endParaRPr lang="en-US" sz="950" dirty="0">
              <a:latin typeface="Times New Roman" panose="02020603050405020304" pitchFamily="18" charset="0"/>
              <a:cs typeface="Times New Roman" panose="02020603050405020304" pitchFamily="18" charset="0"/>
            </a:endParaRPr>
          </a:p>
        </p:txBody>
      </p:sp>
      <p:sp>
        <p:nvSpPr>
          <p:cNvPr id="31" name="Text 29"/>
          <p:cNvSpPr/>
          <p:nvPr/>
        </p:nvSpPr>
        <p:spPr>
          <a:xfrm>
            <a:off x="3383280" y="4005072"/>
            <a:ext cx="2423160" cy="219456"/>
          </a:xfrm>
          <a:prstGeom prst="rect">
            <a:avLst/>
          </a:prstGeom>
          <a:noFill/>
          <a:ln/>
        </p:spPr>
        <p:txBody>
          <a:bodyPr wrap="square" lIns="0" tIns="0" rIns="0" bIns="0" rtlCol="0" anchor="ctr"/>
          <a:lstStyle/>
          <a:p>
            <a:pPr marL="0" indent="0">
              <a:buNone/>
            </a:pPr>
            <a:r>
              <a:rPr lang="en-US" sz="900" dirty="0">
                <a:solidFill>
                  <a:srgbClr val="217A3C"/>
                </a:solidFill>
                <a:latin typeface="Times New Roman" panose="02020603050405020304" pitchFamily="18" charset="0"/>
                <a:ea typeface="Calibri" pitchFamily="34" charset="-122"/>
                <a:cs typeface="Times New Roman" panose="02020603050405020304" pitchFamily="18" charset="0"/>
              </a:rPr>
              <a:t>✓  Human-readable rules</a:t>
            </a:r>
            <a:endParaRPr lang="en-US" sz="900" dirty="0">
              <a:latin typeface="Times New Roman" panose="02020603050405020304" pitchFamily="18" charset="0"/>
              <a:cs typeface="Times New Roman" panose="02020603050405020304" pitchFamily="18" charset="0"/>
            </a:endParaRPr>
          </a:p>
        </p:txBody>
      </p:sp>
      <p:sp>
        <p:nvSpPr>
          <p:cNvPr id="32" name="Text 30"/>
          <p:cNvSpPr/>
          <p:nvPr/>
        </p:nvSpPr>
        <p:spPr>
          <a:xfrm>
            <a:off x="3383280" y="4242816"/>
            <a:ext cx="2423160" cy="219456"/>
          </a:xfrm>
          <a:prstGeom prst="rect">
            <a:avLst/>
          </a:prstGeom>
          <a:noFill/>
          <a:ln/>
        </p:spPr>
        <p:txBody>
          <a:bodyPr wrap="square" lIns="0" tIns="0" rIns="0" bIns="0" rtlCol="0" anchor="ctr"/>
          <a:lstStyle/>
          <a:p>
            <a:pPr marL="0" indent="0">
              <a:buNone/>
            </a:pPr>
            <a:r>
              <a:rPr lang="en-US" sz="900" dirty="0">
                <a:solidFill>
                  <a:srgbClr val="217A3C"/>
                </a:solidFill>
                <a:latin typeface="Times New Roman" panose="02020603050405020304" pitchFamily="18" charset="0"/>
                <a:ea typeface="Calibri" pitchFamily="34" charset="-122"/>
                <a:cs typeface="Times New Roman" panose="02020603050405020304" pitchFamily="18" charset="0"/>
              </a:rPr>
              <a:t>✓  Non-linear boundaries</a:t>
            </a:r>
            <a:endParaRPr lang="en-US" sz="900" dirty="0">
              <a:latin typeface="Times New Roman" panose="02020603050405020304" pitchFamily="18" charset="0"/>
              <a:cs typeface="Times New Roman" panose="02020603050405020304" pitchFamily="18" charset="0"/>
            </a:endParaRPr>
          </a:p>
        </p:txBody>
      </p:sp>
      <p:sp>
        <p:nvSpPr>
          <p:cNvPr id="33" name="Text 31"/>
          <p:cNvSpPr/>
          <p:nvPr/>
        </p:nvSpPr>
        <p:spPr>
          <a:xfrm>
            <a:off x="3383280" y="4480560"/>
            <a:ext cx="2423160" cy="219456"/>
          </a:xfrm>
          <a:prstGeom prst="rect">
            <a:avLst/>
          </a:prstGeom>
          <a:noFill/>
          <a:ln/>
        </p:spPr>
        <p:txBody>
          <a:bodyPr wrap="square" lIns="0" tIns="0" rIns="0" bIns="0" rtlCol="0" anchor="ctr"/>
          <a:lstStyle/>
          <a:p>
            <a:pPr marL="0" indent="0">
              <a:buNone/>
            </a:pPr>
            <a:r>
              <a:rPr lang="en-US" sz="900" dirty="0">
                <a:solidFill>
                  <a:srgbClr val="217A3C"/>
                </a:solidFill>
                <a:latin typeface="Times New Roman" panose="02020603050405020304" pitchFamily="18" charset="0"/>
                <a:ea typeface="Calibri" pitchFamily="34" charset="-122"/>
                <a:cs typeface="Times New Roman" panose="02020603050405020304" pitchFamily="18" charset="0"/>
              </a:rPr>
              <a:t>✓  No scaling needed</a:t>
            </a:r>
            <a:endParaRPr lang="en-US" sz="900" dirty="0">
              <a:latin typeface="Times New Roman" panose="02020603050405020304" pitchFamily="18" charset="0"/>
              <a:cs typeface="Times New Roman" panose="02020603050405020304" pitchFamily="18" charset="0"/>
            </a:endParaRPr>
          </a:p>
        </p:txBody>
      </p:sp>
      <p:sp>
        <p:nvSpPr>
          <p:cNvPr id="34" name="Shape 32"/>
          <p:cNvSpPr/>
          <p:nvPr/>
        </p:nvSpPr>
        <p:spPr>
          <a:xfrm>
            <a:off x="6126480" y="1051560"/>
            <a:ext cx="2697480" cy="3858768"/>
          </a:xfrm>
          <a:prstGeom prst="roundRect">
            <a:avLst>
              <a:gd name="adj" fmla="val 3390"/>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35" name="Shape 33"/>
          <p:cNvSpPr/>
          <p:nvPr/>
        </p:nvSpPr>
        <p:spPr>
          <a:xfrm>
            <a:off x="6199632" y="1115568"/>
            <a:ext cx="2551176" cy="502920"/>
          </a:xfrm>
          <a:prstGeom prst="roundRect">
            <a:avLst>
              <a:gd name="adj" fmla="val 12727"/>
            </a:avLst>
          </a:prstGeom>
          <a:solidFill>
            <a:srgbClr val="7B3FA0"/>
          </a:solidFill>
          <a:ln w="12700">
            <a:solidFill>
              <a:srgbClr val="7B3FA0"/>
            </a:solidFill>
            <a:prstDash val="solid"/>
          </a:ln>
        </p:spPr>
      </p:sp>
      <p:sp>
        <p:nvSpPr>
          <p:cNvPr id="36" name="Text 34"/>
          <p:cNvSpPr/>
          <p:nvPr/>
        </p:nvSpPr>
        <p:spPr>
          <a:xfrm>
            <a:off x="6199632" y="1115568"/>
            <a:ext cx="2551176"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03. Random Forest</a:t>
            </a:r>
            <a:endParaRPr lang="en-US" sz="1200" dirty="0">
              <a:latin typeface="Times New Roman" panose="02020603050405020304" pitchFamily="18" charset="0"/>
              <a:cs typeface="Times New Roman" panose="02020603050405020304" pitchFamily="18" charset="0"/>
            </a:endParaRPr>
          </a:p>
        </p:txBody>
      </p:sp>
      <p:sp>
        <p:nvSpPr>
          <p:cNvPr id="37" name="Text 35"/>
          <p:cNvSpPr/>
          <p:nvPr/>
        </p:nvSpPr>
        <p:spPr>
          <a:xfrm>
            <a:off x="6263640" y="1691640"/>
            <a:ext cx="2423160" cy="228600"/>
          </a:xfrm>
          <a:prstGeom prst="rect">
            <a:avLst/>
          </a:prstGeom>
          <a:noFill/>
          <a:ln/>
        </p:spPr>
        <p:txBody>
          <a:bodyPr wrap="square" lIns="0" tIns="0" rIns="0" bIns="0" rtlCol="0" anchor="ctr"/>
          <a:lstStyle/>
          <a:p>
            <a:pPr marL="0" indent="0">
              <a:buNone/>
            </a:pPr>
            <a:r>
              <a:rPr lang="en-US" sz="950" b="1" dirty="0">
                <a:solidFill>
                  <a:srgbClr val="5A6478"/>
                </a:solidFill>
                <a:latin typeface="Times New Roman" panose="02020603050405020304" pitchFamily="18" charset="0"/>
                <a:ea typeface="Calibri" pitchFamily="34" charset="-122"/>
                <a:cs typeface="Times New Roman" panose="02020603050405020304" pitchFamily="18" charset="0"/>
              </a:rPr>
              <a:t>Parameters</a:t>
            </a:r>
            <a:endParaRPr lang="en-US" sz="950" dirty="0">
              <a:latin typeface="Times New Roman" panose="02020603050405020304" pitchFamily="18" charset="0"/>
              <a:cs typeface="Times New Roman" panose="02020603050405020304" pitchFamily="18" charset="0"/>
            </a:endParaRPr>
          </a:p>
        </p:txBody>
      </p:sp>
      <p:sp>
        <p:nvSpPr>
          <p:cNvPr id="38" name="Text 36"/>
          <p:cNvSpPr/>
          <p:nvPr/>
        </p:nvSpPr>
        <p:spPr>
          <a:xfrm>
            <a:off x="6263640" y="1938528"/>
            <a:ext cx="2423160" cy="228600"/>
          </a:xfrm>
          <a:prstGeom prst="rect">
            <a:avLst/>
          </a:prstGeom>
          <a:noFill/>
          <a:ln/>
        </p:spPr>
        <p:txBody>
          <a:bodyPr wrap="square" lIns="0" tIns="0" rIns="0" bIns="0" rtlCol="0" anchor="ct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n_estimators = 100</a:t>
            </a:r>
            <a:endParaRPr lang="en-US" sz="950" dirty="0">
              <a:latin typeface="Times New Roman" panose="02020603050405020304" pitchFamily="18" charset="0"/>
              <a:cs typeface="Times New Roman" panose="02020603050405020304" pitchFamily="18" charset="0"/>
            </a:endParaRPr>
          </a:p>
        </p:txBody>
      </p:sp>
      <p:sp>
        <p:nvSpPr>
          <p:cNvPr id="39" name="Text 37"/>
          <p:cNvSpPr/>
          <p:nvPr/>
        </p:nvSpPr>
        <p:spPr>
          <a:xfrm>
            <a:off x="6263640" y="2185416"/>
            <a:ext cx="2423160" cy="228600"/>
          </a:xfrm>
          <a:prstGeom prst="rect">
            <a:avLst/>
          </a:prstGeom>
          <a:noFill/>
          <a:ln/>
        </p:spPr>
        <p:txBody>
          <a:bodyPr wrap="square" lIns="0" tIns="0" rIns="0" bIns="0" rtlCol="0" anchor="ct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max_depth = 15</a:t>
            </a:r>
            <a:endParaRPr lang="en-US" sz="950" dirty="0">
              <a:latin typeface="Times New Roman" panose="02020603050405020304" pitchFamily="18" charset="0"/>
              <a:cs typeface="Times New Roman" panose="02020603050405020304" pitchFamily="18" charset="0"/>
            </a:endParaRPr>
          </a:p>
        </p:txBody>
      </p:sp>
      <p:sp>
        <p:nvSpPr>
          <p:cNvPr id="40" name="Text 38"/>
          <p:cNvSpPr/>
          <p:nvPr/>
        </p:nvSpPr>
        <p:spPr>
          <a:xfrm>
            <a:off x="6263640" y="2432304"/>
            <a:ext cx="2423160" cy="228600"/>
          </a:xfrm>
          <a:prstGeom prst="rect">
            <a:avLst/>
          </a:prstGeom>
          <a:noFill/>
          <a:ln/>
        </p:spPr>
        <p:txBody>
          <a:bodyPr wrap="square" lIns="0" tIns="0" rIns="0" bIns="0" rtlCol="0" anchor="ctr"/>
          <a:lstStyle/>
          <a:p>
            <a:pPr marL="0" indent="0">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class_weight = balanced</a:t>
            </a:r>
            <a:endParaRPr lang="en-US" sz="950" dirty="0">
              <a:latin typeface="Times New Roman" panose="02020603050405020304" pitchFamily="18" charset="0"/>
              <a:cs typeface="Times New Roman" panose="02020603050405020304" pitchFamily="18" charset="0"/>
            </a:endParaRPr>
          </a:p>
        </p:txBody>
      </p:sp>
      <p:sp>
        <p:nvSpPr>
          <p:cNvPr id="41" name="Shape 39"/>
          <p:cNvSpPr/>
          <p:nvPr/>
        </p:nvSpPr>
        <p:spPr>
          <a:xfrm>
            <a:off x="6263640" y="2715768"/>
            <a:ext cx="2423160" cy="9144"/>
          </a:xfrm>
          <a:prstGeom prst="rect">
            <a:avLst/>
          </a:prstGeom>
          <a:solidFill>
            <a:srgbClr val="C8D8EE"/>
          </a:solidFill>
          <a:ln w="12700">
            <a:solidFill>
              <a:srgbClr val="C8D8EE"/>
            </a:solidFill>
            <a:prstDash val="solid"/>
          </a:ln>
        </p:spPr>
      </p:sp>
      <p:sp>
        <p:nvSpPr>
          <p:cNvPr id="42" name="Text 40"/>
          <p:cNvSpPr/>
          <p:nvPr/>
        </p:nvSpPr>
        <p:spPr>
          <a:xfrm>
            <a:off x="6263640" y="2779776"/>
            <a:ext cx="2423160" cy="228600"/>
          </a:xfrm>
          <a:prstGeom prst="rect">
            <a:avLst/>
          </a:prstGeom>
          <a:noFill/>
          <a:ln/>
        </p:spPr>
        <p:txBody>
          <a:bodyPr wrap="square" lIns="0" tIns="0" rIns="0" bIns="0" rtlCol="0" anchor="ctr"/>
          <a:lstStyle/>
          <a:p>
            <a:pPr marL="0" indent="0">
              <a:buNone/>
            </a:pPr>
            <a:r>
              <a:rPr lang="en-US" sz="950" b="1" dirty="0">
                <a:solidFill>
                  <a:srgbClr val="5A6478"/>
                </a:solidFill>
                <a:latin typeface="Times New Roman" panose="02020603050405020304" pitchFamily="18" charset="0"/>
                <a:ea typeface="Calibri" pitchFamily="34" charset="-122"/>
                <a:cs typeface="Times New Roman" panose="02020603050405020304" pitchFamily="18" charset="0"/>
              </a:rPr>
              <a:t>Why chosen</a:t>
            </a:r>
            <a:endParaRPr lang="en-US" sz="950" dirty="0">
              <a:latin typeface="Times New Roman" panose="02020603050405020304" pitchFamily="18" charset="0"/>
              <a:cs typeface="Times New Roman" panose="02020603050405020304" pitchFamily="18" charset="0"/>
            </a:endParaRPr>
          </a:p>
        </p:txBody>
      </p:sp>
      <p:sp>
        <p:nvSpPr>
          <p:cNvPr id="43" name="Text 41"/>
          <p:cNvSpPr/>
          <p:nvPr/>
        </p:nvSpPr>
        <p:spPr>
          <a:xfrm>
            <a:off x="6263640" y="3017520"/>
            <a:ext cx="2423160" cy="749808"/>
          </a:xfrm>
          <a:prstGeom prst="rect">
            <a:avLst/>
          </a:prstGeom>
          <a:noFill/>
          <a:ln/>
        </p:spPr>
        <p:txBody>
          <a:bodyPr wrap="square" lIns="0" tIns="0" rIns="0" bIns="0" rtlCol="0" anchor="ctr"/>
          <a:lstStyle/>
          <a:p>
            <a:pPr marL="0" indent="0">
              <a:lnSpc>
                <a:spcPct val="130000"/>
              </a:lnSpc>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Ensemble of 100 decision trees. Typically the strongest performer because it reduces variance by averaging across many trees.</a:t>
            </a:r>
            <a:endParaRPr lang="en-US" sz="900" dirty="0">
              <a:latin typeface="Times New Roman" panose="02020603050405020304" pitchFamily="18" charset="0"/>
              <a:cs typeface="Times New Roman" panose="02020603050405020304" pitchFamily="18" charset="0"/>
            </a:endParaRPr>
          </a:p>
        </p:txBody>
      </p:sp>
      <p:sp>
        <p:nvSpPr>
          <p:cNvPr id="44" name="Text 42"/>
          <p:cNvSpPr/>
          <p:nvPr/>
        </p:nvSpPr>
        <p:spPr>
          <a:xfrm>
            <a:off x="6263640" y="3794760"/>
            <a:ext cx="2423160" cy="228600"/>
          </a:xfrm>
          <a:prstGeom prst="rect">
            <a:avLst/>
          </a:prstGeom>
          <a:noFill/>
          <a:ln/>
        </p:spPr>
        <p:txBody>
          <a:bodyPr wrap="square" lIns="0" tIns="0" rIns="0" bIns="0" rtlCol="0" anchor="ctr"/>
          <a:lstStyle/>
          <a:p>
            <a:pPr marL="0" indent="0">
              <a:buNone/>
            </a:pPr>
            <a:r>
              <a:rPr lang="en-US" sz="950" b="1" dirty="0">
                <a:solidFill>
                  <a:srgbClr val="5A6478"/>
                </a:solidFill>
                <a:latin typeface="Times New Roman" panose="02020603050405020304" pitchFamily="18" charset="0"/>
                <a:ea typeface="Calibri" pitchFamily="34" charset="-122"/>
                <a:cs typeface="Times New Roman" panose="02020603050405020304" pitchFamily="18" charset="0"/>
              </a:rPr>
              <a:t>Advantages</a:t>
            </a:r>
            <a:endParaRPr lang="en-US" sz="950" dirty="0">
              <a:latin typeface="Times New Roman" panose="02020603050405020304" pitchFamily="18" charset="0"/>
              <a:cs typeface="Times New Roman" panose="02020603050405020304" pitchFamily="18" charset="0"/>
            </a:endParaRPr>
          </a:p>
        </p:txBody>
      </p:sp>
      <p:sp>
        <p:nvSpPr>
          <p:cNvPr id="45" name="Text 43"/>
          <p:cNvSpPr/>
          <p:nvPr/>
        </p:nvSpPr>
        <p:spPr>
          <a:xfrm>
            <a:off x="6263640" y="4005072"/>
            <a:ext cx="2423160" cy="219456"/>
          </a:xfrm>
          <a:prstGeom prst="rect">
            <a:avLst/>
          </a:prstGeom>
          <a:noFill/>
          <a:ln/>
        </p:spPr>
        <p:txBody>
          <a:bodyPr wrap="square" lIns="0" tIns="0" rIns="0" bIns="0" rtlCol="0" anchor="ctr"/>
          <a:lstStyle/>
          <a:p>
            <a:pPr marL="0" indent="0">
              <a:buNone/>
            </a:pPr>
            <a:r>
              <a:rPr lang="en-US" sz="900" dirty="0">
                <a:solidFill>
                  <a:srgbClr val="217A3C"/>
                </a:solidFill>
                <a:latin typeface="Times New Roman" panose="02020603050405020304" pitchFamily="18" charset="0"/>
                <a:ea typeface="Calibri" pitchFamily="34" charset="-122"/>
                <a:cs typeface="Times New Roman" panose="02020603050405020304" pitchFamily="18" charset="0"/>
              </a:rPr>
              <a:t>✓  High accuracy</a:t>
            </a:r>
            <a:endParaRPr lang="en-US" sz="900" dirty="0">
              <a:latin typeface="Times New Roman" panose="02020603050405020304" pitchFamily="18" charset="0"/>
              <a:cs typeface="Times New Roman" panose="02020603050405020304" pitchFamily="18" charset="0"/>
            </a:endParaRPr>
          </a:p>
        </p:txBody>
      </p:sp>
      <p:sp>
        <p:nvSpPr>
          <p:cNvPr id="46" name="Text 44"/>
          <p:cNvSpPr/>
          <p:nvPr/>
        </p:nvSpPr>
        <p:spPr>
          <a:xfrm>
            <a:off x="6263640" y="4242816"/>
            <a:ext cx="2423160" cy="219456"/>
          </a:xfrm>
          <a:prstGeom prst="rect">
            <a:avLst/>
          </a:prstGeom>
          <a:noFill/>
          <a:ln/>
        </p:spPr>
        <p:txBody>
          <a:bodyPr wrap="square" lIns="0" tIns="0" rIns="0" bIns="0" rtlCol="0" anchor="ctr"/>
          <a:lstStyle/>
          <a:p>
            <a:pPr marL="0" indent="0">
              <a:buNone/>
            </a:pPr>
            <a:r>
              <a:rPr lang="en-US" sz="900" dirty="0">
                <a:solidFill>
                  <a:srgbClr val="217A3C"/>
                </a:solidFill>
                <a:latin typeface="Times New Roman" panose="02020603050405020304" pitchFamily="18" charset="0"/>
                <a:ea typeface="Calibri" pitchFamily="34" charset="-122"/>
                <a:cs typeface="Times New Roman" panose="02020603050405020304" pitchFamily="18" charset="0"/>
              </a:rPr>
              <a:t>✓  Handles imbalance well</a:t>
            </a:r>
            <a:endParaRPr lang="en-US" sz="900" dirty="0">
              <a:latin typeface="Times New Roman" panose="02020603050405020304" pitchFamily="18" charset="0"/>
              <a:cs typeface="Times New Roman" panose="02020603050405020304" pitchFamily="18" charset="0"/>
            </a:endParaRPr>
          </a:p>
        </p:txBody>
      </p:sp>
      <p:sp>
        <p:nvSpPr>
          <p:cNvPr id="47" name="Text 45"/>
          <p:cNvSpPr/>
          <p:nvPr/>
        </p:nvSpPr>
        <p:spPr>
          <a:xfrm>
            <a:off x="6263640" y="4480560"/>
            <a:ext cx="2423160" cy="219456"/>
          </a:xfrm>
          <a:prstGeom prst="rect">
            <a:avLst/>
          </a:prstGeom>
          <a:noFill/>
          <a:ln/>
        </p:spPr>
        <p:txBody>
          <a:bodyPr wrap="square" lIns="0" tIns="0" rIns="0" bIns="0" rtlCol="0" anchor="ctr"/>
          <a:lstStyle/>
          <a:p>
            <a:pPr marL="0" indent="0">
              <a:buNone/>
            </a:pPr>
            <a:r>
              <a:rPr lang="en-US" sz="900" dirty="0">
                <a:solidFill>
                  <a:srgbClr val="217A3C"/>
                </a:solidFill>
                <a:latin typeface="Times New Roman" panose="02020603050405020304" pitchFamily="18" charset="0"/>
                <a:ea typeface="Calibri" pitchFamily="34" charset="-122"/>
                <a:cs typeface="Times New Roman" panose="02020603050405020304" pitchFamily="18" charset="0"/>
              </a:rPr>
              <a:t>✓  Provides feature importance</a:t>
            </a:r>
            <a:endParaRPr lang="en-US" sz="900" dirty="0">
              <a:latin typeface="Times New Roman" panose="02020603050405020304" pitchFamily="18" charset="0"/>
              <a:cs typeface="Times New Roman" panose="02020603050405020304" pitchFamily="18" charset="0"/>
            </a:endParaRPr>
          </a:p>
        </p:txBody>
      </p:sp>
      <p:sp>
        <p:nvSpPr>
          <p:cNvPr id="48" name="Text 46"/>
          <p:cNvSpPr/>
          <p:nvPr/>
        </p:nvSpPr>
        <p:spPr>
          <a:xfrm>
            <a:off x="411480" y="4910328"/>
            <a:ext cx="8321040" cy="173736"/>
          </a:xfrm>
          <a:prstGeom prst="rect">
            <a:avLst/>
          </a:prstGeom>
          <a:noFill/>
          <a:ln/>
        </p:spPr>
        <p:txBody>
          <a:bodyPr wrap="square" rtlCol="0" anchor="ctr"/>
          <a:lstStyle/>
          <a:p>
            <a:pPr marL="0" indent="0">
              <a:buNone/>
            </a:pPr>
            <a:r>
              <a:rPr lang="en-US" sz="800" i="1" dirty="0">
                <a:solidFill>
                  <a:srgbClr val="5A6478"/>
                </a:solidFill>
                <a:latin typeface="Times New Roman" panose="02020603050405020304" pitchFamily="18" charset="0"/>
                <a:ea typeface="Calibri" pitchFamily="34" charset="-122"/>
                <a:cs typeface="Times New Roman" panose="02020603050405020304" pitchFamily="18" charset="0"/>
              </a:rPr>
              <a:t>(Muhammad et al., 2019; Appelbaum et al., 2021; Placido et al., 2023)</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8" name="Text 6"/>
          <p:cNvSpPr/>
          <p:nvPr/>
        </p:nvSpPr>
        <p:spPr>
          <a:xfrm>
            <a:off x="1618488" y="1307592"/>
            <a:ext cx="87637" cy="411480"/>
          </a:xfrm>
          <a:prstGeom prst="rect">
            <a:avLst/>
          </a:prstGeom>
          <a:noFill/>
          <a:ln/>
        </p:spPr>
        <p:txBody>
          <a:bodyPr wrap="square" lIns="0" tIns="0" rIns="0" bIns="0" rtlCol="0" anchor="ctr"/>
          <a:lstStyle/>
          <a:p>
            <a:pPr marL="0" indent="0" algn="ctr">
              <a:buNone/>
            </a:pPr>
            <a:r>
              <a:rPr lang="en-US" sz="1800" dirty="0">
                <a:solidFill>
                  <a:srgbClr val="1B3A6B"/>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1" name="Text 9"/>
          <p:cNvSpPr/>
          <p:nvPr/>
        </p:nvSpPr>
        <p:spPr>
          <a:xfrm>
            <a:off x="3063240" y="1307592"/>
            <a:ext cx="87637" cy="411480"/>
          </a:xfrm>
          <a:prstGeom prst="rect">
            <a:avLst/>
          </a:prstGeom>
          <a:noFill/>
          <a:ln/>
        </p:spPr>
        <p:txBody>
          <a:bodyPr wrap="square" lIns="0" tIns="0" rIns="0" bIns="0" rtlCol="0" anchor="ctr"/>
          <a:lstStyle/>
          <a:p>
            <a:pPr marL="0" indent="0" algn="ctr">
              <a:buNone/>
            </a:pPr>
            <a:r>
              <a:rPr lang="en-US" sz="1800" dirty="0">
                <a:solidFill>
                  <a:srgbClr val="1B3A6B"/>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4" name="Text 12"/>
          <p:cNvSpPr/>
          <p:nvPr/>
        </p:nvSpPr>
        <p:spPr>
          <a:xfrm>
            <a:off x="4507992" y="1307592"/>
            <a:ext cx="87637" cy="411480"/>
          </a:xfrm>
          <a:prstGeom prst="rect">
            <a:avLst/>
          </a:prstGeom>
          <a:noFill/>
          <a:ln/>
        </p:spPr>
        <p:txBody>
          <a:bodyPr wrap="square" lIns="0" tIns="0" rIns="0" bIns="0" rtlCol="0" anchor="ctr"/>
          <a:lstStyle/>
          <a:p>
            <a:pPr marL="0" indent="0" algn="ctr">
              <a:buNone/>
            </a:pPr>
            <a:r>
              <a:rPr lang="en-US" sz="1800" dirty="0">
                <a:solidFill>
                  <a:srgbClr val="1B3A6B"/>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7" name="Text 15"/>
          <p:cNvSpPr/>
          <p:nvPr/>
        </p:nvSpPr>
        <p:spPr>
          <a:xfrm>
            <a:off x="5952744" y="1307592"/>
            <a:ext cx="87637" cy="411480"/>
          </a:xfrm>
          <a:prstGeom prst="rect">
            <a:avLst/>
          </a:prstGeom>
          <a:noFill/>
          <a:ln/>
        </p:spPr>
        <p:txBody>
          <a:bodyPr wrap="square" lIns="0" tIns="0" rIns="0" bIns="0" rtlCol="0" anchor="ctr"/>
          <a:lstStyle/>
          <a:p>
            <a:pPr marL="0" indent="0" algn="ctr">
              <a:buNone/>
            </a:pPr>
            <a:r>
              <a:rPr lang="en-US" sz="1800" dirty="0">
                <a:solidFill>
                  <a:srgbClr val="1B3A6B"/>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0" name="Text 18"/>
          <p:cNvSpPr/>
          <p:nvPr/>
        </p:nvSpPr>
        <p:spPr>
          <a:xfrm>
            <a:off x="7397496" y="1307592"/>
            <a:ext cx="87637" cy="411480"/>
          </a:xfrm>
          <a:prstGeom prst="rect">
            <a:avLst/>
          </a:prstGeom>
          <a:noFill/>
          <a:ln/>
        </p:spPr>
        <p:txBody>
          <a:bodyPr wrap="square" lIns="0" tIns="0" rIns="0" bIns="0" rtlCol="0" anchor="ctr"/>
          <a:lstStyle/>
          <a:p>
            <a:pPr marL="0" indent="0" algn="ctr">
              <a:buNone/>
            </a:pPr>
            <a:r>
              <a:rPr lang="en-US" sz="1800" dirty="0">
                <a:solidFill>
                  <a:srgbClr val="1B3A6B"/>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MODEL TRAINING &amp; VALIDATION</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40080"/>
            <a:ext cx="8321040" cy="320040"/>
          </a:xfrm>
          <a:prstGeom prst="rect">
            <a:avLst/>
          </a:prstGeom>
          <a:noFill/>
          <a:ln/>
        </p:spPr>
        <p:txBody>
          <a:bodyPr wrap="square"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10-Fold Stratified Cross-Validation on Training Set</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320040" y="1078992"/>
            <a:ext cx="1298448" cy="841248"/>
          </a:xfrm>
          <a:prstGeom prst="roundRect">
            <a:avLst>
              <a:gd name="adj" fmla="val 7609"/>
            </a:avLst>
          </a:prstGeom>
          <a:solidFill>
            <a:srgbClr val="1B3A6B"/>
          </a:solidFill>
          <a:ln w="12700">
            <a:solidFill>
              <a:srgbClr val="1B3A6B"/>
            </a:solidFill>
            <a:prstDash val="solid"/>
          </a:ln>
        </p:spPr>
      </p:sp>
      <p:sp>
        <p:nvSpPr>
          <p:cNvPr id="7" name="Text 5"/>
          <p:cNvSpPr/>
          <p:nvPr/>
        </p:nvSpPr>
        <p:spPr>
          <a:xfrm>
            <a:off x="320040" y="1078992"/>
            <a:ext cx="1298448" cy="841248"/>
          </a:xfrm>
          <a:prstGeom prst="rect">
            <a:avLst/>
          </a:prstGeom>
          <a:noFill/>
          <a:ln/>
        </p:spPr>
        <p:txBody>
          <a:bodyPr wrap="square" lIns="0" tIns="0" rIns="0" bIns="0" rtlCol="0" anchor="ctr"/>
          <a:lstStyle/>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50,000</a:t>
            </a:r>
            <a:endParaRPr lang="en-US" sz="1000" dirty="0">
              <a:latin typeface="Times New Roman" panose="02020603050405020304" pitchFamily="18" charset="0"/>
              <a:cs typeface="Times New Roman" panose="02020603050405020304" pitchFamily="18" charset="0"/>
            </a:endParaRPr>
          </a:p>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Row Dataset</a:t>
            </a:r>
            <a:endParaRPr lang="en-US" sz="1000" dirty="0">
              <a:latin typeface="Times New Roman" panose="02020603050405020304" pitchFamily="18" charset="0"/>
              <a:cs typeface="Times New Roman" panose="02020603050405020304" pitchFamily="18" charset="0"/>
            </a:endParaRPr>
          </a:p>
        </p:txBody>
      </p:sp>
      <p:sp>
        <p:nvSpPr>
          <p:cNvPr id="9" name="Shape 7"/>
          <p:cNvSpPr/>
          <p:nvPr/>
        </p:nvSpPr>
        <p:spPr>
          <a:xfrm>
            <a:off x="1764792" y="1078992"/>
            <a:ext cx="1298448" cy="841248"/>
          </a:xfrm>
          <a:prstGeom prst="roundRect">
            <a:avLst>
              <a:gd name="adj" fmla="val 7609"/>
            </a:avLst>
          </a:prstGeom>
          <a:solidFill>
            <a:srgbClr val="2E6DB4"/>
          </a:solidFill>
          <a:ln w="12700">
            <a:solidFill>
              <a:srgbClr val="2E6DB4"/>
            </a:solidFill>
            <a:prstDash val="solid"/>
          </a:ln>
        </p:spPr>
      </p:sp>
      <p:sp>
        <p:nvSpPr>
          <p:cNvPr id="10" name="Text 8"/>
          <p:cNvSpPr/>
          <p:nvPr/>
        </p:nvSpPr>
        <p:spPr>
          <a:xfrm>
            <a:off x="1764792" y="1078992"/>
            <a:ext cx="1298448" cy="841248"/>
          </a:xfrm>
          <a:prstGeom prst="rect">
            <a:avLst/>
          </a:prstGeom>
          <a:noFill/>
          <a:ln/>
        </p:spPr>
        <p:txBody>
          <a:bodyPr wrap="square" lIns="0" tIns="0" rIns="0" bIns="0" rtlCol="0" anchor="ctr"/>
          <a:lstStyle/>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80% Train</a:t>
            </a:r>
            <a:endParaRPr lang="en-US" sz="1000" dirty="0">
              <a:latin typeface="Times New Roman" panose="02020603050405020304" pitchFamily="18" charset="0"/>
              <a:cs typeface="Times New Roman" panose="02020603050405020304" pitchFamily="18" charset="0"/>
            </a:endParaRPr>
          </a:p>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40,000 rows</a:t>
            </a:r>
            <a:endParaRPr lang="en-US" sz="1000" dirty="0">
              <a:latin typeface="Times New Roman" panose="02020603050405020304" pitchFamily="18" charset="0"/>
              <a:cs typeface="Times New Roman" panose="02020603050405020304" pitchFamily="18" charset="0"/>
            </a:endParaRPr>
          </a:p>
        </p:txBody>
      </p:sp>
      <p:sp>
        <p:nvSpPr>
          <p:cNvPr id="12" name="Shape 10"/>
          <p:cNvSpPr/>
          <p:nvPr/>
        </p:nvSpPr>
        <p:spPr>
          <a:xfrm>
            <a:off x="3209544" y="1078992"/>
            <a:ext cx="1298448" cy="841248"/>
          </a:xfrm>
          <a:prstGeom prst="roundRect">
            <a:avLst>
              <a:gd name="adj" fmla="val 7609"/>
            </a:avLst>
          </a:prstGeom>
          <a:solidFill>
            <a:srgbClr val="217A3C"/>
          </a:solidFill>
          <a:ln w="12700">
            <a:solidFill>
              <a:srgbClr val="217A3C"/>
            </a:solidFill>
            <a:prstDash val="solid"/>
          </a:ln>
        </p:spPr>
      </p:sp>
      <p:sp>
        <p:nvSpPr>
          <p:cNvPr id="13" name="Text 11"/>
          <p:cNvSpPr/>
          <p:nvPr/>
        </p:nvSpPr>
        <p:spPr>
          <a:xfrm>
            <a:off x="3209544" y="1078992"/>
            <a:ext cx="1298448" cy="841248"/>
          </a:xfrm>
          <a:prstGeom prst="rect">
            <a:avLst/>
          </a:prstGeom>
          <a:noFill/>
          <a:ln/>
        </p:spPr>
        <p:txBody>
          <a:bodyPr wrap="square" lIns="0" tIns="0" rIns="0" bIns="0" rtlCol="0" anchor="ctr"/>
          <a:lstStyle/>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10-Fold</a:t>
            </a:r>
            <a:endParaRPr lang="en-US" sz="1000" dirty="0">
              <a:latin typeface="Times New Roman" panose="02020603050405020304" pitchFamily="18" charset="0"/>
              <a:cs typeface="Times New Roman" panose="02020603050405020304" pitchFamily="18" charset="0"/>
            </a:endParaRPr>
          </a:p>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Stratified CV</a:t>
            </a:r>
            <a:endParaRPr lang="en-US" sz="1000" dirty="0">
              <a:latin typeface="Times New Roman" panose="02020603050405020304" pitchFamily="18" charset="0"/>
              <a:cs typeface="Times New Roman" panose="02020603050405020304" pitchFamily="18" charset="0"/>
            </a:endParaRPr>
          </a:p>
        </p:txBody>
      </p:sp>
      <p:sp>
        <p:nvSpPr>
          <p:cNvPr id="15" name="Shape 13"/>
          <p:cNvSpPr/>
          <p:nvPr/>
        </p:nvSpPr>
        <p:spPr>
          <a:xfrm>
            <a:off x="4654296" y="1078992"/>
            <a:ext cx="1298448" cy="841248"/>
          </a:xfrm>
          <a:prstGeom prst="roundRect">
            <a:avLst>
              <a:gd name="adj" fmla="val 7609"/>
            </a:avLst>
          </a:prstGeom>
          <a:solidFill>
            <a:srgbClr val="7B3FA0"/>
          </a:solidFill>
          <a:ln w="12700">
            <a:solidFill>
              <a:srgbClr val="7B3FA0"/>
            </a:solidFill>
            <a:prstDash val="solid"/>
          </a:ln>
        </p:spPr>
      </p:sp>
      <p:sp>
        <p:nvSpPr>
          <p:cNvPr id="16" name="Text 14"/>
          <p:cNvSpPr/>
          <p:nvPr/>
        </p:nvSpPr>
        <p:spPr>
          <a:xfrm>
            <a:off x="4654296" y="1078992"/>
            <a:ext cx="1298448" cy="841248"/>
          </a:xfrm>
          <a:prstGeom prst="rect">
            <a:avLst/>
          </a:prstGeom>
          <a:noFill/>
          <a:ln/>
        </p:spPr>
        <p:txBody>
          <a:bodyPr wrap="square" lIns="0" tIns="0" rIns="0" bIns="0" rtlCol="0" anchor="ctr"/>
          <a:lstStyle/>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Model</a:t>
            </a:r>
            <a:endParaRPr lang="en-US" sz="1000" dirty="0">
              <a:latin typeface="Times New Roman" panose="02020603050405020304" pitchFamily="18" charset="0"/>
              <a:cs typeface="Times New Roman" panose="02020603050405020304" pitchFamily="18" charset="0"/>
            </a:endParaRPr>
          </a:p>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Training</a:t>
            </a:r>
            <a:endParaRPr lang="en-US" sz="1000" dirty="0">
              <a:latin typeface="Times New Roman" panose="02020603050405020304" pitchFamily="18" charset="0"/>
              <a:cs typeface="Times New Roman" panose="02020603050405020304" pitchFamily="18" charset="0"/>
            </a:endParaRPr>
          </a:p>
        </p:txBody>
      </p:sp>
      <p:sp>
        <p:nvSpPr>
          <p:cNvPr id="18" name="Shape 16"/>
          <p:cNvSpPr/>
          <p:nvPr/>
        </p:nvSpPr>
        <p:spPr>
          <a:xfrm>
            <a:off x="6099048" y="1078992"/>
            <a:ext cx="1298448" cy="841248"/>
          </a:xfrm>
          <a:prstGeom prst="roundRect">
            <a:avLst>
              <a:gd name="adj" fmla="val 7609"/>
            </a:avLst>
          </a:prstGeom>
          <a:solidFill>
            <a:srgbClr val="B8520A"/>
          </a:solidFill>
          <a:ln w="12700">
            <a:solidFill>
              <a:srgbClr val="B8520A"/>
            </a:solidFill>
            <a:prstDash val="solid"/>
          </a:ln>
        </p:spPr>
      </p:sp>
      <p:sp>
        <p:nvSpPr>
          <p:cNvPr id="19" name="Text 17"/>
          <p:cNvSpPr/>
          <p:nvPr/>
        </p:nvSpPr>
        <p:spPr>
          <a:xfrm>
            <a:off x="6099048" y="1078992"/>
            <a:ext cx="1298448" cy="841248"/>
          </a:xfrm>
          <a:prstGeom prst="rect">
            <a:avLst/>
          </a:prstGeom>
          <a:noFill/>
          <a:ln/>
        </p:spPr>
        <p:txBody>
          <a:bodyPr wrap="square" lIns="0" tIns="0" rIns="0" bIns="0" rtlCol="0" anchor="ctr"/>
          <a:lstStyle/>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20% Test</a:t>
            </a:r>
            <a:endParaRPr lang="en-US" sz="1000" dirty="0">
              <a:latin typeface="Times New Roman" panose="02020603050405020304" pitchFamily="18" charset="0"/>
              <a:cs typeface="Times New Roman" panose="02020603050405020304" pitchFamily="18" charset="0"/>
            </a:endParaRPr>
          </a:p>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10,000 rows</a:t>
            </a:r>
            <a:endParaRPr lang="en-US" sz="1000" dirty="0">
              <a:latin typeface="Times New Roman" panose="02020603050405020304" pitchFamily="18" charset="0"/>
              <a:cs typeface="Times New Roman" panose="02020603050405020304" pitchFamily="18" charset="0"/>
            </a:endParaRPr>
          </a:p>
        </p:txBody>
      </p:sp>
      <p:sp>
        <p:nvSpPr>
          <p:cNvPr id="21" name="Shape 19"/>
          <p:cNvSpPr/>
          <p:nvPr/>
        </p:nvSpPr>
        <p:spPr>
          <a:xfrm>
            <a:off x="7543800" y="1078992"/>
            <a:ext cx="1298448" cy="841248"/>
          </a:xfrm>
          <a:prstGeom prst="roundRect">
            <a:avLst>
              <a:gd name="adj" fmla="val 7609"/>
            </a:avLst>
          </a:prstGeom>
          <a:solidFill>
            <a:srgbClr val="B81C1C"/>
          </a:solidFill>
          <a:ln w="12700">
            <a:solidFill>
              <a:srgbClr val="B81C1C"/>
            </a:solidFill>
            <a:prstDash val="solid"/>
          </a:ln>
        </p:spPr>
      </p:sp>
      <p:sp>
        <p:nvSpPr>
          <p:cNvPr id="22" name="Text 20"/>
          <p:cNvSpPr/>
          <p:nvPr/>
        </p:nvSpPr>
        <p:spPr>
          <a:xfrm>
            <a:off x="7543800" y="1078992"/>
            <a:ext cx="1298448" cy="841248"/>
          </a:xfrm>
          <a:prstGeom prst="rect">
            <a:avLst/>
          </a:prstGeom>
          <a:noFill/>
          <a:ln/>
        </p:spPr>
        <p:txBody>
          <a:bodyPr wrap="square" lIns="0" tIns="0" rIns="0" bIns="0" rtlCol="0" anchor="ctr"/>
          <a:lstStyle/>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Final</a:t>
            </a:r>
            <a:endParaRPr lang="en-US" sz="1000" dirty="0">
              <a:latin typeface="Times New Roman" panose="02020603050405020304" pitchFamily="18" charset="0"/>
              <a:cs typeface="Times New Roman" panose="02020603050405020304" pitchFamily="18" charset="0"/>
            </a:endParaRPr>
          </a:p>
          <a:p>
            <a:pPr marL="0" indent="0" algn="ctr">
              <a:lnSpc>
                <a:spcPct val="12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Evaluation</a:t>
            </a:r>
            <a:endParaRPr lang="en-US" sz="1000" dirty="0">
              <a:latin typeface="Times New Roman" panose="02020603050405020304" pitchFamily="18" charset="0"/>
              <a:cs typeface="Times New Roman" panose="02020603050405020304" pitchFamily="18" charset="0"/>
            </a:endParaRPr>
          </a:p>
        </p:txBody>
      </p:sp>
      <p:sp>
        <p:nvSpPr>
          <p:cNvPr id="23" name="Text 21"/>
          <p:cNvSpPr/>
          <p:nvPr/>
        </p:nvSpPr>
        <p:spPr>
          <a:xfrm>
            <a:off x="411480" y="2057400"/>
            <a:ext cx="4297680" cy="274320"/>
          </a:xfrm>
          <a:prstGeom prst="rect">
            <a:avLst/>
          </a:prstGeom>
          <a:noFill/>
          <a:ln/>
        </p:spPr>
        <p:txBody>
          <a:bodyPr wrap="square"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Cross-Validation Accuracy (Training Set)</a:t>
            </a:r>
            <a:endParaRPr lang="en-US" sz="1100" dirty="0">
              <a:latin typeface="Times New Roman" panose="02020603050405020304" pitchFamily="18" charset="0"/>
              <a:cs typeface="Times New Roman" panose="02020603050405020304" pitchFamily="18" charset="0"/>
            </a:endParaRPr>
          </a:p>
        </p:txBody>
      </p:sp>
      <p:pic>
        <p:nvPicPr>
          <p:cNvPr id="24" name="Image 0" descr="preencoded.png"/>
          <p:cNvPicPr>
            <a:picLocks noChangeAspect="1"/>
          </p:cNvPicPr>
          <p:nvPr/>
        </p:nvPicPr>
        <p:blipFill>
          <a:blip r:embed="rId3"/>
          <a:stretch>
            <a:fillRect/>
          </a:stretch>
        </p:blipFill>
        <p:spPr>
          <a:xfrm>
            <a:off x="411480" y="2377440"/>
            <a:ext cx="4297680" cy="1920240"/>
          </a:xfrm>
          <a:prstGeom prst="rect">
            <a:avLst/>
          </a:prstGeom>
        </p:spPr>
      </p:pic>
      <p:sp>
        <p:nvSpPr>
          <p:cNvPr id="25" name="Text 22"/>
          <p:cNvSpPr/>
          <p:nvPr/>
        </p:nvSpPr>
        <p:spPr>
          <a:xfrm>
            <a:off x="4937760" y="2057400"/>
            <a:ext cx="3794760" cy="274320"/>
          </a:xfrm>
          <a:prstGeom prst="rect">
            <a:avLst/>
          </a:prstGeom>
          <a:noFill/>
          <a:ln/>
        </p:spPr>
        <p:txBody>
          <a:bodyPr wrap="square"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Per-Fold Accuracy Across 10 Folds</a:t>
            </a:r>
            <a:endParaRPr lang="en-US" sz="1100" dirty="0">
              <a:latin typeface="Times New Roman" panose="02020603050405020304" pitchFamily="18" charset="0"/>
              <a:cs typeface="Times New Roman" panose="02020603050405020304" pitchFamily="18" charset="0"/>
            </a:endParaRPr>
          </a:p>
        </p:txBody>
      </p:sp>
      <p:pic>
        <p:nvPicPr>
          <p:cNvPr id="26" name="Image 1" descr="preencoded.png"/>
          <p:cNvPicPr>
            <a:picLocks noChangeAspect="1"/>
          </p:cNvPicPr>
          <p:nvPr/>
        </p:nvPicPr>
        <p:blipFill>
          <a:blip r:embed="rId4"/>
          <a:stretch>
            <a:fillRect/>
          </a:stretch>
        </p:blipFill>
        <p:spPr>
          <a:xfrm>
            <a:off x="4937760" y="2377440"/>
            <a:ext cx="3794760" cy="1920240"/>
          </a:xfrm>
          <a:prstGeom prst="rect">
            <a:avLst/>
          </a:prstGeom>
        </p:spPr>
      </p:pic>
      <p:sp>
        <p:nvSpPr>
          <p:cNvPr id="27" name="Shape 23"/>
          <p:cNvSpPr/>
          <p:nvPr/>
        </p:nvSpPr>
        <p:spPr>
          <a:xfrm>
            <a:off x="411480" y="4370832"/>
            <a:ext cx="8321040" cy="658368"/>
          </a:xfrm>
          <a:prstGeom prst="roundRect">
            <a:avLst>
              <a:gd name="adj" fmla="val 13889"/>
            </a:avLst>
          </a:prstGeom>
          <a:solidFill>
            <a:srgbClr val="E8F0FB"/>
          </a:solidFill>
          <a:ln w="9525">
            <a:solidFill>
              <a:srgbClr val="C8D8EE"/>
            </a:solidFill>
            <a:prstDash val="solid"/>
          </a:ln>
          <a:effectLst>
            <a:outerShdw blurRad="101600" dist="25400" dir="2700000" algn="bl" rotWithShape="0">
              <a:srgbClr val="000000">
                <a:alpha val="10000"/>
              </a:srgbClr>
            </a:outerShdw>
          </a:effectLst>
        </p:spPr>
      </p:sp>
      <p:sp>
        <p:nvSpPr>
          <p:cNvPr id="28" name="Text 24"/>
          <p:cNvSpPr/>
          <p:nvPr/>
        </p:nvSpPr>
        <p:spPr>
          <a:xfrm>
            <a:off x="594360" y="4480560"/>
            <a:ext cx="7955280" cy="502920"/>
          </a:xfrm>
          <a:prstGeom prst="rect">
            <a:avLst/>
          </a:prstGeom>
          <a:noFill/>
          <a:ln/>
        </p:spPr>
        <p:txBody>
          <a:bodyPr wrap="square" rtlCol="0" anchor="ctr"/>
          <a:lstStyle/>
          <a:p>
            <a:pPr marL="0" indent="0">
              <a:lnSpc>
                <a:spcPct val="130000"/>
              </a:lnSpc>
              <a:buNone/>
            </a:pPr>
            <a:r>
              <a:rPr lang="en-US" sz="1050" b="1" dirty="0">
                <a:solidFill>
                  <a:srgbClr val="1B3A6B"/>
                </a:solidFill>
                <a:latin typeface="Times New Roman" panose="02020603050405020304" pitchFamily="18" charset="0"/>
                <a:ea typeface="Calibri" pitchFamily="34" charset="-122"/>
                <a:cs typeface="Times New Roman" panose="02020603050405020304" pitchFamily="18" charset="0"/>
              </a:rPr>
              <a:t>Cross-Validation Summary: </a:t>
            </a:r>
            <a:r>
              <a:rPr lang="en-US" sz="1050" dirty="0">
                <a:solidFill>
                  <a:srgbClr val="1A1A2E"/>
                </a:solidFill>
                <a:latin typeface="Times New Roman" panose="02020603050405020304" pitchFamily="18" charset="0"/>
                <a:ea typeface="Calibri" pitchFamily="34" charset="-122"/>
                <a:cs typeface="Times New Roman" panose="02020603050405020304" pitchFamily="18" charset="0"/>
              </a:rPr>
              <a:t>StratifiedKFold(n_splits=10, shuffle=True, random_state=42) was applied on the training set. Each fold preserves the original class proportions. Random Forest showed the most stable accuracy across folds.</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MODEL EVALUATION - TEST SET RESULTS</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40080"/>
            <a:ext cx="8321040" cy="320040"/>
          </a:xfrm>
          <a:prstGeom prst="rect">
            <a:avLst/>
          </a:prstGeom>
          <a:noFill/>
          <a:ln/>
        </p:spPr>
        <p:txBody>
          <a:bodyPr wrap="square"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Metrics: Accuracy · Precision · Recall · F1-Score · ROC-AUC</a:t>
            </a:r>
            <a:endParaRPr lang="en-US" sz="1300" dirty="0">
              <a:latin typeface="Times New Roman" panose="02020603050405020304" pitchFamily="18" charset="0"/>
              <a:cs typeface="Times New Roman" panose="02020603050405020304" pitchFamily="18" charset="0"/>
            </a:endParaRPr>
          </a:p>
        </p:txBody>
      </p:sp>
      <p:graphicFrame>
        <p:nvGraphicFramePr>
          <p:cNvPr id="11" name="Table 0"/>
          <p:cNvGraphicFramePr>
            <a:graphicFrameLocks noGrp="1"/>
          </p:cNvGraphicFramePr>
          <p:nvPr>
            <p:extLst>
              <p:ext uri="{D42A27DB-BD31-4B8C-83A1-F6EECF244321}">
                <p14:modId xmlns:p14="http://schemas.microsoft.com/office/powerpoint/2010/main" val="2439447007"/>
              </p:ext>
            </p:extLst>
          </p:nvPr>
        </p:nvGraphicFramePr>
        <p:xfrm>
          <a:off x="411480" y="1051560"/>
          <a:ext cx="8321040" cy="1097280"/>
        </p:xfrm>
        <a:graphic>
          <a:graphicData uri="http://schemas.openxmlformats.org/drawingml/2006/table">
            <a:tbl>
              <a:tblPr/>
              <a:tblGrid>
                <a:gridCol w="24688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274320">
                <a:tc>
                  <a:txBody>
                    <a:bodyPr/>
                    <a:lstStyle/>
                    <a:p>
                      <a:pPr marL="0" indent="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Model</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Accuracy</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Precision</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Recall</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F1-Score</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ROC-AUC</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74320">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Logistic Regression</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54.35%</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53.58%</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54.35%</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53.84%</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0.8097</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Decision Tree</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67.13%</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66.78%</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67.13%</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64.87%</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0.8406</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100" b="1" dirty="0">
                          <a:solidFill>
                            <a:srgbClr val="217A3C"/>
                          </a:solidFill>
                          <a:latin typeface="Times New Roman" panose="02020603050405020304" pitchFamily="18" charset="0"/>
                          <a:ea typeface="Calibri" pitchFamily="34" charset="-122"/>
                          <a:cs typeface="Times New Roman" panose="02020603050405020304" pitchFamily="18" charset="0"/>
                        </a:rPr>
                        <a:t>Random Forest </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b="1" dirty="0">
                          <a:solidFill>
                            <a:srgbClr val="217A3C"/>
                          </a:solidFill>
                          <a:latin typeface="Times New Roman" panose="02020603050405020304" pitchFamily="18" charset="0"/>
                          <a:ea typeface="Calibri" pitchFamily="34" charset="-122"/>
                          <a:cs typeface="Times New Roman" panose="02020603050405020304" pitchFamily="18" charset="0"/>
                        </a:rPr>
                        <a:t>68.35%</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b="1" dirty="0">
                          <a:solidFill>
                            <a:srgbClr val="217A3C"/>
                          </a:solidFill>
                          <a:latin typeface="Times New Roman" panose="02020603050405020304" pitchFamily="18" charset="0"/>
                          <a:ea typeface="Calibri" pitchFamily="34" charset="-122"/>
                          <a:cs typeface="Times New Roman" panose="02020603050405020304" pitchFamily="18" charset="0"/>
                        </a:rPr>
                        <a:t>68.62%</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b="1" dirty="0">
                          <a:solidFill>
                            <a:srgbClr val="217A3C"/>
                          </a:solidFill>
                          <a:latin typeface="Times New Roman" panose="02020603050405020304" pitchFamily="18" charset="0"/>
                          <a:ea typeface="Calibri" pitchFamily="34" charset="-122"/>
                          <a:cs typeface="Times New Roman" panose="02020603050405020304" pitchFamily="18" charset="0"/>
                        </a:rPr>
                        <a:t>68.35%</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b="1" dirty="0">
                          <a:solidFill>
                            <a:srgbClr val="217A3C"/>
                          </a:solidFill>
                          <a:latin typeface="Times New Roman" panose="02020603050405020304" pitchFamily="18" charset="0"/>
                          <a:ea typeface="Calibri" pitchFamily="34" charset="-122"/>
                          <a:cs typeface="Times New Roman" panose="02020603050405020304" pitchFamily="18" charset="0"/>
                        </a:rPr>
                        <a:t>66.19%</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tc>
                  <a:txBody>
                    <a:bodyPr/>
                    <a:lstStyle/>
                    <a:p>
                      <a:pPr marL="0" indent="0">
                        <a:buNone/>
                      </a:pPr>
                      <a:r>
                        <a:rPr lang="en-US" sz="1100" b="1" dirty="0">
                          <a:solidFill>
                            <a:srgbClr val="217A3C"/>
                          </a:solidFill>
                          <a:latin typeface="Times New Roman" panose="02020603050405020304" pitchFamily="18" charset="0"/>
                          <a:ea typeface="Calibri" pitchFamily="34" charset="-122"/>
                          <a:cs typeface="Times New Roman" panose="02020603050405020304" pitchFamily="18" charset="0"/>
                        </a:rPr>
                        <a:t>0.8471 </a:t>
                      </a:r>
                      <a:endParaRPr lang="en-US" sz="11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8D8EE"/>
                      </a:solidFill>
                      <a:prstDash val="solid"/>
                      <a:round/>
                      <a:headEnd type="none" w="med" len="med"/>
                      <a:tailEnd type="none" w="med" len="med"/>
                    </a:lnL>
                    <a:lnR w="6350" cap="flat" cmpd="sng" algn="ctr">
                      <a:solidFill>
                        <a:srgbClr val="C8D8EE"/>
                      </a:solidFill>
                      <a:prstDash val="solid"/>
                      <a:round/>
                      <a:headEnd type="none" w="med" len="med"/>
                      <a:tailEnd type="none" w="med" len="med"/>
                    </a:lnR>
                    <a:lnT w="6350" cap="flat" cmpd="sng" algn="ctr">
                      <a:solidFill>
                        <a:srgbClr val="C8D8EE"/>
                      </a:solidFill>
                      <a:prstDash val="solid"/>
                      <a:round/>
                      <a:headEnd type="none" w="med" len="med"/>
                      <a:tailEnd type="none" w="med" len="med"/>
                    </a:lnT>
                    <a:lnB w="6350" cap="flat" cmpd="sng" algn="ctr">
                      <a:solidFill>
                        <a:srgbClr val="C8D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1164446" y="2267712"/>
            <a:ext cx="5029200" cy="256032"/>
          </a:xfrm>
          <a:prstGeom prst="rect">
            <a:avLst/>
          </a:prstGeom>
          <a:noFill/>
          <a:ln/>
        </p:spPr>
        <p:txBody>
          <a:bodyPr wrap="square"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All Metrics Comparison</a:t>
            </a:r>
            <a:endParaRPr lang="en-US" sz="1100" dirty="0">
              <a:latin typeface="Times New Roman" panose="02020603050405020304" pitchFamily="18" charset="0"/>
              <a:cs typeface="Times New Roman" panose="02020603050405020304" pitchFamily="18" charset="0"/>
            </a:endParaRPr>
          </a:p>
        </p:txBody>
      </p:sp>
      <p:pic>
        <p:nvPicPr>
          <p:cNvPr id="8" name="Image 0" descr="preencoded.png"/>
          <p:cNvPicPr>
            <a:picLocks noChangeAspect="1"/>
          </p:cNvPicPr>
          <p:nvPr/>
        </p:nvPicPr>
        <p:blipFill>
          <a:blip r:embed="rId3"/>
          <a:stretch>
            <a:fillRect/>
          </a:stretch>
        </p:blipFill>
        <p:spPr>
          <a:xfrm>
            <a:off x="136352" y="2523744"/>
            <a:ext cx="3804470" cy="2331720"/>
          </a:xfrm>
          <a:prstGeom prst="rect">
            <a:avLst/>
          </a:prstGeom>
        </p:spPr>
      </p:pic>
      <p:sp>
        <p:nvSpPr>
          <p:cNvPr id="9" name="Text 5"/>
          <p:cNvSpPr/>
          <p:nvPr/>
        </p:nvSpPr>
        <p:spPr>
          <a:xfrm>
            <a:off x="5262655" y="2267712"/>
            <a:ext cx="3200400" cy="256032"/>
          </a:xfrm>
          <a:prstGeom prst="rect">
            <a:avLst/>
          </a:prstGeom>
          <a:noFill/>
          <a:ln/>
        </p:spPr>
        <p:txBody>
          <a:bodyPr wrap="square"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Confusion Matrices (All 3 Models)</a:t>
            </a:r>
            <a:endParaRPr lang="en-US" sz="1100" dirty="0">
              <a:latin typeface="Times New Roman" panose="02020603050405020304" pitchFamily="18" charset="0"/>
              <a:cs typeface="Times New Roman" panose="02020603050405020304" pitchFamily="18" charset="0"/>
            </a:endParaRPr>
          </a:p>
        </p:txBody>
      </p:sp>
      <p:pic>
        <p:nvPicPr>
          <p:cNvPr id="10" name="Image 1" descr="preencoded.png"/>
          <p:cNvPicPr>
            <a:picLocks noChangeAspect="1"/>
          </p:cNvPicPr>
          <p:nvPr/>
        </p:nvPicPr>
        <p:blipFill>
          <a:blip r:embed="rId4"/>
          <a:stretch>
            <a:fillRect/>
          </a:stretch>
        </p:blipFill>
        <p:spPr>
          <a:xfrm>
            <a:off x="3940822" y="2560320"/>
            <a:ext cx="4837419" cy="23317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RESULTS &amp; KEY FINDINGS</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40080"/>
            <a:ext cx="8321040" cy="347472"/>
          </a:xfrm>
          <a:prstGeom prst="rect">
            <a:avLst/>
          </a:prstGeom>
          <a:noFill/>
          <a:ln/>
        </p:spPr>
        <p:txBody>
          <a:bodyPr wrap="square" rtlCol="0" anchor="ctr"/>
          <a:lstStyle/>
          <a:p>
            <a:pPr marL="0" indent="0">
              <a:buNone/>
            </a:pPr>
            <a:r>
              <a:rPr lang="en-US" sz="1600" b="1" dirty="0">
                <a:solidFill>
                  <a:srgbClr val="1B3A6B"/>
                </a:solidFill>
                <a:latin typeface="Times New Roman" panose="02020603050405020304" pitchFamily="18" charset="0"/>
                <a:ea typeface="Calibri" pitchFamily="34" charset="-122"/>
                <a:cs typeface="Times New Roman" panose="02020603050405020304" pitchFamily="18" charset="0"/>
              </a:rPr>
              <a:t>Best Model: Random Forest — AUC 0.847</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365760" y="1078992"/>
            <a:ext cx="1993392" cy="1005840"/>
          </a:xfrm>
          <a:prstGeom prst="roundRect">
            <a:avLst>
              <a:gd name="adj" fmla="val 9091"/>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7" name="Text 5"/>
          <p:cNvSpPr/>
          <p:nvPr/>
        </p:nvSpPr>
        <p:spPr>
          <a:xfrm>
            <a:off x="365760" y="1115568"/>
            <a:ext cx="1993392" cy="548640"/>
          </a:xfrm>
          <a:prstGeom prst="rect">
            <a:avLst/>
          </a:prstGeom>
          <a:noFill/>
          <a:ln/>
        </p:spPr>
        <p:txBody>
          <a:bodyPr wrap="square" lIns="0" tIns="0" rIns="0" bIns="0" rtlCol="0" anchor="ctr"/>
          <a:lstStyle/>
          <a:p>
            <a:pPr marL="0" indent="0" algn="ctr">
              <a:buNone/>
            </a:pPr>
            <a:r>
              <a:rPr lang="en-US" sz="2800" b="1" dirty="0">
                <a:solidFill>
                  <a:srgbClr val="217A3C"/>
                </a:solidFill>
                <a:latin typeface="Times New Roman" panose="02020603050405020304" pitchFamily="18" charset="0"/>
                <a:ea typeface="Cambria" pitchFamily="34" charset="-122"/>
                <a:cs typeface="Times New Roman" panose="02020603050405020304" pitchFamily="18" charset="0"/>
              </a:rPr>
              <a:t>0.847</a:t>
            </a:r>
            <a:endParaRPr lang="en-US" sz="2800" dirty="0">
              <a:latin typeface="Times New Roman" panose="02020603050405020304" pitchFamily="18" charset="0"/>
              <a:cs typeface="Times New Roman" panose="02020603050405020304" pitchFamily="18" charset="0"/>
            </a:endParaRPr>
          </a:p>
        </p:txBody>
      </p:sp>
      <p:sp>
        <p:nvSpPr>
          <p:cNvPr id="8" name="Text 6"/>
          <p:cNvSpPr/>
          <p:nvPr/>
        </p:nvSpPr>
        <p:spPr>
          <a:xfrm>
            <a:off x="365760" y="1645920"/>
            <a:ext cx="1993392" cy="347472"/>
          </a:xfrm>
          <a:prstGeom prst="rect">
            <a:avLst/>
          </a:prstGeom>
          <a:noFill/>
          <a:ln/>
        </p:spPr>
        <p:txBody>
          <a:bodyPr wrap="square" lIns="0" tIns="0" rIns="0" bIns="0" rtlCol="0" anchor="ctr"/>
          <a:lstStyle/>
          <a:p>
            <a:pPr marL="0" indent="0" algn="ctr">
              <a:lnSpc>
                <a:spcPct val="115000"/>
              </a:lnSpc>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ROC-AUC</a:t>
            </a:r>
            <a:endParaRPr lang="en-US" sz="950" dirty="0">
              <a:latin typeface="Times New Roman" panose="02020603050405020304" pitchFamily="18" charset="0"/>
              <a:cs typeface="Times New Roman" panose="02020603050405020304" pitchFamily="18" charset="0"/>
            </a:endParaRPr>
          </a:p>
          <a:p>
            <a:pPr marL="0" indent="0" algn="ctr">
              <a:lnSpc>
                <a:spcPct val="115000"/>
              </a:lnSpc>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(Random Forest)</a:t>
            </a:r>
            <a:endParaRPr lang="en-US" sz="950" dirty="0">
              <a:latin typeface="Times New Roman" panose="02020603050405020304" pitchFamily="18" charset="0"/>
              <a:cs typeface="Times New Roman" panose="02020603050405020304" pitchFamily="18" charset="0"/>
            </a:endParaRPr>
          </a:p>
        </p:txBody>
      </p:sp>
      <p:sp>
        <p:nvSpPr>
          <p:cNvPr id="9" name="Shape 7"/>
          <p:cNvSpPr/>
          <p:nvPr/>
        </p:nvSpPr>
        <p:spPr>
          <a:xfrm>
            <a:off x="2542032" y="1078992"/>
            <a:ext cx="1993392" cy="1005840"/>
          </a:xfrm>
          <a:prstGeom prst="roundRect">
            <a:avLst>
              <a:gd name="adj" fmla="val 9091"/>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0" name="Text 8"/>
          <p:cNvSpPr/>
          <p:nvPr/>
        </p:nvSpPr>
        <p:spPr>
          <a:xfrm>
            <a:off x="2542032" y="1115568"/>
            <a:ext cx="1993392" cy="548640"/>
          </a:xfrm>
          <a:prstGeom prst="rect">
            <a:avLst/>
          </a:prstGeom>
          <a:noFill/>
          <a:ln/>
        </p:spPr>
        <p:txBody>
          <a:bodyPr wrap="square" lIns="0" tIns="0" rIns="0" bIns="0" rtlCol="0" anchor="ctr"/>
          <a:lstStyle/>
          <a:p>
            <a:pPr marL="0" indent="0" algn="ctr">
              <a:buNone/>
            </a:pPr>
            <a:r>
              <a:rPr lang="en-US" sz="2800" b="1" dirty="0">
                <a:solidFill>
                  <a:srgbClr val="2E6DB4"/>
                </a:solidFill>
                <a:latin typeface="Times New Roman" panose="02020603050405020304" pitchFamily="18" charset="0"/>
                <a:ea typeface="Cambria" pitchFamily="34" charset="-122"/>
                <a:cs typeface="Times New Roman" panose="02020603050405020304" pitchFamily="18" charset="0"/>
              </a:rPr>
              <a:t>68.35%</a:t>
            </a:r>
            <a:endParaRPr lang="en-US" sz="2800" dirty="0">
              <a:latin typeface="Times New Roman" panose="02020603050405020304" pitchFamily="18" charset="0"/>
              <a:cs typeface="Times New Roman" panose="02020603050405020304" pitchFamily="18" charset="0"/>
            </a:endParaRPr>
          </a:p>
        </p:txBody>
      </p:sp>
      <p:sp>
        <p:nvSpPr>
          <p:cNvPr id="11" name="Text 9"/>
          <p:cNvSpPr/>
          <p:nvPr/>
        </p:nvSpPr>
        <p:spPr>
          <a:xfrm>
            <a:off x="2542032" y="1645920"/>
            <a:ext cx="1993392" cy="347472"/>
          </a:xfrm>
          <a:prstGeom prst="rect">
            <a:avLst/>
          </a:prstGeom>
          <a:noFill/>
          <a:ln/>
        </p:spPr>
        <p:txBody>
          <a:bodyPr wrap="square" lIns="0" tIns="0" rIns="0" bIns="0" rtlCol="0" anchor="ctr"/>
          <a:lstStyle/>
          <a:p>
            <a:pPr marL="0" indent="0" algn="ctr">
              <a:lnSpc>
                <a:spcPct val="115000"/>
              </a:lnSpc>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Test Accuracy</a:t>
            </a:r>
            <a:endParaRPr lang="en-US" sz="950" dirty="0">
              <a:latin typeface="Times New Roman" panose="02020603050405020304" pitchFamily="18" charset="0"/>
              <a:cs typeface="Times New Roman" panose="02020603050405020304" pitchFamily="18" charset="0"/>
            </a:endParaRPr>
          </a:p>
          <a:p>
            <a:pPr marL="0" indent="0" algn="ctr">
              <a:lnSpc>
                <a:spcPct val="115000"/>
              </a:lnSpc>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(Random Forest)</a:t>
            </a:r>
            <a:endParaRPr lang="en-US" sz="950" dirty="0">
              <a:latin typeface="Times New Roman" panose="02020603050405020304" pitchFamily="18" charset="0"/>
              <a:cs typeface="Times New Roman" panose="02020603050405020304" pitchFamily="18" charset="0"/>
            </a:endParaRPr>
          </a:p>
        </p:txBody>
      </p:sp>
      <p:sp>
        <p:nvSpPr>
          <p:cNvPr id="12" name="Shape 10"/>
          <p:cNvSpPr/>
          <p:nvPr/>
        </p:nvSpPr>
        <p:spPr>
          <a:xfrm>
            <a:off x="4718304" y="1078992"/>
            <a:ext cx="1993392" cy="1005840"/>
          </a:xfrm>
          <a:prstGeom prst="roundRect">
            <a:avLst>
              <a:gd name="adj" fmla="val 9091"/>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3" name="Text 11"/>
          <p:cNvSpPr/>
          <p:nvPr/>
        </p:nvSpPr>
        <p:spPr>
          <a:xfrm>
            <a:off x="4718304" y="1115568"/>
            <a:ext cx="1993392" cy="548640"/>
          </a:xfrm>
          <a:prstGeom prst="rect">
            <a:avLst/>
          </a:prstGeom>
          <a:noFill/>
          <a:ln/>
        </p:spPr>
        <p:txBody>
          <a:bodyPr wrap="square" lIns="0" tIns="0" rIns="0" bIns="0" rtlCol="0" anchor="ctr"/>
          <a:lstStyle/>
          <a:p>
            <a:pPr marL="0" indent="0" algn="ctr">
              <a:buNone/>
            </a:pPr>
            <a:r>
              <a:rPr lang="en-US" sz="2800" b="1" dirty="0">
                <a:solidFill>
                  <a:srgbClr val="7B3FA0"/>
                </a:solidFill>
                <a:latin typeface="Times New Roman" panose="02020603050405020304" pitchFamily="18" charset="0"/>
                <a:ea typeface="Cambria" pitchFamily="34" charset="-122"/>
                <a:cs typeface="Times New Roman" panose="02020603050405020304" pitchFamily="18" charset="0"/>
              </a:rPr>
              <a:t>66.19%</a:t>
            </a:r>
            <a:endParaRPr lang="en-US" sz="2800" dirty="0">
              <a:latin typeface="Times New Roman" panose="02020603050405020304" pitchFamily="18" charset="0"/>
              <a:cs typeface="Times New Roman" panose="02020603050405020304" pitchFamily="18" charset="0"/>
            </a:endParaRPr>
          </a:p>
        </p:txBody>
      </p:sp>
      <p:sp>
        <p:nvSpPr>
          <p:cNvPr id="14" name="Text 12"/>
          <p:cNvSpPr/>
          <p:nvPr/>
        </p:nvSpPr>
        <p:spPr>
          <a:xfrm>
            <a:off x="4718304" y="1645920"/>
            <a:ext cx="1993392" cy="347472"/>
          </a:xfrm>
          <a:prstGeom prst="rect">
            <a:avLst/>
          </a:prstGeom>
          <a:noFill/>
          <a:ln/>
        </p:spPr>
        <p:txBody>
          <a:bodyPr wrap="square" lIns="0" tIns="0" rIns="0" bIns="0" rtlCol="0" anchor="ctr"/>
          <a:lstStyle/>
          <a:p>
            <a:pPr marL="0" indent="0" algn="ctr">
              <a:lnSpc>
                <a:spcPct val="115000"/>
              </a:lnSpc>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Weighted F1</a:t>
            </a:r>
            <a:endParaRPr lang="en-US" sz="950" dirty="0">
              <a:latin typeface="Times New Roman" panose="02020603050405020304" pitchFamily="18" charset="0"/>
              <a:cs typeface="Times New Roman" panose="02020603050405020304" pitchFamily="18" charset="0"/>
            </a:endParaRPr>
          </a:p>
          <a:p>
            <a:pPr marL="0" indent="0" algn="ctr">
              <a:lnSpc>
                <a:spcPct val="115000"/>
              </a:lnSpc>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(Random Forest)</a:t>
            </a:r>
            <a:endParaRPr lang="en-US" sz="950" dirty="0">
              <a:latin typeface="Times New Roman" panose="02020603050405020304" pitchFamily="18" charset="0"/>
              <a:cs typeface="Times New Roman" panose="02020603050405020304" pitchFamily="18" charset="0"/>
            </a:endParaRPr>
          </a:p>
        </p:txBody>
      </p:sp>
      <p:sp>
        <p:nvSpPr>
          <p:cNvPr id="15" name="Shape 13"/>
          <p:cNvSpPr/>
          <p:nvPr/>
        </p:nvSpPr>
        <p:spPr>
          <a:xfrm>
            <a:off x="6894576" y="1078992"/>
            <a:ext cx="1993392" cy="1005840"/>
          </a:xfrm>
          <a:prstGeom prst="roundRect">
            <a:avLst>
              <a:gd name="adj" fmla="val 9091"/>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6" name="Text 14"/>
          <p:cNvSpPr/>
          <p:nvPr/>
        </p:nvSpPr>
        <p:spPr>
          <a:xfrm>
            <a:off x="6894576" y="1115568"/>
            <a:ext cx="1993392" cy="548640"/>
          </a:xfrm>
          <a:prstGeom prst="rect">
            <a:avLst/>
          </a:prstGeom>
          <a:noFill/>
          <a:ln/>
        </p:spPr>
        <p:txBody>
          <a:bodyPr wrap="square" lIns="0" tIns="0" rIns="0" bIns="0" rtlCol="0" anchor="ctr"/>
          <a:lstStyle/>
          <a:p>
            <a:pPr marL="0" indent="0" algn="ctr">
              <a:buNone/>
            </a:pPr>
            <a:r>
              <a:rPr lang="en-US" sz="2800" b="1" dirty="0">
                <a:solidFill>
                  <a:srgbClr val="B8520A"/>
                </a:solidFill>
                <a:latin typeface="Times New Roman" panose="02020603050405020304" pitchFamily="18" charset="0"/>
                <a:ea typeface="Cambria" pitchFamily="34" charset="-122"/>
                <a:cs typeface="Times New Roman" panose="02020603050405020304" pitchFamily="18" charset="0"/>
              </a:rPr>
              <a:t>vs 0.85</a:t>
            </a:r>
            <a:endParaRPr lang="en-US" sz="2800" dirty="0">
              <a:latin typeface="Times New Roman" panose="02020603050405020304" pitchFamily="18" charset="0"/>
              <a:cs typeface="Times New Roman" panose="02020603050405020304" pitchFamily="18" charset="0"/>
            </a:endParaRPr>
          </a:p>
        </p:txBody>
      </p:sp>
      <p:sp>
        <p:nvSpPr>
          <p:cNvPr id="17" name="Text 15"/>
          <p:cNvSpPr/>
          <p:nvPr/>
        </p:nvSpPr>
        <p:spPr>
          <a:xfrm>
            <a:off x="6894576" y="1645920"/>
            <a:ext cx="1993392" cy="347472"/>
          </a:xfrm>
          <a:prstGeom prst="rect">
            <a:avLst/>
          </a:prstGeom>
          <a:noFill/>
          <a:ln/>
        </p:spPr>
        <p:txBody>
          <a:bodyPr wrap="square" lIns="0" tIns="0" rIns="0" bIns="0" rtlCol="0" anchor="ctr"/>
          <a:lstStyle/>
          <a:p>
            <a:pPr marL="0" indent="0" algn="ctr">
              <a:lnSpc>
                <a:spcPct val="115000"/>
              </a:lnSpc>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Literature</a:t>
            </a:r>
            <a:endParaRPr lang="en-US" sz="950" dirty="0">
              <a:latin typeface="Times New Roman" panose="02020603050405020304" pitchFamily="18" charset="0"/>
              <a:cs typeface="Times New Roman" panose="02020603050405020304" pitchFamily="18" charset="0"/>
            </a:endParaRPr>
          </a:p>
          <a:p>
            <a:pPr marL="0" indent="0" algn="ctr">
              <a:lnSpc>
                <a:spcPct val="115000"/>
              </a:lnSpc>
              <a:buNone/>
            </a:pPr>
            <a:r>
              <a:rPr lang="en-US" sz="950" dirty="0">
                <a:solidFill>
                  <a:srgbClr val="5A6478"/>
                </a:solidFill>
                <a:latin typeface="Times New Roman" panose="02020603050405020304" pitchFamily="18" charset="0"/>
                <a:ea typeface="Calibri" pitchFamily="34" charset="-122"/>
                <a:cs typeface="Times New Roman" panose="02020603050405020304" pitchFamily="18" charset="0"/>
              </a:rPr>
              <a:t>Benchmark AUC</a:t>
            </a:r>
            <a:endParaRPr lang="en-US" sz="950" dirty="0">
              <a:latin typeface="Times New Roman" panose="02020603050405020304" pitchFamily="18" charset="0"/>
              <a:cs typeface="Times New Roman" panose="02020603050405020304" pitchFamily="18" charset="0"/>
            </a:endParaRPr>
          </a:p>
        </p:txBody>
      </p:sp>
      <p:sp>
        <p:nvSpPr>
          <p:cNvPr id="18" name="Text 16"/>
          <p:cNvSpPr/>
          <p:nvPr/>
        </p:nvSpPr>
        <p:spPr>
          <a:xfrm>
            <a:off x="411480" y="2194560"/>
            <a:ext cx="4297680" cy="256032"/>
          </a:xfrm>
          <a:prstGeom prst="rect">
            <a:avLst/>
          </a:prstGeom>
          <a:noFill/>
          <a:ln/>
        </p:spPr>
        <p:txBody>
          <a:bodyPr wrap="square"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ROC Curves — Random Forest (One-vs-Rest)</a:t>
            </a:r>
            <a:endParaRPr lang="en-US" sz="1100" dirty="0">
              <a:latin typeface="Times New Roman" panose="02020603050405020304" pitchFamily="18" charset="0"/>
              <a:cs typeface="Times New Roman" panose="02020603050405020304" pitchFamily="18" charset="0"/>
            </a:endParaRPr>
          </a:p>
        </p:txBody>
      </p:sp>
      <p:pic>
        <p:nvPicPr>
          <p:cNvPr id="19" name="Image 0" descr="preencoded.png"/>
          <p:cNvPicPr>
            <a:picLocks noChangeAspect="1"/>
          </p:cNvPicPr>
          <p:nvPr/>
        </p:nvPicPr>
        <p:blipFill>
          <a:blip r:embed="rId3"/>
          <a:stretch>
            <a:fillRect/>
          </a:stretch>
        </p:blipFill>
        <p:spPr>
          <a:xfrm>
            <a:off x="411480" y="2496312"/>
            <a:ext cx="4297680" cy="2423160"/>
          </a:xfrm>
          <a:prstGeom prst="rect">
            <a:avLst/>
          </a:prstGeom>
        </p:spPr>
      </p:pic>
      <p:sp>
        <p:nvSpPr>
          <p:cNvPr id="20" name="Text 17"/>
          <p:cNvSpPr/>
          <p:nvPr/>
        </p:nvSpPr>
        <p:spPr>
          <a:xfrm>
            <a:off x="4937760" y="2194560"/>
            <a:ext cx="3794760" cy="256032"/>
          </a:xfrm>
          <a:prstGeom prst="rect">
            <a:avLst/>
          </a:prstGeom>
          <a:noFill/>
          <a:ln/>
        </p:spPr>
        <p:txBody>
          <a:bodyPr wrap="square" rtlCol="0" anchor="ctr"/>
          <a:lstStyle/>
          <a:p>
            <a:pPr marL="0" indent="0">
              <a:buNone/>
            </a:pPr>
            <a:r>
              <a:rPr lang="en-US" sz="1100" b="1" dirty="0">
                <a:solidFill>
                  <a:srgbClr val="1B3A6B"/>
                </a:solidFill>
                <a:latin typeface="Times New Roman" panose="02020603050405020304" pitchFamily="18" charset="0"/>
                <a:ea typeface="Calibri" pitchFamily="34" charset="-122"/>
                <a:cs typeface="Times New Roman" panose="02020603050405020304" pitchFamily="18" charset="0"/>
              </a:rPr>
              <a:t>Feature Importance — Random Forest</a:t>
            </a:r>
            <a:endParaRPr lang="en-US" sz="1100" dirty="0">
              <a:latin typeface="Times New Roman" panose="02020603050405020304" pitchFamily="18" charset="0"/>
              <a:cs typeface="Times New Roman" panose="02020603050405020304" pitchFamily="18" charset="0"/>
            </a:endParaRPr>
          </a:p>
        </p:txBody>
      </p:sp>
      <p:pic>
        <p:nvPicPr>
          <p:cNvPr id="21" name="Image 1" descr="preencoded.png"/>
          <p:cNvPicPr>
            <a:picLocks noChangeAspect="1"/>
          </p:cNvPicPr>
          <p:nvPr/>
        </p:nvPicPr>
        <p:blipFill>
          <a:blip r:embed="rId4"/>
          <a:stretch>
            <a:fillRect/>
          </a:stretch>
        </p:blipFill>
        <p:spPr>
          <a:xfrm>
            <a:off x="4937760" y="2496312"/>
            <a:ext cx="3794760" cy="242316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CHALLENGES &amp; LIMITATIONS</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40080"/>
            <a:ext cx="8321040" cy="320040"/>
          </a:xfrm>
          <a:prstGeom prst="rect">
            <a:avLst/>
          </a:prstGeom>
          <a:noFill/>
          <a:ln/>
        </p:spPr>
        <p:txBody>
          <a:bodyPr wrap="square"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Honest Reflections on the Project</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365760" y="1078992"/>
            <a:ext cx="4114800" cy="1207008"/>
          </a:xfrm>
          <a:prstGeom prst="roundRect">
            <a:avLst>
              <a:gd name="adj" fmla="val 7576"/>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7" name="Image 0" descr="preencoded.png"/>
          <p:cNvPicPr>
            <a:picLocks noChangeAspect="1"/>
          </p:cNvPicPr>
          <p:nvPr/>
        </p:nvPicPr>
        <p:blipFill>
          <a:blip r:embed="rId3"/>
          <a:stretch>
            <a:fillRect/>
          </a:stretch>
        </p:blipFill>
        <p:spPr>
          <a:xfrm>
            <a:off x="502920" y="1188720"/>
            <a:ext cx="475488" cy="475488"/>
          </a:xfrm>
          <a:prstGeom prst="rect">
            <a:avLst/>
          </a:prstGeom>
        </p:spPr>
      </p:pic>
      <p:sp>
        <p:nvSpPr>
          <p:cNvPr id="8" name="Text 5"/>
          <p:cNvSpPr/>
          <p:nvPr/>
        </p:nvSpPr>
        <p:spPr>
          <a:xfrm>
            <a:off x="1097280" y="1170432"/>
            <a:ext cx="3246120" cy="292608"/>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Synthetic Dataset</a:t>
            </a:r>
            <a:endParaRPr lang="en-US" sz="1150" dirty="0">
              <a:latin typeface="Times New Roman" panose="02020603050405020304" pitchFamily="18" charset="0"/>
              <a:cs typeface="Times New Roman" panose="02020603050405020304" pitchFamily="18" charset="0"/>
            </a:endParaRPr>
          </a:p>
        </p:txBody>
      </p:sp>
      <p:sp>
        <p:nvSpPr>
          <p:cNvPr id="9" name="Text 6"/>
          <p:cNvSpPr/>
          <p:nvPr/>
        </p:nvSpPr>
        <p:spPr>
          <a:xfrm>
            <a:off x="1097280" y="1481328"/>
            <a:ext cx="3246120" cy="73152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The Kaggle dataset is synthetically generated, not from real clinical records. This limits how confidently results can be extrapolated to real-world clinical settings.</a:t>
            </a:r>
            <a:endParaRPr lang="en-US" sz="950" dirty="0">
              <a:latin typeface="Times New Roman" panose="02020603050405020304" pitchFamily="18" charset="0"/>
              <a:cs typeface="Times New Roman" panose="02020603050405020304" pitchFamily="18" charset="0"/>
            </a:endParaRPr>
          </a:p>
        </p:txBody>
      </p:sp>
      <p:sp>
        <p:nvSpPr>
          <p:cNvPr id="10" name="Shape 7"/>
          <p:cNvSpPr/>
          <p:nvPr/>
        </p:nvSpPr>
        <p:spPr>
          <a:xfrm>
            <a:off x="4754880" y="1078992"/>
            <a:ext cx="4114800" cy="1207008"/>
          </a:xfrm>
          <a:prstGeom prst="roundRect">
            <a:avLst>
              <a:gd name="adj" fmla="val 7576"/>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11" name="Image 1" descr="preencoded.png"/>
          <p:cNvPicPr>
            <a:picLocks noChangeAspect="1"/>
          </p:cNvPicPr>
          <p:nvPr/>
        </p:nvPicPr>
        <p:blipFill>
          <a:blip r:embed="rId4"/>
          <a:stretch>
            <a:fillRect/>
          </a:stretch>
        </p:blipFill>
        <p:spPr>
          <a:xfrm>
            <a:off x="4892040" y="1188720"/>
            <a:ext cx="475488" cy="475488"/>
          </a:xfrm>
          <a:prstGeom prst="rect">
            <a:avLst/>
          </a:prstGeom>
        </p:spPr>
      </p:pic>
      <p:sp>
        <p:nvSpPr>
          <p:cNvPr id="12" name="Text 8"/>
          <p:cNvSpPr/>
          <p:nvPr/>
        </p:nvSpPr>
        <p:spPr>
          <a:xfrm>
            <a:off x="5486400" y="1170432"/>
            <a:ext cx="3246120" cy="292608"/>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Class Imbalance</a:t>
            </a:r>
            <a:endParaRPr lang="en-US" sz="1150" dirty="0">
              <a:latin typeface="Times New Roman" panose="02020603050405020304" pitchFamily="18" charset="0"/>
              <a:cs typeface="Times New Roman" panose="02020603050405020304" pitchFamily="18" charset="0"/>
            </a:endParaRPr>
          </a:p>
        </p:txBody>
      </p:sp>
      <p:sp>
        <p:nvSpPr>
          <p:cNvPr id="13" name="Text 9"/>
          <p:cNvSpPr/>
          <p:nvPr/>
        </p:nvSpPr>
        <p:spPr>
          <a:xfrm>
            <a:off x="5486400" y="1481328"/>
            <a:ext cx="3246120" cy="73152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Stage IV accounts for ~40% of records while Stage I is only ~10%. Despite using class_weight='balanced', early-stage predictions were weaker.</a:t>
            </a:r>
            <a:endParaRPr lang="en-US" sz="950" dirty="0">
              <a:latin typeface="Times New Roman" panose="02020603050405020304" pitchFamily="18" charset="0"/>
              <a:cs typeface="Times New Roman" panose="02020603050405020304" pitchFamily="18" charset="0"/>
            </a:endParaRPr>
          </a:p>
        </p:txBody>
      </p:sp>
      <p:sp>
        <p:nvSpPr>
          <p:cNvPr id="14" name="Shape 10"/>
          <p:cNvSpPr/>
          <p:nvPr/>
        </p:nvSpPr>
        <p:spPr>
          <a:xfrm>
            <a:off x="365760" y="2404872"/>
            <a:ext cx="4114800" cy="1207008"/>
          </a:xfrm>
          <a:prstGeom prst="roundRect">
            <a:avLst>
              <a:gd name="adj" fmla="val 7576"/>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15" name="Image 2" descr="preencoded.png"/>
          <p:cNvPicPr>
            <a:picLocks noChangeAspect="1"/>
          </p:cNvPicPr>
          <p:nvPr/>
        </p:nvPicPr>
        <p:blipFill>
          <a:blip r:embed="rId5"/>
          <a:stretch>
            <a:fillRect/>
          </a:stretch>
        </p:blipFill>
        <p:spPr>
          <a:xfrm>
            <a:off x="502920" y="2514600"/>
            <a:ext cx="475488" cy="475488"/>
          </a:xfrm>
          <a:prstGeom prst="rect">
            <a:avLst/>
          </a:prstGeom>
        </p:spPr>
      </p:pic>
      <p:sp>
        <p:nvSpPr>
          <p:cNvPr id="16" name="Text 11"/>
          <p:cNvSpPr/>
          <p:nvPr/>
        </p:nvSpPr>
        <p:spPr>
          <a:xfrm>
            <a:off x="1097280" y="2496312"/>
            <a:ext cx="3246120" cy="292608"/>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Feature Limitations</a:t>
            </a:r>
            <a:endParaRPr lang="en-US" sz="1150" dirty="0">
              <a:latin typeface="Times New Roman" panose="02020603050405020304" pitchFamily="18" charset="0"/>
              <a:cs typeface="Times New Roman" panose="02020603050405020304" pitchFamily="18" charset="0"/>
            </a:endParaRPr>
          </a:p>
        </p:txBody>
      </p:sp>
      <p:sp>
        <p:nvSpPr>
          <p:cNvPr id="17" name="Text 12"/>
          <p:cNvSpPr/>
          <p:nvPr/>
        </p:nvSpPr>
        <p:spPr>
          <a:xfrm>
            <a:off x="1097280" y="2807208"/>
            <a:ext cx="3246120" cy="73152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The dataset lacks imaging data (CT/MRI) and biomarkers (CA 19-9), which are the primary tools clinicians use for diagnosis in practice.</a:t>
            </a:r>
            <a:endParaRPr lang="en-US" sz="950" dirty="0">
              <a:latin typeface="Times New Roman" panose="02020603050405020304" pitchFamily="18" charset="0"/>
              <a:cs typeface="Times New Roman" panose="02020603050405020304" pitchFamily="18" charset="0"/>
            </a:endParaRPr>
          </a:p>
        </p:txBody>
      </p:sp>
      <p:sp>
        <p:nvSpPr>
          <p:cNvPr id="18" name="Shape 13"/>
          <p:cNvSpPr/>
          <p:nvPr/>
        </p:nvSpPr>
        <p:spPr>
          <a:xfrm>
            <a:off x="4754880" y="2404872"/>
            <a:ext cx="4114800" cy="1207008"/>
          </a:xfrm>
          <a:prstGeom prst="roundRect">
            <a:avLst>
              <a:gd name="adj" fmla="val 7576"/>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19" name="Image 3" descr="preencoded.png"/>
          <p:cNvPicPr>
            <a:picLocks noChangeAspect="1"/>
          </p:cNvPicPr>
          <p:nvPr/>
        </p:nvPicPr>
        <p:blipFill>
          <a:blip r:embed="rId6"/>
          <a:stretch>
            <a:fillRect/>
          </a:stretch>
        </p:blipFill>
        <p:spPr>
          <a:xfrm>
            <a:off x="4892040" y="2514600"/>
            <a:ext cx="475488" cy="475488"/>
          </a:xfrm>
          <a:prstGeom prst="rect">
            <a:avLst/>
          </a:prstGeom>
        </p:spPr>
      </p:pic>
      <p:sp>
        <p:nvSpPr>
          <p:cNvPr id="20" name="Text 14"/>
          <p:cNvSpPr/>
          <p:nvPr/>
        </p:nvSpPr>
        <p:spPr>
          <a:xfrm>
            <a:off x="5486400" y="2496312"/>
            <a:ext cx="3246120" cy="292608"/>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Multiclass Complexity</a:t>
            </a:r>
            <a:endParaRPr lang="en-US" sz="1150" dirty="0">
              <a:latin typeface="Times New Roman" panose="02020603050405020304" pitchFamily="18" charset="0"/>
              <a:cs typeface="Times New Roman" panose="02020603050405020304" pitchFamily="18" charset="0"/>
            </a:endParaRPr>
          </a:p>
        </p:txBody>
      </p:sp>
      <p:sp>
        <p:nvSpPr>
          <p:cNvPr id="21" name="Text 15"/>
          <p:cNvSpPr/>
          <p:nvPr/>
        </p:nvSpPr>
        <p:spPr>
          <a:xfrm>
            <a:off x="5486400" y="2807208"/>
            <a:ext cx="3246120" cy="73152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Predicting four stages simultaneously is harder than binary classification. Stage I vs Stage II confusion was the main source of model error.</a:t>
            </a:r>
            <a:endParaRPr lang="en-US" sz="950" dirty="0">
              <a:latin typeface="Times New Roman" panose="02020603050405020304" pitchFamily="18" charset="0"/>
              <a:cs typeface="Times New Roman" panose="02020603050405020304" pitchFamily="18" charset="0"/>
            </a:endParaRPr>
          </a:p>
        </p:txBody>
      </p:sp>
      <p:sp>
        <p:nvSpPr>
          <p:cNvPr id="22" name="Shape 16"/>
          <p:cNvSpPr/>
          <p:nvPr/>
        </p:nvSpPr>
        <p:spPr>
          <a:xfrm>
            <a:off x="365760" y="3730752"/>
            <a:ext cx="4114800" cy="1207008"/>
          </a:xfrm>
          <a:prstGeom prst="roundRect">
            <a:avLst>
              <a:gd name="adj" fmla="val 7576"/>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23" name="Image 4" descr="preencoded.png"/>
          <p:cNvPicPr>
            <a:picLocks noChangeAspect="1"/>
          </p:cNvPicPr>
          <p:nvPr/>
        </p:nvPicPr>
        <p:blipFill>
          <a:blip r:embed="rId7"/>
          <a:stretch>
            <a:fillRect/>
          </a:stretch>
        </p:blipFill>
        <p:spPr>
          <a:xfrm>
            <a:off x="502920" y="3840480"/>
            <a:ext cx="475488" cy="475488"/>
          </a:xfrm>
          <a:prstGeom prst="rect">
            <a:avLst/>
          </a:prstGeom>
        </p:spPr>
      </p:pic>
      <p:sp>
        <p:nvSpPr>
          <p:cNvPr id="24" name="Text 17"/>
          <p:cNvSpPr/>
          <p:nvPr/>
        </p:nvSpPr>
        <p:spPr>
          <a:xfrm>
            <a:off x="1097280" y="3822192"/>
            <a:ext cx="3246120" cy="292608"/>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No Hyperparameter Tuning</a:t>
            </a:r>
            <a:endParaRPr lang="en-US" sz="1150" dirty="0">
              <a:latin typeface="Times New Roman" panose="02020603050405020304" pitchFamily="18" charset="0"/>
              <a:cs typeface="Times New Roman" panose="02020603050405020304" pitchFamily="18" charset="0"/>
            </a:endParaRPr>
          </a:p>
        </p:txBody>
      </p:sp>
      <p:sp>
        <p:nvSpPr>
          <p:cNvPr id="25" name="Text 18"/>
          <p:cNvSpPr/>
          <p:nvPr/>
        </p:nvSpPr>
        <p:spPr>
          <a:xfrm>
            <a:off x="1097280" y="4133088"/>
            <a:ext cx="3246120" cy="73152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Due to scope and time constraints, GridSearchCV was not applied. Tuning hyperparameters could push Random Forest accuracy higher.</a:t>
            </a:r>
            <a:endParaRPr lang="en-US" sz="950" dirty="0">
              <a:latin typeface="Times New Roman" panose="02020603050405020304" pitchFamily="18" charset="0"/>
              <a:cs typeface="Times New Roman" panose="02020603050405020304" pitchFamily="18" charset="0"/>
            </a:endParaRPr>
          </a:p>
        </p:txBody>
      </p:sp>
      <p:sp>
        <p:nvSpPr>
          <p:cNvPr id="26" name="Shape 19"/>
          <p:cNvSpPr/>
          <p:nvPr/>
        </p:nvSpPr>
        <p:spPr>
          <a:xfrm>
            <a:off x="4754880" y="3730752"/>
            <a:ext cx="4114800" cy="1207008"/>
          </a:xfrm>
          <a:prstGeom prst="roundRect">
            <a:avLst>
              <a:gd name="adj" fmla="val 7576"/>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pic>
        <p:nvPicPr>
          <p:cNvPr id="27" name="Image 5" descr="preencoded.png"/>
          <p:cNvPicPr>
            <a:picLocks noChangeAspect="1"/>
          </p:cNvPicPr>
          <p:nvPr/>
        </p:nvPicPr>
        <p:blipFill>
          <a:blip r:embed="rId8"/>
          <a:stretch>
            <a:fillRect/>
          </a:stretch>
        </p:blipFill>
        <p:spPr>
          <a:xfrm>
            <a:off x="4892040" y="3840480"/>
            <a:ext cx="475488" cy="475488"/>
          </a:xfrm>
          <a:prstGeom prst="rect">
            <a:avLst/>
          </a:prstGeom>
        </p:spPr>
      </p:pic>
      <p:sp>
        <p:nvSpPr>
          <p:cNvPr id="28" name="Text 20"/>
          <p:cNvSpPr/>
          <p:nvPr/>
        </p:nvSpPr>
        <p:spPr>
          <a:xfrm>
            <a:off x="5486400" y="3822192"/>
            <a:ext cx="3246120" cy="292608"/>
          </a:xfrm>
          <a:prstGeom prst="rect">
            <a:avLst/>
          </a:prstGeom>
          <a:noFill/>
          <a:ln/>
        </p:spPr>
        <p:txBody>
          <a:bodyPr wrap="square" lIns="0" tIns="0" rIns="0" bIns="0" rtlCol="0" anchor="ctr"/>
          <a:lstStyle/>
          <a:p>
            <a:pPr marL="0" indent="0">
              <a:buNone/>
            </a:pPr>
            <a:r>
              <a:rPr lang="en-US" sz="1150" b="1" dirty="0">
                <a:solidFill>
                  <a:srgbClr val="1B3A6B"/>
                </a:solidFill>
                <a:latin typeface="Times New Roman" panose="02020603050405020304" pitchFamily="18" charset="0"/>
                <a:ea typeface="Calibri" pitchFamily="34" charset="-122"/>
                <a:cs typeface="Times New Roman" panose="02020603050405020304" pitchFamily="18" charset="0"/>
              </a:rPr>
              <a:t>Possible Improvements</a:t>
            </a:r>
            <a:endParaRPr lang="en-US" sz="1150" dirty="0">
              <a:latin typeface="Times New Roman" panose="02020603050405020304" pitchFamily="18" charset="0"/>
              <a:cs typeface="Times New Roman" panose="02020603050405020304" pitchFamily="18" charset="0"/>
            </a:endParaRPr>
          </a:p>
        </p:txBody>
      </p:sp>
      <p:sp>
        <p:nvSpPr>
          <p:cNvPr id="29" name="Text 21"/>
          <p:cNvSpPr/>
          <p:nvPr/>
        </p:nvSpPr>
        <p:spPr>
          <a:xfrm>
            <a:off x="5486400" y="4133088"/>
            <a:ext cx="3246120" cy="731520"/>
          </a:xfrm>
          <a:prstGeom prst="rect">
            <a:avLst/>
          </a:prstGeom>
          <a:noFill/>
          <a:ln/>
        </p:spPr>
        <p:txBody>
          <a:bodyPr wrap="square" lIns="0" tIns="0" rIns="0" bIns="0" rtlCol="0" anchor="ctr"/>
          <a:lstStyle/>
          <a:p>
            <a:pPr marL="0" indent="0">
              <a:lnSpc>
                <a:spcPct val="128000"/>
              </a:lnSpc>
              <a:buNone/>
            </a:pPr>
            <a:r>
              <a:rPr lang="en-US" sz="950" dirty="0">
                <a:solidFill>
                  <a:srgbClr val="1A1A2E"/>
                </a:solidFill>
                <a:latin typeface="Times New Roman" panose="02020603050405020304" pitchFamily="18" charset="0"/>
                <a:ea typeface="Calibri" pitchFamily="34" charset="-122"/>
                <a:cs typeface="Times New Roman" panose="02020603050405020304" pitchFamily="18" charset="0"/>
              </a:rPr>
              <a:t>Future work should use real clinical datasets (e.g. MIMIC-IV), apply SMOTE for imbalance, and explore XGBoost or neural network classifiers.</a:t>
            </a:r>
            <a:endParaRPr lang="en-US" sz="95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SEPLI — SOCIAL, ETHICAL, LEGAL &amp; PROFESSIONAL ISSUES</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40080"/>
            <a:ext cx="8321040" cy="320040"/>
          </a:xfrm>
          <a:prstGeom prst="rect">
            <a:avLst/>
          </a:prstGeom>
          <a:noFill/>
          <a:ln/>
        </p:spPr>
        <p:txBody>
          <a:bodyPr wrap="square"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Responsible Use of Machine Learning in Healthcare</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365760" y="1078992"/>
            <a:ext cx="4114800" cy="1755648"/>
          </a:xfrm>
          <a:prstGeom prst="roundRect">
            <a:avLst>
              <a:gd name="adj" fmla="val 5208"/>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7" name="Shape 5"/>
          <p:cNvSpPr/>
          <p:nvPr/>
        </p:nvSpPr>
        <p:spPr>
          <a:xfrm>
            <a:off x="457200" y="1170432"/>
            <a:ext cx="548640" cy="548640"/>
          </a:xfrm>
          <a:prstGeom prst="roundRect">
            <a:avLst>
              <a:gd name="adj" fmla="val 10000"/>
            </a:avLst>
          </a:prstGeom>
          <a:solidFill>
            <a:srgbClr val="1B6CA8"/>
          </a:solidFill>
          <a:ln w="12700">
            <a:solidFill>
              <a:srgbClr val="1B6CA8"/>
            </a:solidFill>
            <a:prstDash val="solid"/>
          </a:ln>
        </p:spPr>
      </p:sp>
      <p:sp>
        <p:nvSpPr>
          <p:cNvPr id="8" name="Text 6"/>
          <p:cNvSpPr/>
          <p:nvPr/>
        </p:nvSpPr>
        <p:spPr>
          <a:xfrm>
            <a:off x="457200" y="117043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S</a:t>
            </a:r>
            <a:endParaRPr lang="en-US" sz="2200" dirty="0">
              <a:latin typeface="Times New Roman" panose="02020603050405020304" pitchFamily="18" charset="0"/>
              <a:cs typeface="Times New Roman" panose="02020603050405020304" pitchFamily="18" charset="0"/>
            </a:endParaRPr>
          </a:p>
        </p:txBody>
      </p:sp>
      <p:sp>
        <p:nvSpPr>
          <p:cNvPr id="9" name="Text 7"/>
          <p:cNvSpPr/>
          <p:nvPr/>
        </p:nvSpPr>
        <p:spPr>
          <a:xfrm>
            <a:off x="1115568" y="1170432"/>
            <a:ext cx="3246120" cy="384048"/>
          </a:xfrm>
          <a:prstGeom prst="rect">
            <a:avLst/>
          </a:prstGeom>
          <a:noFill/>
          <a:ln/>
        </p:spPr>
        <p:txBody>
          <a:bodyPr wrap="square" lIns="0" tIns="0" rIns="0" bIns="0"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Social</a:t>
            </a:r>
            <a:endParaRPr lang="en-US" sz="1300" dirty="0">
              <a:latin typeface="Times New Roman" panose="02020603050405020304" pitchFamily="18" charset="0"/>
              <a:cs typeface="Times New Roman" panose="02020603050405020304" pitchFamily="18" charset="0"/>
            </a:endParaRPr>
          </a:p>
        </p:txBody>
      </p:sp>
      <p:sp>
        <p:nvSpPr>
          <p:cNvPr id="10" name="Text 8"/>
          <p:cNvSpPr/>
          <p:nvPr/>
        </p:nvSpPr>
        <p:spPr>
          <a:xfrm>
            <a:off x="502920" y="1682496"/>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Earlier detection improves patient outcomes and quality of life</a:t>
            </a:r>
            <a:endParaRPr lang="en-US" sz="900" dirty="0">
              <a:latin typeface="Times New Roman" panose="02020603050405020304" pitchFamily="18" charset="0"/>
              <a:cs typeface="Times New Roman" panose="02020603050405020304" pitchFamily="18" charset="0"/>
            </a:endParaRPr>
          </a:p>
        </p:txBody>
      </p:sp>
      <p:sp>
        <p:nvSpPr>
          <p:cNvPr id="11" name="Text 9"/>
          <p:cNvSpPr/>
          <p:nvPr/>
        </p:nvSpPr>
        <p:spPr>
          <a:xfrm>
            <a:off x="502920" y="1965960"/>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Risk of over-reliance patients may panic at false positives</a:t>
            </a:r>
            <a:endParaRPr lang="en-US" sz="900" dirty="0">
              <a:latin typeface="Times New Roman" panose="02020603050405020304" pitchFamily="18" charset="0"/>
              <a:cs typeface="Times New Roman" panose="02020603050405020304" pitchFamily="18" charset="0"/>
            </a:endParaRPr>
          </a:p>
        </p:txBody>
      </p:sp>
      <p:sp>
        <p:nvSpPr>
          <p:cNvPr id="12" name="Text 10"/>
          <p:cNvSpPr/>
          <p:nvPr/>
        </p:nvSpPr>
        <p:spPr>
          <a:xfrm>
            <a:off x="502920" y="2249424"/>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Low specificity models (Malhotra et al., 2021) can cause unnecessary referrals</a:t>
            </a:r>
            <a:endParaRPr lang="en-US" sz="900" dirty="0">
              <a:latin typeface="Times New Roman" panose="02020603050405020304" pitchFamily="18" charset="0"/>
              <a:cs typeface="Times New Roman" panose="02020603050405020304" pitchFamily="18" charset="0"/>
            </a:endParaRPr>
          </a:p>
        </p:txBody>
      </p:sp>
      <p:sp>
        <p:nvSpPr>
          <p:cNvPr id="13" name="Text 11"/>
          <p:cNvSpPr/>
          <p:nvPr/>
        </p:nvSpPr>
        <p:spPr>
          <a:xfrm>
            <a:off x="502920" y="2532888"/>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Must remain a decision support tool not a replacement for doctors</a:t>
            </a:r>
            <a:endParaRPr lang="en-US" sz="900" dirty="0">
              <a:latin typeface="Times New Roman" panose="02020603050405020304" pitchFamily="18" charset="0"/>
              <a:cs typeface="Times New Roman" panose="02020603050405020304" pitchFamily="18" charset="0"/>
            </a:endParaRPr>
          </a:p>
        </p:txBody>
      </p:sp>
      <p:sp>
        <p:nvSpPr>
          <p:cNvPr id="14" name="Shape 12"/>
          <p:cNvSpPr/>
          <p:nvPr/>
        </p:nvSpPr>
        <p:spPr>
          <a:xfrm>
            <a:off x="4754880" y="1078992"/>
            <a:ext cx="4114800" cy="1755648"/>
          </a:xfrm>
          <a:prstGeom prst="roundRect">
            <a:avLst>
              <a:gd name="adj" fmla="val 5208"/>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5" name="Shape 13"/>
          <p:cNvSpPr/>
          <p:nvPr/>
        </p:nvSpPr>
        <p:spPr>
          <a:xfrm>
            <a:off x="4846320" y="1170432"/>
            <a:ext cx="548640" cy="548640"/>
          </a:xfrm>
          <a:prstGeom prst="roundRect">
            <a:avLst>
              <a:gd name="adj" fmla="val 10000"/>
            </a:avLst>
          </a:prstGeom>
          <a:solidFill>
            <a:srgbClr val="217A3C"/>
          </a:solidFill>
          <a:ln w="12700">
            <a:solidFill>
              <a:srgbClr val="217A3C"/>
            </a:solidFill>
            <a:prstDash val="solid"/>
          </a:ln>
        </p:spPr>
      </p:sp>
      <p:sp>
        <p:nvSpPr>
          <p:cNvPr id="16" name="Text 14"/>
          <p:cNvSpPr/>
          <p:nvPr/>
        </p:nvSpPr>
        <p:spPr>
          <a:xfrm>
            <a:off x="4846320" y="117043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E</a:t>
            </a:r>
            <a:endParaRPr lang="en-US" sz="2200" dirty="0">
              <a:latin typeface="Times New Roman" panose="02020603050405020304" pitchFamily="18" charset="0"/>
              <a:cs typeface="Times New Roman" panose="02020603050405020304" pitchFamily="18" charset="0"/>
            </a:endParaRPr>
          </a:p>
        </p:txBody>
      </p:sp>
      <p:sp>
        <p:nvSpPr>
          <p:cNvPr id="17" name="Text 15"/>
          <p:cNvSpPr/>
          <p:nvPr/>
        </p:nvSpPr>
        <p:spPr>
          <a:xfrm>
            <a:off x="5504688" y="1170432"/>
            <a:ext cx="3246120" cy="384048"/>
          </a:xfrm>
          <a:prstGeom prst="rect">
            <a:avLst/>
          </a:prstGeom>
          <a:noFill/>
          <a:ln/>
        </p:spPr>
        <p:txBody>
          <a:bodyPr wrap="square" lIns="0" tIns="0" rIns="0" bIns="0"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Ethical</a:t>
            </a:r>
            <a:endParaRPr lang="en-US" sz="1300" dirty="0">
              <a:latin typeface="Times New Roman" panose="02020603050405020304" pitchFamily="18" charset="0"/>
              <a:cs typeface="Times New Roman" panose="02020603050405020304" pitchFamily="18" charset="0"/>
            </a:endParaRPr>
          </a:p>
        </p:txBody>
      </p:sp>
      <p:sp>
        <p:nvSpPr>
          <p:cNvPr id="18" name="Text 16"/>
          <p:cNvSpPr/>
          <p:nvPr/>
        </p:nvSpPr>
        <p:spPr>
          <a:xfrm>
            <a:off x="4892040" y="1682496"/>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Dataset contains no names/IDs privacy preserved in this project</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4892040" y="1965960"/>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Must not overstate model accuracy wrong predictions can harm patients</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4892040" y="2249424"/>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Bias risk: dataset may not represent all demographics equally</a:t>
            </a:r>
            <a:endParaRPr lang="en-US" sz="900" dirty="0">
              <a:latin typeface="Times New Roman" panose="02020603050405020304" pitchFamily="18" charset="0"/>
              <a:cs typeface="Times New Roman" panose="02020603050405020304" pitchFamily="18" charset="0"/>
            </a:endParaRPr>
          </a:p>
        </p:txBody>
      </p:sp>
      <p:sp>
        <p:nvSpPr>
          <p:cNvPr id="21" name="Text 19"/>
          <p:cNvSpPr/>
          <p:nvPr/>
        </p:nvSpPr>
        <p:spPr>
          <a:xfrm>
            <a:off x="4892040" y="2532888"/>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Responsible AI requires transparency about model limitations (Placido et al., 2023)</a:t>
            </a:r>
            <a:endParaRPr lang="en-US" sz="900" dirty="0">
              <a:latin typeface="Times New Roman" panose="02020603050405020304" pitchFamily="18" charset="0"/>
              <a:cs typeface="Times New Roman" panose="02020603050405020304" pitchFamily="18" charset="0"/>
            </a:endParaRPr>
          </a:p>
        </p:txBody>
      </p:sp>
      <p:sp>
        <p:nvSpPr>
          <p:cNvPr id="22" name="Shape 20"/>
          <p:cNvSpPr/>
          <p:nvPr/>
        </p:nvSpPr>
        <p:spPr>
          <a:xfrm>
            <a:off x="365760" y="2980944"/>
            <a:ext cx="4114800" cy="1755648"/>
          </a:xfrm>
          <a:prstGeom prst="roundRect">
            <a:avLst>
              <a:gd name="adj" fmla="val 5208"/>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23" name="Shape 21"/>
          <p:cNvSpPr/>
          <p:nvPr/>
        </p:nvSpPr>
        <p:spPr>
          <a:xfrm>
            <a:off x="457200" y="3072384"/>
            <a:ext cx="548640" cy="548640"/>
          </a:xfrm>
          <a:prstGeom prst="roundRect">
            <a:avLst>
              <a:gd name="adj" fmla="val 10000"/>
            </a:avLst>
          </a:prstGeom>
          <a:solidFill>
            <a:srgbClr val="B8520A"/>
          </a:solidFill>
          <a:ln w="12700">
            <a:solidFill>
              <a:srgbClr val="B8520A"/>
            </a:solidFill>
            <a:prstDash val="solid"/>
          </a:ln>
        </p:spPr>
      </p:sp>
      <p:sp>
        <p:nvSpPr>
          <p:cNvPr id="24" name="Text 22"/>
          <p:cNvSpPr/>
          <p:nvPr/>
        </p:nvSpPr>
        <p:spPr>
          <a:xfrm>
            <a:off x="457200" y="3072384"/>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L</a:t>
            </a:r>
            <a:endParaRPr lang="en-US" sz="2200" dirty="0">
              <a:latin typeface="Times New Roman" panose="02020603050405020304" pitchFamily="18" charset="0"/>
              <a:cs typeface="Times New Roman" panose="02020603050405020304" pitchFamily="18" charset="0"/>
            </a:endParaRPr>
          </a:p>
        </p:txBody>
      </p:sp>
      <p:sp>
        <p:nvSpPr>
          <p:cNvPr id="25" name="Text 23"/>
          <p:cNvSpPr/>
          <p:nvPr/>
        </p:nvSpPr>
        <p:spPr>
          <a:xfrm>
            <a:off x="1115568" y="3072384"/>
            <a:ext cx="3246120" cy="384048"/>
          </a:xfrm>
          <a:prstGeom prst="rect">
            <a:avLst/>
          </a:prstGeom>
          <a:noFill/>
          <a:ln/>
        </p:spPr>
        <p:txBody>
          <a:bodyPr wrap="square" lIns="0" tIns="0" rIns="0" bIns="0"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Legal</a:t>
            </a:r>
            <a:endParaRPr lang="en-US" sz="1300" dirty="0">
              <a:latin typeface="Times New Roman" panose="02020603050405020304" pitchFamily="18" charset="0"/>
              <a:cs typeface="Times New Roman" panose="02020603050405020304" pitchFamily="18" charset="0"/>
            </a:endParaRPr>
          </a:p>
        </p:txBody>
      </p:sp>
      <p:sp>
        <p:nvSpPr>
          <p:cNvPr id="26" name="Text 24"/>
          <p:cNvSpPr/>
          <p:nvPr/>
        </p:nvSpPr>
        <p:spPr>
          <a:xfrm>
            <a:off x="502920" y="3584448"/>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Any real clinical use must comply with UK Data Protection Act 2018</a:t>
            </a:r>
            <a:endParaRPr lang="en-US" sz="900" dirty="0">
              <a:latin typeface="Times New Roman" panose="02020603050405020304" pitchFamily="18" charset="0"/>
              <a:cs typeface="Times New Roman" panose="02020603050405020304" pitchFamily="18" charset="0"/>
            </a:endParaRPr>
          </a:p>
        </p:txBody>
      </p:sp>
      <p:sp>
        <p:nvSpPr>
          <p:cNvPr id="27" name="Text 25"/>
          <p:cNvSpPr/>
          <p:nvPr/>
        </p:nvSpPr>
        <p:spPr>
          <a:xfrm>
            <a:off x="502920" y="3867912"/>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Patient data requires explicit informed consent under GDPR</a:t>
            </a:r>
            <a:endParaRPr lang="en-US" sz="900" dirty="0">
              <a:latin typeface="Times New Roman" panose="02020603050405020304" pitchFamily="18" charset="0"/>
              <a:cs typeface="Times New Roman" panose="02020603050405020304" pitchFamily="18" charset="0"/>
            </a:endParaRPr>
          </a:p>
        </p:txBody>
      </p:sp>
      <p:sp>
        <p:nvSpPr>
          <p:cNvPr id="28" name="Text 26"/>
          <p:cNvSpPr/>
          <p:nvPr/>
        </p:nvSpPr>
        <p:spPr>
          <a:xfrm>
            <a:off x="502920" y="4151376"/>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Healthcare AI must meet NHS/MHRA digital health regulations</a:t>
            </a:r>
            <a:endParaRPr lang="en-US" sz="900" dirty="0">
              <a:latin typeface="Times New Roman" panose="02020603050405020304" pitchFamily="18" charset="0"/>
              <a:cs typeface="Times New Roman" panose="02020603050405020304" pitchFamily="18" charset="0"/>
            </a:endParaRPr>
          </a:p>
        </p:txBody>
      </p:sp>
      <p:sp>
        <p:nvSpPr>
          <p:cNvPr id="29" name="Text 27"/>
          <p:cNvSpPr/>
          <p:nvPr/>
        </p:nvSpPr>
        <p:spPr>
          <a:xfrm>
            <a:off x="502920" y="4434840"/>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Open dataset used no data-sharing agreement required for this project</a:t>
            </a:r>
            <a:endParaRPr lang="en-US" sz="900" dirty="0">
              <a:latin typeface="Times New Roman" panose="02020603050405020304" pitchFamily="18" charset="0"/>
              <a:cs typeface="Times New Roman" panose="02020603050405020304" pitchFamily="18" charset="0"/>
            </a:endParaRPr>
          </a:p>
        </p:txBody>
      </p:sp>
      <p:sp>
        <p:nvSpPr>
          <p:cNvPr id="30" name="Shape 28"/>
          <p:cNvSpPr/>
          <p:nvPr/>
        </p:nvSpPr>
        <p:spPr>
          <a:xfrm>
            <a:off x="4754880" y="2980944"/>
            <a:ext cx="4114800" cy="1755648"/>
          </a:xfrm>
          <a:prstGeom prst="roundRect">
            <a:avLst>
              <a:gd name="adj" fmla="val 5208"/>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31" name="Shape 29"/>
          <p:cNvSpPr/>
          <p:nvPr/>
        </p:nvSpPr>
        <p:spPr>
          <a:xfrm>
            <a:off x="4846320" y="3072384"/>
            <a:ext cx="548640" cy="548640"/>
          </a:xfrm>
          <a:prstGeom prst="roundRect">
            <a:avLst>
              <a:gd name="adj" fmla="val 10000"/>
            </a:avLst>
          </a:prstGeom>
          <a:solidFill>
            <a:srgbClr val="7B3FA0"/>
          </a:solidFill>
          <a:ln w="12700">
            <a:solidFill>
              <a:srgbClr val="7B3FA0"/>
            </a:solidFill>
            <a:prstDash val="solid"/>
          </a:ln>
        </p:spPr>
      </p:sp>
      <p:sp>
        <p:nvSpPr>
          <p:cNvPr id="32" name="Text 30"/>
          <p:cNvSpPr/>
          <p:nvPr/>
        </p:nvSpPr>
        <p:spPr>
          <a:xfrm>
            <a:off x="4846320" y="3072384"/>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P</a:t>
            </a:r>
            <a:endParaRPr lang="en-US" sz="2200" dirty="0">
              <a:latin typeface="Times New Roman" panose="02020603050405020304" pitchFamily="18" charset="0"/>
              <a:cs typeface="Times New Roman" panose="02020603050405020304" pitchFamily="18" charset="0"/>
            </a:endParaRPr>
          </a:p>
        </p:txBody>
      </p:sp>
      <p:sp>
        <p:nvSpPr>
          <p:cNvPr id="33" name="Text 31"/>
          <p:cNvSpPr/>
          <p:nvPr/>
        </p:nvSpPr>
        <p:spPr>
          <a:xfrm>
            <a:off x="5504688" y="3072384"/>
            <a:ext cx="3246120" cy="384048"/>
          </a:xfrm>
          <a:prstGeom prst="rect">
            <a:avLst/>
          </a:prstGeom>
          <a:noFill/>
          <a:ln/>
        </p:spPr>
        <p:txBody>
          <a:bodyPr wrap="square" lIns="0" tIns="0" rIns="0" bIns="0"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Professional</a:t>
            </a:r>
            <a:endParaRPr lang="en-US" sz="1300" dirty="0">
              <a:latin typeface="Times New Roman" panose="02020603050405020304" pitchFamily="18" charset="0"/>
              <a:cs typeface="Times New Roman" panose="02020603050405020304" pitchFamily="18" charset="0"/>
            </a:endParaRPr>
          </a:p>
        </p:txBody>
      </p:sp>
      <p:sp>
        <p:nvSpPr>
          <p:cNvPr id="34" name="Text 32"/>
          <p:cNvSpPr/>
          <p:nvPr/>
        </p:nvSpPr>
        <p:spPr>
          <a:xfrm>
            <a:off x="4892040" y="3584448"/>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BCS Code of Conduct (2022): be honest about competence and limitations</a:t>
            </a:r>
            <a:endParaRPr lang="en-US" sz="900" dirty="0">
              <a:latin typeface="Times New Roman" panose="02020603050405020304" pitchFamily="18" charset="0"/>
              <a:cs typeface="Times New Roman" panose="02020603050405020304" pitchFamily="18" charset="0"/>
            </a:endParaRPr>
          </a:p>
        </p:txBody>
      </p:sp>
      <p:sp>
        <p:nvSpPr>
          <p:cNvPr id="35" name="Text 33"/>
          <p:cNvSpPr/>
          <p:nvPr/>
        </p:nvSpPr>
        <p:spPr>
          <a:xfrm>
            <a:off x="4892040" y="3867912"/>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Human oversight must remain AI augments, not replaces, clinical judgement</a:t>
            </a:r>
            <a:endParaRPr lang="en-US" sz="900" dirty="0">
              <a:latin typeface="Times New Roman" panose="02020603050405020304" pitchFamily="18" charset="0"/>
              <a:cs typeface="Times New Roman" panose="02020603050405020304" pitchFamily="18" charset="0"/>
            </a:endParaRPr>
          </a:p>
        </p:txBody>
      </p:sp>
      <p:sp>
        <p:nvSpPr>
          <p:cNvPr id="36" name="Text 34"/>
          <p:cNvSpPr/>
          <p:nvPr/>
        </p:nvSpPr>
        <p:spPr>
          <a:xfrm>
            <a:off x="4892040" y="4151376"/>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Model must be thoroughly validated before any clinical deployment</a:t>
            </a:r>
            <a:endParaRPr lang="en-US" sz="900" dirty="0">
              <a:latin typeface="Times New Roman" panose="02020603050405020304" pitchFamily="18" charset="0"/>
              <a:cs typeface="Times New Roman" panose="02020603050405020304" pitchFamily="18" charset="0"/>
            </a:endParaRPr>
          </a:p>
        </p:txBody>
      </p:sp>
      <p:sp>
        <p:nvSpPr>
          <p:cNvPr id="37" name="Text 35"/>
          <p:cNvSpPr/>
          <p:nvPr/>
        </p:nvSpPr>
        <p:spPr>
          <a:xfrm>
            <a:off x="4892040" y="4434840"/>
            <a:ext cx="3840480" cy="256032"/>
          </a:xfrm>
          <a:prstGeom prst="rect">
            <a:avLst/>
          </a:prstGeom>
          <a:noFill/>
          <a:ln/>
        </p:spPr>
        <p:txBody>
          <a:bodyPr wrap="square" lIns="0" tIns="0" rIns="0" bIns="0" rtlCol="0" anchor="ctr"/>
          <a:lstStyle/>
          <a:p>
            <a:pPr marL="0" indent="0">
              <a:buNone/>
            </a:pPr>
            <a:r>
              <a:rPr lang="en-US" sz="900" dirty="0">
                <a:solidFill>
                  <a:srgbClr val="1A1A2E"/>
                </a:solidFill>
                <a:latin typeface="Times New Roman" panose="02020603050405020304" pitchFamily="18" charset="0"/>
                <a:ea typeface="Calibri" pitchFamily="34" charset="-122"/>
                <a:cs typeface="Times New Roman" panose="02020603050405020304" pitchFamily="18" charset="0"/>
              </a:rPr>
              <a:t>→  Data Scientist accountable for transparency in reporting results to management</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w="12700">
            <a:solidFill>
              <a:srgbClr val="1B3A6B"/>
            </a:solidFill>
            <a:prstDash val="solid"/>
          </a:ln>
        </p:spPr>
      </p:sp>
      <p:sp>
        <p:nvSpPr>
          <p:cNvPr id="3" name="Text 1"/>
          <p:cNvSpPr/>
          <p:nvPr/>
        </p:nvSpPr>
        <p:spPr>
          <a:xfrm>
            <a:off x="411480" y="0"/>
            <a:ext cx="7680960" cy="53035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CONCLUSION</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138160" y="0"/>
            <a:ext cx="822960" cy="530352"/>
          </a:xfrm>
          <a:prstGeom prst="rect">
            <a:avLst/>
          </a:prstGeom>
          <a:noFill/>
          <a:ln/>
        </p:spPr>
        <p:txBody>
          <a:bodyPr wrap="square" lIns="0" tIns="0" rIns="0" bIns="0" rtlCol="0" anchor="ctr"/>
          <a:lstStyle/>
          <a:p>
            <a:pPr marL="0" indent="0" algn="r">
              <a:buNone/>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11480" y="640080"/>
            <a:ext cx="8321040" cy="320040"/>
          </a:xfrm>
          <a:prstGeom prst="rect">
            <a:avLst/>
          </a:prstGeom>
          <a:noFill/>
          <a:ln/>
        </p:spPr>
        <p:txBody>
          <a:bodyPr wrap="square" rtlCol="0" anchor="ctr"/>
          <a:lstStyle/>
          <a:p>
            <a:pPr marL="0" indent="0">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Summary &amp; Recommendation to TechHealthCare Solutions Ltd</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411480" y="1051560"/>
            <a:ext cx="8321040" cy="1143000"/>
          </a:xfrm>
          <a:prstGeom prst="roundRect">
            <a:avLst>
              <a:gd name="adj" fmla="val 8000"/>
            </a:avLst>
          </a:prstGeom>
          <a:solidFill>
            <a:srgbClr val="D6E4F7"/>
          </a:solidFill>
          <a:ln w="9525">
            <a:solidFill>
              <a:srgbClr val="C8D8EE"/>
            </a:solidFill>
            <a:prstDash val="solid"/>
          </a:ln>
          <a:effectLst>
            <a:outerShdw blurRad="101600" dist="25400" dir="2700000" algn="bl" rotWithShape="0">
              <a:srgbClr val="000000">
                <a:alpha val="10000"/>
              </a:srgbClr>
            </a:outerShdw>
          </a:effectLst>
        </p:spPr>
      </p:sp>
      <p:sp>
        <p:nvSpPr>
          <p:cNvPr id="7" name="Text 5"/>
          <p:cNvSpPr/>
          <p:nvPr/>
        </p:nvSpPr>
        <p:spPr>
          <a:xfrm>
            <a:off x="594360" y="1143000"/>
            <a:ext cx="7955280" cy="987552"/>
          </a:xfrm>
          <a:prstGeom prst="rect">
            <a:avLst/>
          </a:prstGeom>
          <a:noFill/>
          <a:ln/>
        </p:spPr>
        <p:txBody>
          <a:bodyPr wrap="square" rtlCol="0" anchor="ctr"/>
          <a:lstStyle/>
          <a:p>
            <a:pPr marL="0" indent="0">
              <a:lnSpc>
                <a:spcPct val="145000"/>
              </a:lnSpc>
              <a:buNone/>
            </a:pPr>
            <a:r>
              <a:rPr lang="en-US" sz="1300" b="1" dirty="0">
                <a:solidFill>
                  <a:srgbClr val="1B3A6B"/>
                </a:solidFill>
                <a:latin typeface="Times New Roman" panose="02020603050405020304" pitchFamily="18" charset="0"/>
                <a:ea typeface="Calibri" pitchFamily="34" charset="-122"/>
                <a:cs typeface="Times New Roman" panose="02020603050405020304" pitchFamily="18" charset="0"/>
              </a:rPr>
              <a:t>★  Recommendation: </a:t>
            </a:r>
            <a:r>
              <a:rPr lang="en-US" sz="1150" dirty="0">
                <a:solidFill>
                  <a:srgbClr val="1A1A2E"/>
                </a:solidFill>
                <a:latin typeface="Times New Roman" panose="02020603050405020304" pitchFamily="18" charset="0"/>
                <a:ea typeface="Calibri" pitchFamily="34" charset="-122"/>
                <a:cs typeface="Times New Roman" panose="02020603050405020304" pitchFamily="18" charset="0"/>
              </a:rPr>
              <a:t>The Random Forest model achieved ROC-AUC = 0.847 comparable to Muhammad et al. (2019) benchmark of -0.85 using only free open-source tools and a public dataset. This confirms the machine learning approach is viable. TechHealthCare Solutions Ltd should consider investing in real clinical data collection to build a deployable system.</a:t>
            </a:r>
            <a:endParaRPr lang="en-US" sz="1300" dirty="0">
              <a:latin typeface="Times New Roman" panose="02020603050405020304" pitchFamily="18" charset="0"/>
              <a:cs typeface="Times New Roman" panose="02020603050405020304" pitchFamily="18" charset="0"/>
            </a:endParaRPr>
          </a:p>
        </p:txBody>
      </p:sp>
      <p:sp>
        <p:nvSpPr>
          <p:cNvPr id="8" name="Shape 6"/>
          <p:cNvSpPr/>
          <p:nvPr/>
        </p:nvSpPr>
        <p:spPr>
          <a:xfrm>
            <a:off x="411480" y="2313432"/>
            <a:ext cx="8321040" cy="457200"/>
          </a:xfrm>
          <a:prstGeom prst="roundRect">
            <a:avLst>
              <a:gd name="adj" fmla="val 20000"/>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9" name="Shape 7"/>
          <p:cNvSpPr/>
          <p:nvPr/>
        </p:nvSpPr>
        <p:spPr>
          <a:xfrm>
            <a:off x="502920" y="2368296"/>
            <a:ext cx="164592" cy="329184"/>
          </a:xfrm>
          <a:prstGeom prst="roundRect">
            <a:avLst>
              <a:gd name="adj" fmla="val 22222"/>
            </a:avLst>
          </a:prstGeom>
          <a:solidFill>
            <a:srgbClr val="217A3C"/>
          </a:solidFill>
          <a:ln w="12700">
            <a:solidFill>
              <a:srgbClr val="217A3C"/>
            </a:solidFill>
            <a:prstDash val="solid"/>
          </a:ln>
        </p:spPr>
      </p:sp>
      <p:sp>
        <p:nvSpPr>
          <p:cNvPr id="10" name="Text 8"/>
          <p:cNvSpPr/>
          <p:nvPr/>
        </p:nvSpPr>
        <p:spPr>
          <a:xfrm>
            <a:off x="804672" y="2359152"/>
            <a:ext cx="2286000" cy="320040"/>
          </a:xfrm>
          <a:prstGeom prst="rect">
            <a:avLst/>
          </a:prstGeom>
          <a:noFill/>
          <a:ln/>
        </p:spPr>
        <p:txBody>
          <a:bodyPr wrap="square" lIns="0" tIns="0" rIns="0" bIns="0" rtlCol="0" anchor="ctr"/>
          <a:lstStyle/>
          <a:p>
            <a:pPr marL="0" indent="0">
              <a:buNone/>
            </a:pPr>
            <a:r>
              <a:rPr lang="en-US" sz="1050" b="1" dirty="0">
                <a:solidFill>
                  <a:srgbClr val="1B3A6B"/>
                </a:solidFill>
                <a:latin typeface="Times New Roman" panose="02020603050405020304" pitchFamily="18" charset="0"/>
                <a:ea typeface="Calibri" pitchFamily="34" charset="-122"/>
                <a:cs typeface="Times New Roman" panose="02020603050405020304" pitchFamily="18" charset="0"/>
              </a:rPr>
              <a:t>Objectives Achieved</a:t>
            </a:r>
            <a:endParaRPr lang="en-US" sz="1050" dirty="0">
              <a:latin typeface="Times New Roman" panose="02020603050405020304" pitchFamily="18" charset="0"/>
              <a:cs typeface="Times New Roman" panose="02020603050405020304" pitchFamily="18" charset="0"/>
            </a:endParaRPr>
          </a:p>
        </p:txBody>
      </p:sp>
      <p:sp>
        <p:nvSpPr>
          <p:cNvPr id="11" name="Text 9"/>
          <p:cNvSpPr/>
          <p:nvPr/>
        </p:nvSpPr>
        <p:spPr>
          <a:xfrm>
            <a:off x="3200400" y="2359152"/>
            <a:ext cx="5349240" cy="365760"/>
          </a:xfrm>
          <a:prstGeom prst="rect">
            <a:avLst/>
          </a:prstGeom>
          <a:noFill/>
          <a:ln/>
        </p:spPr>
        <p:txBody>
          <a:bodyPr wrap="square" lIns="0" tIns="0" rIns="0" bIns="0" rtlCol="0" anchor="ctr"/>
          <a:lstStyle/>
          <a:p>
            <a:pPr marL="0" indent="0">
              <a:lnSpc>
                <a:spcPct val="120000"/>
              </a:lnSpc>
              <a:buNone/>
            </a:pPr>
            <a:r>
              <a:rPr lang="en-US" sz="1000" dirty="0">
                <a:solidFill>
                  <a:srgbClr val="1A1A2E"/>
                </a:solidFill>
                <a:latin typeface="Times New Roman" panose="02020603050405020304" pitchFamily="18" charset="0"/>
                <a:ea typeface="Calibri" pitchFamily="34" charset="-122"/>
                <a:cs typeface="Times New Roman" panose="02020603050405020304" pitchFamily="18" charset="0"/>
              </a:rPr>
              <a:t>All six project objectives were completed. Three ML models were trained and evaluated using five standard metrics and 10-fold cross-validation.</a:t>
            </a:r>
            <a:endParaRPr lang="en-US" sz="1000" dirty="0">
              <a:latin typeface="Times New Roman" panose="02020603050405020304" pitchFamily="18" charset="0"/>
              <a:cs typeface="Times New Roman" panose="02020603050405020304" pitchFamily="18" charset="0"/>
            </a:endParaRPr>
          </a:p>
        </p:txBody>
      </p:sp>
      <p:sp>
        <p:nvSpPr>
          <p:cNvPr id="12" name="Shape 10"/>
          <p:cNvSpPr/>
          <p:nvPr/>
        </p:nvSpPr>
        <p:spPr>
          <a:xfrm>
            <a:off x="411480" y="2834640"/>
            <a:ext cx="8321040" cy="457200"/>
          </a:xfrm>
          <a:prstGeom prst="roundRect">
            <a:avLst>
              <a:gd name="adj" fmla="val 20000"/>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3" name="Shape 11"/>
          <p:cNvSpPr/>
          <p:nvPr/>
        </p:nvSpPr>
        <p:spPr>
          <a:xfrm>
            <a:off x="502920" y="2889504"/>
            <a:ext cx="164592" cy="329184"/>
          </a:xfrm>
          <a:prstGeom prst="roundRect">
            <a:avLst>
              <a:gd name="adj" fmla="val 22222"/>
            </a:avLst>
          </a:prstGeom>
          <a:solidFill>
            <a:srgbClr val="2E6DB4"/>
          </a:solidFill>
          <a:ln w="12700">
            <a:solidFill>
              <a:srgbClr val="2E6DB4"/>
            </a:solidFill>
            <a:prstDash val="solid"/>
          </a:ln>
        </p:spPr>
      </p:sp>
      <p:sp>
        <p:nvSpPr>
          <p:cNvPr id="14" name="Text 12"/>
          <p:cNvSpPr/>
          <p:nvPr/>
        </p:nvSpPr>
        <p:spPr>
          <a:xfrm>
            <a:off x="804672" y="2880360"/>
            <a:ext cx="2286000" cy="320040"/>
          </a:xfrm>
          <a:prstGeom prst="rect">
            <a:avLst/>
          </a:prstGeom>
          <a:noFill/>
          <a:ln/>
        </p:spPr>
        <p:txBody>
          <a:bodyPr wrap="square" lIns="0" tIns="0" rIns="0" bIns="0" rtlCol="0" anchor="ctr"/>
          <a:lstStyle/>
          <a:p>
            <a:pPr marL="0" indent="0">
              <a:buNone/>
            </a:pPr>
            <a:r>
              <a:rPr lang="en-US" sz="1050" b="1" dirty="0">
                <a:solidFill>
                  <a:srgbClr val="1B3A6B"/>
                </a:solidFill>
                <a:latin typeface="Times New Roman" panose="02020603050405020304" pitchFamily="18" charset="0"/>
                <a:ea typeface="Calibri" pitchFamily="34" charset="-122"/>
                <a:cs typeface="Times New Roman" panose="02020603050405020304" pitchFamily="18" charset="0"/>
              </a:rPr>
              <a:t>CRISP-DM Followed</a:t>
            </a:r>
            <a:endParaRPr lang="en-US" sz="1050" dirty="0">
              <a:latin typeface="Times New Roman" panose="02020603050405020304" pitchFamily="18" charset="0"/>
              <a:cs typeface="Times New Roman" panose="02020603050405020304" pitchFamily="18" charset="0"/>
            </a:endParaRPr>
          </a:p>
        </p:txBody>
      </p:sp>
      <p:sp>
        <p:nvSpPr>
          <p:cNvPr id="15" name="Text 13"/>
          <p:cNvSpPr/>
          <p:nvPr/>
        </p:nvSpPr>
        <p:spPr>
          <a:xfrm>
            <a:off x="3200400" y="2880360"/>
            <a:ext cx="5349240" cy="365760"/>
          </a:xfrm>
          <a:prstGeom prst="rect">
            <a:avLst/>
          </a:prstGeom>
          <a:noFill/>
          <a:ln/>
        </p:spPr>
        <p:txBody>
          <a:bodyPr wrap="square" lIns="0" tIns="0" rIns="0" bIns="0" rtlCol="0" anchor="ctr"/>
          <a:lstStyle/>
          <a:p>
            <a:pPr marL="0" indent="0">
              <a:lnSpc>
                <a:spcPct val="120000"/>
              </a:lnSpc>
              <a:buNone/>
            </a:pPr>
            <a:r>
              <a:rPr lang="en-US" sz="1000" dirty="0">
                <a:solidFill>
                  <a:srgbClr val="1A1A2E"/>
                </a:solidFill>
                <a:latin typeface="Times New Roman" panose="02020603050405020304" pitchFamily="18" charset="0"/>
                <a:ea typeface="Calibri" pitchFamily="34" charset="-122"/>
                <a:cs typeface="Times New Roman" panose="02020603050405020304" pitchFamily="18" charset="0"/>
              </a:rPr>
              <a:t>The project followed all six CRISP-DM phases: Business Understanding → Data Understanding → Preparation → Modelling → Evaluation → Deployment.</a:t>
            </a:r>
            <a:endParaRPr lang="en-US" sz="1000" dirty="0">
              <a:latin typeface="Times New Roman" panose="02020603050405020304" pitchFamily="18" charset="0"/>
              <a:cs typeface="Times New Roman" panose="02020603050405020304" pitchFamily="18" charset="0"/>
            </a:endParaRPr>
          </a:p>
        </p:txBody>
      </p:sp>
      <p:sp>
        <p:nvSpPr>
          <p:cNvPr id="16" name="Shape 14"/>
          <p:cNvSpPr/>
          <p:nvPr/>
        </p:nvSpPr>
        <p:spPr>
          <a:xfrm>
            <a:off x="411480" y="3355848"/>
            <a:ext cx="8321040" cy="457200"/>
          </a:xfrm>
          <a:prstGeom prst="roundRect">
            <a:avLst>
              <a:gd name="adj" fmla="val 20000"/>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17" name="Shape 15"/>
          <p:cNvSpPr/>
          <p:nvPr/>
        </p:nvSpPr>
        <p:spPr>
          <a:xfrm>
            <a:off x="502920" y="3410712"/>
            <a:ext cx="164592" cy="329184"/>
          </a:xfrm>
          <a:prstGeom prst="roundRect">
            <a:avLst>
              <a:gd name="adj" fmla="val 22222"/>
            </a:avLst>
          </a:prstGeom>
          <a:solidFill>
            <a:srgbClr val="7B3FA0"/>
          </a:solidFill>
          <a:ln w="12700">
            <a:solidFill>
              <a:srgbClr val="7B3FA0"/>
            </a:solidFill>
            <a:prstDash val="solid"/>
          </a:ln>
        </p:spPr>
      </p:sp>
      <p:sp>
        <p:nvSpPr>
          <p:cNvPr id="18" name="Text 16"/>
          <p:cNvSpPr/>
          <p:nvPr/>
        </p:nvSpPr>
        <p:spPr>
          <a:xfrm>
            <a:off x="804672" y="3401568"/>
            <a:ext cx="2286000" cy="320040"/>
          </a:xfrm>
          <a:prstGeom prst="rect">
            <a:avLst/>
          </a:prstGeom>
          <a:noFill/>
          <a:ln/>
        </p:spPr>
        <p:txBody>
          <a:bodyPr wrap="square" lIns="0" tIns="0" rIns="0" bIns="0" rtlCol="0" anchor="ctr"/>
          <a:lstStyle/>
          <a:p>
            <a:pPr marL="0" indent="0">
              <a:buNone/>
            </a:pPr>
            <a:r>
              <a:rPr lang="en-US" sz="1050" b="1" dirty="0">
                <a:solidFill>
                  <a:srgbClr val="1B3A6B"/>
                </a:solidFill>
                <a:latin typeface="Times New Roman" panose="02020603050405020304" pitchFamily="18" charset="0"/>
                <a:ea typeface="Calibri" pitchFamily="34" charset="-122"/>
                <a:cs typeface="Times New Roman" panose="02020603050405020304" pitchFamily="18" charset="0"/>
              </a:rPr>
              <a:t>Best Model Identified</a:t>
            </a:r>
            <a:endParaRPr lang="en-US" sz="1050" dirty="0">
              <a:latin typeface="Times New Roman" panose="02020603050405020304" pitchFamily="18" charset="0"/>
              <a:cs typeface="Times New Roman" panose="02020603050405020304" pitchFamily="18" charset="0"/>
            </a:endParaRPr>
          </a:p>
        </p:txBody>
      </p:sp>
      <p:sp>
        <p:nvSpPr>
          <p:cNvPr id="19" name="Text 17"/>
          <p:cNvSpPr/>
          <p:nvPr/>
        </p:nvSpPr>
        <p:spPr>
          <a:xfrm>
            <a:off x="3200400" y="3401568"/>
            <a:ext cx="5349240" cy="365760"/>
          </a:xfrm>
          <a:prstGeom prst="rect">
            <a:avLst/>
          </a:prstGeom>
          <a:noFill/>
          <a:ln/>
        </p:spPr>
        <p:txBody>
          <a:bodyPr wrap="square" lIns="0" tIns="0" rIns="0" bIns="0" rtlCol="0" anchor="ctr"/>
          <a:lstStyle/>
          <a:p>
            <a:pPr marL="0" indent="0">
              <a:lnSpc>
                <a:spcPct val="120000"/>
              </a:lnSpc>
              <a:buNone/>
            </a:pPr>
            <a:r>
              <a:rPr lang="en-US" sz="1000" dirty="0">
                <a:solidFill>
                  <a:srgbClr val="1A1A2E"/>
                </a:solidFill>
                <a:latin typeface="Times New Roman" panose="02020603050405020304" pitchFamily="18" charset="0"/>
                <a:ea typeface="Calibri" pitchFamily="34" charset="-122"/>
                <a:cs typeface="Times New Roman" panose="02020603050405020304" pitchFamily="18" charset="0"/>
              </a:rPr>
              <a:t>Random Forest outperformed both Logistic Regression and Decision Tree on Accuracy, F1-Score and ROC-AUC across all evaluation settings.</a:t>
            </a:r>
            <a:endParaRPr lang="en-US" sz="1000" dirty="0">
              <a:latin typeface="Times New Roman" panose="02020603050405020304" pitchFamily="18" charset="0"/>
              <a:cs typeface="Times New Roman" panose="02020603050405020304" pitchFamily="18" charset="0"/>
            </a:endParaRPr>
          </a:p>
        </p:txBody>
      </p:sp>
      <p:sp>
        <p:nvSpPr>
          <p:cNvPr id="20" name="Shape 18"/>
          <p:cNvSpPr/>
          <p:nvPr/>
        </p:nvSpPr>
        <p:spPr>
          <a:xfrm>
            <a:off x="411480" y="3877056"/>
            <a:ext cx="8321040" cy="457200"/>
          </a:xfrm>
          <a:prstGeom prst="roundRect">
            <a:avLst>
              <a:gd name="adj" fmla="val 20000"/>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21" name="Shape 19"/>
          <p:cNvSpPr/>
          <p:nvPr/>
        </p:nvSpPr>
        <p:spPr>
          <a:xfrm>
            <a:off x="502920" y="3931920"/>
            <a:ext cx="164592" cy="329184"/>
          </a:xfrm>
          <a:prstGeom prst="roundRect">
            <a:avLst>
              <a:gd name="adj" fmla="val 22222"/>
            </a:avLst>
          </a:prstGeom>
          <a:solidFill>
            <a:srgbClr val="B8520A"/>
          </a:solidFill>
          <a:ln w="12700">
            <a:solidFill>
              <a:srgbClr val="B8520A"/>
            </a:solidFill>
            <a:prstDash val="solid"/>
          </a:ln>
        </p:spPr>
      </p:sp>
      <p:sp>
        <p:nvSpPr>
          <p:cNvPr id="22" name="Text 20"/>
          <p:cNvSpPr/>
          <p:nvPr/>
        </p:nvSpPr>
        <p:spPr>
          <a:xfrm>
            <a:off x="804672" y="3922776"/>
            <a:ext cx="2286000" cy="320040"/>
          </a:xfrm>
          <a:prstGeom prst="rect">
            <a:avLst/>
          </a:prstGeom>
          <a:noFill/>
          <a:ln/>
        </p:spPr>
        <p:txBody>
          <a:bodyPr wrap="square" lIns="0" tIns="0" rIns="0" bIns="0" rtlCol="0" anchor="ctr"/>
          <a:lstStyle/>
          <a:p>
            <a:pPr marL="0" indent="0">
              <a:buNone/>
            </a:pPr>
            <a:r>
              <a:rPr lang="en-US" sz="1050" b="1" dirty="0">
                <a:solidFill>
                  <a:srgbClr val="1B3A6B"/>
                </a:solidFill>
                <a:latin typeface="Times New Roman" panose="02020603050405020304" pitchFamily="18" charset="0"/>
                <a:ea typeface="Calibri" pitchFamily="34" charset="-122"/>
                <a:cs typeface="Times New Roman" panose="02020603050405020304" pitchFamily="18" charset="0"/>
              </a:rPr>
              <a:t>Lessons Learned</a:t>
            </a:r>
            <a:endParaRPr lang="en-US" sz="1050" dirty="0">
              <a:latin typeface="Times New Roman" panose="02020603050405020304" pitchFamily="18" charset="0"/>
              <a:cs typeface="Times New Roman" panose="02020603050405020304" pitchFamily="18" charset="0"/>
            </a:endParaRPr>
          </a:p>
        </p:txBody>
      </p:sp>
      <p:sp>
        <p:nvSpPr>
          <p:cNvPr id="23" name="Text 21"/>
          <p:cNvSpPr/>
          <p:nvPr/>
        </p:nvSpPr>
        <p:spPr>
          <a:xfrm>
            <a:off x="3200400" y="3922776"/>
            <a:ext cx="5349240" cy="365760"/>
          </a:xfrm>
          <a:prstGeom prst="rect">
            <a:avLst/>
          </a:prstGeom>
          <a:noFill/>
          <a:ln/>
        </p:spPr>
        <p:txBody>
          <a:bodyPr wrap="square" lIns="0" tIns="0" rIns="0" bIns="0" rtlCol="0" anchor="ctr"/>
          <a:lstStyle/>
          <a:p>
            <a:pPr marL="0" indent="0">
              <a:lnSpc>
                <a:spcPct val="120000"/>
              </a:lnSpc>
              <a:buNone/>
            </a:pPr>
            <a:r>
              <a:rPr lang="en-US" sz="1000" dirty="0">
                <a:solidFill>
                  <a:srgbClr val="1A1A2E"/>
                </a:solidFill>
                <a:latin typeface="Times New Roman" panose="02020603050405020304" pitchFamily="18" charset="0"/>
                <a:ea typeface="Calibri" pitchFamily="34" charset="-122"/>
                <a:cs typeface="Times New Roman" panose="02020603050405020304" pitchFamily="18" charset="0"/>
              </a:rPr>
              <a:t>Data quality and feature selection matter more than model choice. Class imbalance must be handled early. Synthetic data limits real-world conclusions.</a:t>
            </a:r>
            <a:endParaRPr lang="en-US" sz="1000" dirty="0">
              <a:latin typeface="Times New Roman" panose="02020603050405020304" pitchFamily="18" charset="0"/>
              <a:cs typeface="Times New Roman" panose="02020603050405020304" pitchFamily="18" charset="0"/>
            </a:endParaRPr>
          </a:p>
        </p:txBody>
      </p:sp>
      <p:sp>
        <p:nvSpPr>
          <p:cNvPr id="24" name="Shape 22"/>
          <p:cNvSpPr/>
          <p:nvPr/>
        </p:nvSpPr>
        <p:spPr>
          <a:xfrm>
            <a:off x="411480" y="4398264"/>
            <a:ext cx="8321040" cy="457200"/>
          </a:xfrm>
          <a:prstGeom prst="roundRect">
            <a:avLst>
              <a:gd name="adj" fmla="val 20000"/>
            </a:avLst>
          </a:prstGeom>
          <a:solidFill>
            <a:srgbClr val="FFFFFF"/>
          </a:solidFill>
          <a:ln w="9525">
            <a:solidFill>
              <a:srgbClr val="C8D8EE"/>
            </a:solidFill>
            <a:prstDash val="solid"/>
          </a:ln>
          <a:effectLst>
            <a:outerShdw blurRad="101600" dist="25400" dir="2700000" algn="bl" rotWithShape="0">
              <a:srgbClr val="000000">
                <a:alpha val="10000"/>
              </a:srgbClr>
            </a:outerShdw>
          </a:effectLst>
        </p:spPr>
      </p:sp>
      <p:sp>
        <p:nvSpPr>
          <p:cNvPr id="25" name="Shape 23"/>
          <p:cNvSpPr/>
          <p:nvPr/>
        </p:nvSpPr>
        <p:spPr>
          <a:xfrm>
            <a:off x="502920" y="4453128"/>
            <a:ext cx="164592" cy="329184"/>
          </a:xfrm>
          <a:prstGeom prst="roundRect">
            <a:avLst>
              <a:gd name="adj" fmla="val 22222"/>
            </a:avLst>
          </a:prstGeom>
          <a:solidFill>
            <a:srgbClr val="B81C1C"/>
          </a:solidFill>
          <a:ln w="12700">
            <a:solidFill>
              <a:srgbClr val="B81C1C"/>
            </a:solidFill>
            <a:prstDash val="solid"/>
          </a:ln>
        </p:spPr>
      </p:sp>
      <p:sp>
        <p:nvSpPr>
          <p:cNvPr id="26" name="Text 24"/>
          <p:cNvSpPr/>
          <p:nvPr/>
        </p:nvSpPr>
        <p:spPr>
          <a:xfrm>
            <a:off x="804672" y="4443984"/>
            <a:ext cx="2286000" cy="320040"/>
          </a:xfrm>
          <a:prstGeom prst="rect">
            <a:avLst/>
          </a:prstGeom>
          <a:noFill/>
          <a:ln/>
        </p:spPr>
        <p:txBody>
          <a:bodyPr wrap="square" lIns="0" tIns="0" rIns="0" bIns="0" rtlCol="0" anchor="ctr"/>
          <a:lstStyle/>
          <a:p>
            <a:pPr marL="0" indent="0">
              <a:buNone/>
            </a:pPr>
            <a:r>
              <a:rPr lang="en-US" sz="1050" b="1" dirty="0">
                <a:solidFill>
                  <a:srgbClr val="1B3A6B"/>
                </a:solidFill>
                <a:latin typeface="Times New Roman" panose="02020603050405020304" pitchFamily="18" charset="0"/>
                <a:ea typeface="Calibri" pitchFamily="34" charset="-122"/>
                <a:cs typeface="Times New Roman" panose="02020603050405020304" pitchFamily="18" charset="0"/>
              </a:rPr>
              <a:t>AI in Healthcare — Future</a:t>
            </a:r>
            <a:endParaRPr lang="en-US" sz="1050" dirty="0">
              <a:latin typeface="Times New Roman" panose="02020603050405020304" pitchFamily="18" charset="0"/>
              <a:cs typeface="Times New Roman" panose="02020603050405020304" pitchFamily="18" charset="0"/>
            </a:endParaRPr>
          </a:p>
        </p:txBody>
      </p:sp>
      <p:sp>
        <p:nvSpPr>
          <p:cNvPr id="27" name="Text 25"/>
          <p:cNvSpPr/>
          <p:nvPr/>
        </p:nvSpPr>
        <p:spPr>
          <a:xfrm>
            <a:off x="3200400" y="4443984"/>
            <a:ext cx="5349240" cy="365760"/>
          </a:xfrm>
          <a:prstGeom prst="rect">
            <a:avLst/>
          </a:prstGeom>
          <a:noFill/>
          <a:ln/>
        </p:spPr>
        <p:txBody>
          <a:bodyPr wrap="square" lIns="0" tIns="0" rIns="0" bIns="0" rtlCol="0" anchor="ctr"/>
          <a:lstStyle/>
          <a:p>
            <a:pPr marL="0" indent="0">
              <a:lnSpc>
                <a:spcPct val="120000"/>
              </a:lnSpc>
              <a:buNone/>
            </a:pPr>
            <a:r>
              <a:rPr lang="en-US" sz="1000" dirty="0">
                <a:solidFill>
                  <a:srgbClr val="1A1A2E"/>
                </a:solidFill>
                <a:latin typeface="Times New Roman" panose="02020603050405020304" pitchFamily="18" charset="0"/>
                <a:ea typeface="Calibri" pitchFamily="34" charset="-122"/>
                <a:cs typeface="Times New Roman" panose="02020603050405020304" pitchFamily="18" charset="0"/>
              </a:rPr>
              <a:t>With real clinical data, biomarkers, and tuned deep learning models, AUC above 0.90 is achievable (Placido et al., 2023), making this a worthwhile investment.</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3A6B"/>
        </a:solidFill>
        <a:effectLst/>
      </p:bgPr>
    </p:bg>
    <p:spTree>
      <p:nvGrpSpPr>
        <p:cNvPr id="1" name=""/>
        <p:cNvGrpSpPr/>
        <p:nvPr/>
      </p:nvGrpSpPr>
      <p:grpSpPr>
        <a:xfrm>
          <a:off x="0" y="0"/>
          <a:ext cx="0" cy="0"/>
          <a:chOff x="0" y="0"/>
          <a:chExt cx="0" cy="0"/>
        </a:xfrm>
      </p:grpSpPr>
      <p:sp>
        <p:nvSpPr>
          <p:cNvPr id="2" name="Text 0"/>
          <p:cNvSpPr/>
          <p:nvPr/>
        </p:nvSpPr>
        <p:spPr>
          <a:xfrm>
            <a:off x="411480" y="228600"/>
            <a:ext cx="8321040" cy="457200"/>
          </a:xfrm>
          <a:prstGeom prst="rect">
            <a:avLst/>
          </a:prstGeom>
          <a:noFill/>
          <a:ln/>
        </p:spPr>
        <p:txBody>
          <a:bodyPr wrap="square" rtlCol="0" anchor="ctr"/>
          <a:lstStyle/>
          <a:p>
            <a:pPr marL="0" indent="0">
              <a:buNone/>
            </a:pPr>
            <a:r>
              <a:rPr lang="en-US" sz="1800" b="1" kern="0" spc="200" dirty="0">
                <a:solidFill>
                  <a:srgbClr val="FFFFFF"/>
                </a:solidFill>
                <a:latin typeface="Times New Roman" panose="02020603050405020304" pitchFamily="18" charset="0"/>
                <a:ea typeface="Calibri" pitchFamily="34" charset="-122"/>
                <a:cs typeface="Times New Roman" panose="02020603050405020304" pitchFamily="18" charset="0"/>
              </a:rPr>
              <a:t>REFERENCES &amp; THANK YOU</a:t>
            </a:r>
            <a:endParaRPr lang="en-US" sz="1800" dirty="0">
              <a:latin typeface="Times New Roman" panose="02020603050405020304" pitchFamily="18" charset="0"/>
              <a:cs typeface="Times New Roman" panose="02020603050405020304" pitchFamily="18" charset="0"/>
            </a:endParaRPr>
          </a:p>
        </p:txBody>
      </p:sp>
      <p:sp>
        <p:nvSpPr>
          <p:cNvPr id="3" name="Shape 1"/>
          <p:cNvSpPr/>
          <p:nvPr/>
        </p:nvSpPr>
        <p:spPr>
          <a:xfrm>
            <a:off x="411480" y="713232"/>
            <a:ext cx="8321040" cy="18288"/>
          </a:xfrm>
          <a:prstGeom prst="rect">
            <a:avLst/>
          </a:prstGeom>
          <a:solidFill>
            <a:srgbClr val="A8D4FF"/>
          </a:solidFill>
          <a:ln w="12700">
            <a:solidFill>
              <a:srgbClr val="A8D4FF"/>
            </a:solidFill>
            <a:prstDash val="solid"/>
          </a:ln>
        </p:spPr>
      </p:sp>
      <p:sp>
        <p:nvSpPr>
          <p:cNvPr id="4" name="Text 2"/>
          <p:cNvSpPr/>
          <p:nvPr/>
        </p:nvSpPr>
        <p:spPr>
          <a:xfrm>
            <a:off x="411480" y="822960"/>
            <a:ext cx="8321040" cy="292608"/>
          </a:xfrm>
          <a:prstGeom prst="rect">
            <a:avLst/>
          </a:prstGeom>
          <a:noFill/>
          <a:ln/>
        </p:spPr>
        <p:txBody>
          <a:bodyPr wrap="square" rtlCol="0" anchor="ctr"/>
          <a:lstStyle/>
          <a:p>
            <a:pPr marL="0" indent="0">
              <a:buNone/>
            </a:pPr>
            <a:endParaRPr lang="en-US" sz="1200" dirty="0">
              <a:latin typeface="Times New Roman" panose="02020603050405020304" pitchFamily="18" charset="0"/>
              <a:cs typeface="Times New Roman" panose="02020603050405020304" pitchFamily="18" charset="0"/>
            </a:endParaRPr>
          </a:p>
        </p:txBody>
      </p:sp>
      <p:sp>
        <p:nvSpPr>
          <p:cNvPr id="5" name="Text 3"/>
          <p:cNvSpPr/>
          <p:nvPr/>
        </p:nvSpPr>
        <p:spPr>
          <a:xfrm>
            <a:off x="411480" y="1188720"/>
            <a:ext cx="8321040" cy="384048"/>
          </a:xfrm>
          <a:prstGeom prst="rect">
            <a:avLst/>
          </a:prstGeom>
          <a:noFill/>
          <a:ln/>
        </p:spPr>
        <p:txBody>
          <a:bodyPr wrap="square" lIns="0" tIns="0" rIns="0" bIns="0" rtlCol="0" anchor="ctr"/>
          <a:lstStyle/>
          <a:p>
            <a:pPr marL="0" indent="0">
              <a:lnSpc>
                <a:spcPct val="120000"/>
              </a:lnSpc>
              <a:buNone/>
            </a:pPr>
            <a:r>
              <a:rPr lang="en-US" sz="850" dirty="0">
                <a:solidFill>
                  <a:srgbClr val="C8D8EE"/>
                </a:solidFill>
                <a:latin typeface="Times New Roman" panose="02020603050405020304" pitchFamily="18" charset="0"/>
                <a:ea typeface="Calibri" pitchFamily="34" charset="-122"/>
                <a:cs typeface="Times New Roman" panose="02020603050405020304" pitchFamily="18" charset="0"/>
              </a:rPr>
              <a:t>Appelbaum, L., Cambronero, J. P., Stevens, J. P., Horng, S., Pollick, K., Silva, G., Haneuse, S., Piatkowski, G., Benhaga, N., Duey, S., Stevenson, M. A., Mamon, H., Kaplan, I. D., &amp; Rinard, M. C. (2021). Development and validation of a pancreatic cancer risk model for the general population using electronic health records. European Journal of Cancer, 143, 19–30.</a:t>
            </a:r>
            <a:endParaRPr lang="en-US" sz="850" dirty="0">
              <a:latin typeface="Times New Roman" panose="02020603050405020304" pitchFamily="18" charset="0"/>
              <a:cs typeface="Times New Roman" panose="02020603050405020304" pitchFamily="18" charset="0"/>
            </a:endParaRPr>
          </a:p>
        </p:txBody>
      </p:sp>
      <p:sp>
        <p:nvSpPr>
          <p:cNvPr id="6" name="Text 4"/>
          <p:cNvSpPr/>
          <p:nvPr/>
        </p:nvSpPr>
        <p:spPr>
          <a:xfrm>
            <a:off x="411480" y="1600200"/>
            <a:ext cx="8321040" cy="384048"/>
          </a:xfrm>
          <a:prstGeom prst="rect">
            <a:avLst/>
          </a:prstGeom>
          <a:noFill/>
          <a:ln/>
        </p:spPr>
        <p:txBody>
          <a:bodyPr wrap="square" lIns="0" tIns="0" rIns="0" bIns="0" rtlCol="0" anchor="ctr"/>
          <a:lstStyle/>
          <a:p>
            <a:pPr marL="0" indent="0">
              <a:lnSpc>
                <a:spcPct val="120000"/>
              </a:lnSpc>
              <a:buNone/>
            </a:pPr>
            <a:r>
              <a:rPr lang="en-US" sz="850" dirty="0">
                <a:solidFill>
                  <a:srgbClr val="C8D8EE"/>
                </a:solidFill>
                <a:latin typeface="Times New Roman" panose="02020603050405020304" pitchFamily="18" charset="0"/>
                <a:ea typeface="Calibri" pitchFamily="34" charset="-122"/>
                <a:cs typeface="Times New Roman" panose="02020603050405020304" pitchFamily="18" charset="0"/>
              </a:rPr>
              <a:t>BCS. (2022). Code of conduct for BCS members. BCS, The Chartered Institute for IT. https://www.bcs.org/media/2211/bcs-code-of-conduct.pdf</a:t>
            </a:r>
            <a:endParaRPr lang="en-US" sz="850" dirty="0">
              <a:latin typeface="Times New Roman" panose="02020603050405020304" pitchFamily="18" charset="0"/>
              <a:cs typeface="Times New Roman" panose="02020603050405020304" pitchFamily="18" charset="0"/>
            </a:endParaRPr>
          </a:p>
        </p:txBody>
      </p:sp>
      <p:sp>
        <p:nvSpPr>
          <p:cNvPr id="7" name="Text 5"/>
          <p:cNvSpPr/>
          <p:nvPr/>
        </p:nvSpPr>
        <p:spPr>
          <a:xfrm>
            <a:off x="411480" y="2011680"/>
            <a:ext cx="8321040" cy="384048"/>
          </a:xfrm>
          <a:prstGeom prst="rect">
            <a:avLst/>
          </a:prstGeom>
          <a:noFill/>
          <a:ln/>
        </p:spPr>
        <p:txBody>
          <a:bodyPr wrap="square" lIns="0" tIns="0" rIns="0" bIns="0" rtlCol="0" anchor="ctr"/>
          <a:lstStyle/>
          <a:p>
            <a:pPr marL="0" indent="0">
              <a:lnSpc>
                <a:spcPct val="120000"/>
              </a:lnSpc>
              <a:buNone/>
            </a:pPr>
            <a:r>
              <a:rPr lang="en-US" sz="850" dirty="0">
                <a:solidFill>
                  <a:srgbClr val="C8D8EE"/>
                </a:solidFill>
                <a:latin typeface="Times New Roman" panose="02020603050405020304" pitchFamily="18" charset="0"/>
                <a:ea typeface="Calibri" pitchFamily="34" charset="-122"/>
                <a:cs typeface="Times New Roman" panose="02020603050405020304" pitchFamily="18" charset="0"/>
              </a:rPr>
              <a:t>Data Science PM. (2021). CRISP-DM: A clear and concise overview. https://www.datascience-pm.com/crisp-dm-2/</a:t>
            </a:r>
            <a:endParaRPr lang="en-US" sz="850" dirty="0">
              <a:latin typeface="Times New Roman" panose="02020603050405020304" pitchFamily="18" charset="0"/>
              <a:cs typeface="Times New Roman" panose="02020603050405020304" pitchFamily="18" charset="0"/>
            </a:endParaRPr>
          </a:p>
        </p:txBody>
      </p:sp>
      <p:sp>
        <p:nvSpPr>
          <p:cNvPr id="8" name="Text 6"/>
          <p:cNvSpPr/>
          <p:nvPr/>
        </p:nvSpPr>
        <p:spPr>
          <a:xfrm>
            <a:off x="411480" y="2423160"/>
            <a:ext cx="8321040" cy="384048"/>
          </a:xfrm>
          <a:prstGeom prst="rect">
            <a:avLst/>
          </a:prstGeom>
          <a:noFill/>
          <a:ln/>
        </p:spPr>
        <p:txBody>
          <a:bodyPr wrap="square" lIns="0" tIns="0" rIns="0" bIns="0" rtlCol="0" anchor="ctr"/>
          <a:lstStyle/>
          <a:p>
            <a:pPr marL="0" indent="0">
              <a:lnSpc>
                <a:spcPct val="120000"/>
              </a:lnSpc>
              <a:buNone/>
            </a:pPr>
            <a:r>
              <a:rPr lang="en-US" sz="850" dirty="0">
                <a:solidFill>
                  <a:srgbClr val="C8D8EE"/>
                </a:solidFill>
                <a:latin typeface="Times New Roman" panose="02020603050405020304" pitchFamily="18" charset="0"/>
                <a:ea typeface="Calibri" pitchFamily="34" charset="-122"/>
                <a:cs typeface="Times New Roman" panose="02020603050405020304" pitchFamily="18" charset="0"/>
              </a:rPr>
              <a:t>Malhotra, A., Rachet, B., Bonaventure, A., Pereira, S. P., &amp; Woods, L. M. (2021). Can we screen for pancreatic cancer? PLOS ONE, 16(6), e0251876.</a:t>
            </a:r>
            <a:endParaRPr lang="en-US" sz="850" dirty="0">
              <a:latin typeface="Times New Roman" panose="02020603050405020304" pitchFamily="18" charset="0"/>
              <a:cs typeface="Times New Roman" panose="02020603050405020304" pitchFamily="18" charset="0"/>
            </a:endParaRPr>
          </a:p>
        </p:txBody>
      </p:sp>
      <p:sp>
        <p:nvSpPr>
          <p:cNvPr id="9" name="Text 7"/>
          <p:cNvSpPr/>
          <p:nvPr/>
        </p:nvSpPr>
        <p:spPr>
          <a:xfrm>
            <a:off x="411480" y="2834640"/>
            <a:ext cx="8321040" cy="384048"/>
          </a:xfrm>
          <a:prstGeom prst="rect">
            <a:avLst/>
          </a:prstGeom>
          <a:noFill/>
          <a:ln/>
        </p:spPr>
        <p:txBody>
          <a:bodyPr wrap="square" lIns="0" tIns="0" rIns="0" bIns="0" rtlCol="0" anchor="ctr"/>
          <a:lstStyle/>
          <a:p>
            <a:pPr marL="0" indent="0">
              <a:lnSpc>
                <a:spcPct val="120000"/>
              </a:lnSpc>
              <a:buNone/>
            </a:pPr>
            <a:r>
              <a:rPr lang="en-US" sz="850" dirty="0">
                <a:solidFill>
                  <a:srgbClr val="C8D8EE"/>
                </a:solidFill>
                <a:latin typeface="Times New Roman" panose="02020603050405020304" pitchFamily="18" charset="0"/>
                <a:ea typeface="Calibri" pitchFamily="34" charset="-122"/>
                <a:cs typeface="Times New Roman" panose="02020603050405020304" pitchFamily="18" charset="0"/>
              </a:rPr>
              <a:t>Muhammad, W., Hart, G. R., Nartowt, B., Farrell, J. J., Johung, K., Liang, Y., &amp; Deng, J. (2019). Pancreatic cancer prediction through an artificial neural network. Frontiers in Artificial Intelligence, 2, Article 2.</a:t>
            </a:r>
            <a:endParaRPr lang="en-US" sz="850" dirty="0">
              <a:latin typeface="Times New Roman" panose="02020603050405020304" pitchFamily="18" charset="0"/>
              <a:cs typeface="Times New Roman" panose="02020603050405020304" pitchFamily="18" charset="0"/>
            </a:endParaRPr>
          </a:p>
        </p:txBody>
      </p:sp>
      <p:sp>
        <p:nvSpPr>
          <p:cNvPr id="10" name="Text 8"/>
          <p:cNvSpPr/>
          <p:nvPr/>
        </p:nvSpPr>
        <p:spPr>
          <a:xfrm>
            <a:off x="411480" y="3246120"/>
            <a:ext cx="8321040" cy="384048"/>
          </a:xfrm>
          <a:prstGeom prst="rect">
            <a:avLst/>
          </a:prstGeom>
          <a:noFill/>
          <a:ln/>
        </p:spPr>
        <p:txBody>
          <a:bodyPr wrap="square" lIns="0" tIns="0" rIns="0" bIns="0" rtlCol="0" anchor="ctr"/>
          <a:lstStyle/>
          <a:p>
            <a:pPr marL="0" indent="0">
              <a:lnSpc>
                <a:spcPct val="120000"/>
              </a:lnSpc>
              <a:buNone/>
            </a:pPr>
            <a:r>
              <a:rPr lang="en-US" sz="850" dirty="0">
                <a:solidFill>
                  <a:srgbClr val="C8D8EE"/>
                </a:solidFill>
                <a:latin typeface="Times New Roman" panose="02020603050405020304" pitchFamily="18" charset="0"/>
                <a:ea typeface="Calibri" pitchFamily="34" charset="-122"/>
                <a:cs typeface="Times New Roman" panose="02020603050405020304" pitchFamily="18" charset="0"/>
              </a:rPr>
              <a:t>Panday, A. (2024). Pancreatic cancer prediction dataset [Dataset]. Kaggle. https://www.kaggle.com/datasets/ankushpanday1/pancreatic-cancer-prediction-dataset</a:t>
            </a:r>
            <a:endParaRPr lang="en-US" sz="850" dirty="0">
              <a:latin typeface="Times New Roman" panose="02020603050405020304" pitchFamily="18" charset="0"/>
              <a:cs typeface="Times New Roman" panose="02020603050405020304" pitchFamily="18" charset="0"/>
            </a:endParaRPr>
          </a:p>
        </p:txBody>
      </p:sp>
      <p:sp>
        <p:nvSpPr>
          <p:cNvPr id="11" name="Text 9"/>
          <p:cNvSpPr/>
          <p:nvPr/>
        </p:nvSpPr>
        <p:spPr>
          <a:xfrm>
            <a:off x="411480" y="3657600"/>
            <a:ext cx="8321040" cy="384048"/>
          </a:xfrm>
          <a:prstGeom prst="rect">
            <a:avLst/>
          </a:prstGeom>
          <a:noFill/>
          <a:ln/>
        </p:spPr>
        <p:txBody>
          <a:bodyPr wrap="square" lIns="0" tIns="0" rIns="0" bIns="0" rtlCol="0" anchor="ctr"/>
          <a:lstStyle/>
          <a:p>
            <a:pPr marL="0" indent="0">
              <a:lnSpc>
                <a:spcPct val="120000"/>
              </a:lnSpc>
              <a:buNone/>
            </a:pPr>
            <a:r>
              <a:rPr lang="en-US" sz="850" dirty="0">
                <a:solidFill>
                  <a:srgbClr val="C8D8EE"/>
                </a:solidFill>
                <a:latin typeface="Times New Roman" panose="02020603050405020304" pitchFamily="18" charset="0"/>
                <a:ea typeface="Calibri" pitchFamily="34" charset="-122"/>
                <a:cs typeface="Times New Roman" panose="02020603050405020304" pitchFamily="18" charset="0"/>
              </a:rPr>
              <a:t>Placido, D., Yuan, B., Hjaltelin, J. X., Haue, A. D., Chmura, P. J., Yuan, C., &amp; Brunak, S. (2023). A deep learning algorithm to predict risk of pancreatic cancer from disease trajectories. Nature Medicine, 29(5), 1113–1122.</a:t>
            </a:r>
            <a:endParaRPr lang="en-US" sz="850" dirty="0">
              <a:latin typeface="Times New Roman" panose="02020603050405020304" pitchFamily="18" charset="0"/>
              <a:cs typeface="Times New Roman" panose="02020603050405020304" pitchFamily="18" charset="0"/>
            </a:endParaRPr>
          </a:p>
        </p:txBody>
      </p:sp>
      <p:sp>
        <p:nvSpPr>
          <p:cNvPr id="12" name="Text 10"/>
          <p:cNvSpPr/>
          <p:nvPr/>
        </p:nvSpPr>
        <p:spPr>
          <a:xfrm>
            <a:off x="411480" y="4069080"/>
            <a:ext cx="8321040" cy="384048"/>
          </a:xfrm>
          <a:prstGeom prst="rect">
            <a:avLst/>
          </a:prstGeom>
          <a:noFill/>
          <a:ln/>
        </p:spPr>
        <p:txBody>
          <a:bodyPr wrap="square" lIns="0" tIns="0" rIns="0" bIns="0" rtlCol="0" anchor="ctr"/>
          <a:lstStyle/>
          <a:p>
            <a:pPr marL="0" indent="0">
              <a:lnSpc>
                <a:spcPct val="120000"/>
              </a:lnSpc>
              <a:buNone/>
            </a:pPr>
            <a:r>
              <a:rPr lang="en-US" sz="850" dirty="0">
                <a:solidFill>
                  <a:srgbClr val="C8D8EE"/>
                </a:solidFill>
                <a:latin typeface="Times New Roman" panose="02020603050405020304" pitchFamily="18" charset="0"/>
                <a:ea typeface="Calibri" pitchFamily="34" charset="-122"/>
                <a:cs typeface="Times New Roman" panose="02020603050405020304" pitchFamily="18" charset="0"/>
              </a:rPr>
              <a:t>UK Government. (2018). Data Protection Act 2018. https://www.legislation.gov.uk/ukpga/2018/12/contents</a:t>
            </a:r>
            <a:endParaRPr lang="en-US" sz="850" dirty="0">
              <a:latin typeface="Times New Roman" panose="02020603050405020304" pitchFamily="18" charset="0"/>
              <a:cs typeface="Times New Roman" panose="02020603050405020304" pitchFamily="18" charset="0"/>
            </a:endParaRPr>
          </a:p>
        </p:txBody>
      </p:sp>
      <p:sp>
        <p:nvSpPr>
          <p:cNvPr id="13" name="Text 11"/>
          <p:cNvSpPr/>
          <p:nvPr/>
        </p:nvSpPr>
        <p:spPr>
          <a:xfrm>
            <a:off x="411480" y="4480560"/>
            <a:ext cx="8321040" cy="384048"/>
          </a:xfrm>
          <a:prstGeom prst="rect">
            <a:avLst/>
          </a:prstGeom>
          <a:noFill/>
          <a:ln/>
        </p:spPr>
        <p:txBody>
          <a:bodyPr wrap="square" lIns="0" tIns="0" rIns="0" bIns="0" rtlCol="0" anchor="ctr"/>
          <a:lstStyle/>
          <a:p>
            <a:pPr marL="0" indent="0">
              <a:lnSpc>
                <a:spcPct val="120000"/>
              </a:lnSpc>
              <a:buNone/>
            </a:pPr>
            <a:r>
              <a:rPr lang="en-US" sz="850" dirty="0">
                <a:solidFill>
                  <a:srgbClr val="C8D8EE"/>
                </a:solidFill>
                <a:latin typeface="Times New Roman" panose="02020603050405020304" pitchFamily="18" charset="0"/>
                <a:ea typeface="Calibri" pitchFamily="34" charset="-122"/>
                <a:cs typeface="Times New Roman" panose="02020603050405020304" pitchFamily="18" charset="0"/>
              </a:rPr>
              <a:t>Veeramani, R., Goswami, A., Aditya, H., &amp; Ranjan, P. (2020). Machine learning method for pancreatic cancer detection using Naïve Bayes and Decision Tree algorithm. International Journal of Innovative Technology and Exploring Engineering, 9(7), 1137–1141.</a:t>
            </a:r>
            <a:endParaRPr lang="en-US" sz="850" dirty="0">
              <a:latin typeface="Times New Roman" panose="02020603050405020304" pitchFamily="18" charset="0"/>
              <a:cs typeface="Times New Roman" panose="02020603050405020304" pitchFamily="18" charset="0"/>
            </a:endParaRPr>
          </a:p>
        </p:txBody>
      </p:sp>
      <p:sp>
        <p:nvSpPr>
          <p:cNvPr id="14" name="Text 12"/>
          <p:cNvSpPr/>
          <p:nvPr/>
        </p:nvSpPr>
        <p:spPr>
          <a:xfrm>
            <a:off x="320040" y="4882896"/>
            <a:ext cx="8321040" cy="201168"/>
          </a:xfrm>
          <a:prstGeom prst="rect">
            <a:avLst/>
          </a:prstGeom>
          <a:noFill/>
          <a:ln/>
        </p:spPr>
        <p:txBody>
          <a:bodyPr wrap="square" rtlCol="0" anchor="ctr"/>
          <a:lstStyle/>
          <a:p>
            <a:pPr marL="0" indent="0">
              <a:buNone/>
            </a:pPr>
            <a:r>
              <a:rPr lang="en-US" sz="900" i="1" dirty="0">
                <a:solidFill>
                  <a:srgbClr val="A8D4FF"/>
                </a:solidFill>
                <a:latin typeface="Times New Roman" panose="02020603050405020304" pitchFamily="18" charset="0"/>
                <a:ea typeface="Calibri" pitchFamily="34" charset="-122"/>
                <a:cs typeface="Times New Roman" panose="02020603050405020304" pitchFamily="18" charset="0"/>
              </a:rPr>
              <a:t>Python Libraries Used: pandas · numpy · matplotlib · seaborn · scikit-learn</a:t>
            </a:r>
            <a:endParaRPr lang="en-US" sz="900" dirty="0">
              <a:latin typeface="Times New Roman" panose="02020603050405020304" pitchFamily="18" charset="0"/>
              <a:cs typeface="Times New Roman" panose="02020603050405020304" pitchFamily="18" charset="0"/>
            </a:endParaRPr>
          </a:p>
        </p:txBody>
      </p:sp>
      <p:sp>
        <p:nvSpPr>
          <p:cNvPr id="16" name="Text 14"/>
          <p:cNvSpPr/>
          <p:nvPr/>
        </p:nvSpPr>
        <p:spPr>
          <a:xfrm>
            <a:off x="5989320" y="3977640"/>
            <a:ext cx="2834640" cy="475488"/>
          </a:xfrm>
          <a:prstGeom prst="rect">
            <a:avLst/>
          </a:prstGeom>
          <a:noFill/>
          <a:ln/>
        </p:spPr>
        <p:txBody>
          <a:bodyPr wrap="square" lIns="0" tIns="0" rIns="0" bIns="0" rtlCol="0" anchor="ctr"/>
          <a:lstStyle/>
          <a:p>
            <a:pPr marL="0" indent="0" algn="ctr">
              <a:buNone/>
            </a:pPr>
            <a:endParaRPr lang="en-US" sz="2200" dirty="0">
              <a:latin typeface="Times New Roman" panose="02020603050405020304" pitchFamily="18" charset="0"/>
              <a:cs typeface="Times New Roman" panose="02020603050405020304" pitchFamily="18" charset="0"/>
            </a:endParaRPr>
          </a:p>
        </p:txBody>
      </p:sp>
      <p:sp>
        <p:nvSpPr>
          <p:cNvPr id="17" name="Text 15"/>
          <p:cNvSpPr/>
          <p:nvPr/>
        </p:nvSpPr>
        <p:spPr>
          <a:xfrm flipV="1">
            <a:off x="5989320" y="4754880"/>
            <a:ext cx="2834640" cy="91440"/>
          </a:xfrm>
          <a:prstGeom prst="rect">
            <a:avLst/>
          </a:prstGeom>
          <a:noFill/>
          <a:ln/>
        </p:spPr>
        <p:txBody>
          <a:bodyPr wrap="square" lIns="0" tIns="0" rIns="0" bIns="0" rtlCol="0" anchor="ctr"/>
          <a:lstStyle/>
          <a:p>
            <a:pPr marL="0" indent="0" algn="ctr">
              <a:buNone/>
            </a:pP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3572</Words>
  <Application>Microsoft Macintosh PowerPoint</Application>
  <PresentationFormat>On-screen Show (16:9)</PresentationFormat>
  <Paragraphs>372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CET140 – Pancreatic Cancer Stage Prediction</dc:title>
  <dc:subject>PptxGenJS Presentation</dc:subject>
  <dc:creator>Nischal Khanal</dc:creator>
  <cp:lastModifiedBy>Nischal Khanal</cp:lastModifiedBy>
  <cp:revision>3</cp:revision>
  <dcterms:created xsi:type="dcterms:W3CDTF">2026-07-04T08:30:52Z</dcterms:created>
  <dcterms:modified xsi:type="dcterms:W3CDTF">2026-07-04T09:19:15Z</dcterms:modified>
</cp:coreProperties>
</file>